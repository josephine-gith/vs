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0" r:id="rId4"/>
  </p:sldMasterIdLst>
  <p:notesMasterIdLst>
    <p:notesMasterId r:id="rId7"/>
  </p:notesMasterIdLst>
  <p:handoutMasterIdLst>
    <p:handoutMasterId r:id="rId8"/>
  </p:handoutMasterIdLst>
  <p:sldIdLst>
    <p:sldId id="385" r:id="rId5"/>
    <p:sldId id="398" r:id="rId6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7B93AA28-F3ED-448A-ADB4-5570FE00D17D}">
          <p14:sldIdLst/>
        </p14:section>
        <p14:section name="Présentation des équipes" id="{4CE093F1-DA41-4295-A923-2EE2D5F13C7E}">
          <p14:sldIdLst>
            <p14:sldId id="385"/>
            <p14:sldId id="3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>
          <p15:clr>
            <a:srgbClr val="A4A3A4"/>
          </p15:clr>
        </p15:guide>
        <p15:guide id="2" pos="221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249"/>
    <a:srgbClr val="D6A300"/>
    <a:srgbClr val="FF33CC"/>
    <a:srgbClr val="FF5050"/>
    <a:srgbClr val="007AD6"/>
    <a:srgbClr val="E1F2FF"/>
    <a:srgbClr val="FFDDF6"/>
    <a:srgbClr val="E67504"/>
    <a:srgbClr val="FB8E21"/>
    <a:srgbClr val="1E5D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5268" autoAdjust="0"/>
  </p:normalViewPr>
  <p:slideViewPr>
    <p:cSldViewPr snapToGrid="0" showGuides="1">
      <p:cViewPr>
        <p:scale>
          <a:sx n="33" d="100"/>
          <a:sy n="33" d="100"/>
        </p:scale>
        <p:origin x="2472" y="12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-3780" y="-78"/>
      </p:cViewPr>
      <p:guideLst>
        <p:guide orient="horz" pos="2932"/>
        <p:guide pos="221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275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4AC39-44E6-425E-AF49-CF7D189F346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275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20F472-929B-459B-8D82-2FABCC5B32A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2641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DF2775BC-6312-42C7-B7C5-EA6783C2D9C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67F715A1-4ADC-44E0-9587-804FF39D6B2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4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rcalair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3073400"/>
            <a:ext cx="12195398" cy="3124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3476757"/>
            <a:ext cx="10427444" cy="8103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434481"/>
            <a:ext cx="10427445" cy="860400"/>
          </a:xfrm>
        </p:spPr>
        <p:txBody>
          <a:bodyPr anchor="ctr" anchorCtr="0"/>
          <a:lstStyle>
            <a:lvl1pPr marL="0" indent="0" algn="l">
              <a:buNone/>
              <a:defRPr sz="2000" kern="0" cap="all" spc="4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315" y="5816599"/>
            <a:ext cx="3859795" cy="30480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>
                <a:latin typeface="+mj-lt"/>
              </a:rPr>
              <a:t>Evaluation</a:t>
            </a:r>
            <a:r>
              <a:rPr lang="en-US"/>
              <a:t> HCERES 27-28 </a:t>
            </a:r>
            <a:r>
              <a:rPr lang="en-US" err="1"/>
              <a:t>nov.</a:t>
            </a:r>
            <a:r>
              <a:rPr lang="en-US"/>
              <a:t> 17</a:t>
            </a:r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314" y="308012"/>
            <a:ext cx="696588" cy="622225"/>
          </a:xfrm>
          <a:prstGeom prst="rect">
            <a:avLst/>
          </a:prstGeom>
        </p:spPr>
      </p:pic>
      <p:pic>
        <p:nvPicPr>
          <p:cNvPr id="9" name="Picture 100" descr="logo_ceme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403" y="548118"/>
            <a:ext cx="713921" cy="260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94" y="548118"/>
            <a:ext cx="420140" cy="255903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829" y="527742"/>
            <a:ext cx="280565" cy="28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998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lanche de contenu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>
          <a:xfrm>
            <a:off x="0" y="6237312"/>
            <a:ext cx="12319000" cy="620688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>
              <a:rot lat="0" lon="0" rev="30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/>
          <p:cNvSpPr/>
          <p:nvPr userDrawn="1"/>
        </p:nvSpPr>
        <p:spPr>
          <a:xfrm>
            <a:off x="11477840" y="0"/>
            <a:ext cx="580554" cy="106680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586" y="81243"/>
            <a:ext cx="11104392" cy="720000"/>
          </a:xfr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lIns="144000" tIns="72000"/>
          <a:lstStyle>
            <a:lvl1pPr>
              <a:defRPr sz="3600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720" y="1582057"/>
            <a:ext cx="11405579" cy="4836552"/>
          </a:xfrm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2pPr>
            <a:lvl3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4pPr>
            <a:lvl5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315" y="6438899"/>
            <a:ext cx="3859795" cy="30480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>
                <a:latin typeface="+mj-lt"/>
              </a:rPr>
              <a:t>Evaluation</a:t>
            </a:r>
            <a:r>
              <a:rPr lang="en-US"/>
              <a:t> HCERES 27-28 </a:t>
            </a:r>
            <a:r>
              <a:rPr lang="en-US" err="1"/>
              <a:t>nov.</a:t>
            </a:r>
            <a:r>
              <a:rPr lang="en-US"/>
              <a:t> 17</a:t>
            </a:r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8328" y="6198880"/>
            <a:ext cx="696588" cy="622225"/>
          </a:xfrm>
          <a:prstGeom prst="rect">
            <a:avLst/>
          </a:prstGeom>
        </p:spPr>
      </p:pic>
      <p:pic>
        <p:nvPicPr>
          <p:cNvPr id="13" name="Picture 100" descr="logo_ceme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2817" y="6438986"/>
            <a:ext cx="713921" cy="260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Image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4908" y="6438986"/>
            <a:ext cx="420140" cy="255903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4343" y="6418610"/>
            <a:ext cx="280565" cy="28056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40390" y="362404"/>
            <a:ext cx="838199" cy="41547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875541-8164-4CC7-9F2F-6F0C49BB858D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325389" y="839349"/>
            <a:ext cx="11070143" cy="475397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2396900" y="5695059"/>
            <a:ext cx="3401063" cy="678445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dirty="0"/>
              <a:t>Modifiez les styles de légende d’image/tableau…</a:t>
            </a:r>
          </a:p>
        </p:txBody>
      </p:sp>
    </p:spTree>
    <p:extLst>
      <p:ext uri="{BB962C8B-B14F-4D97-AF65-F5344CB8AC3E}">
        <p14:creationId xmlns:p14="http://schemas.microsoft.com/office/powerpoint/2010/main" val="2522446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lanche de contenu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584" y="40944"/>
            <a:ext cx="11160000" cy="720000"/>
          </a:xfrm>
          <a:solidFill>
            <a:schemeClr val="bg1"/>
          </a:solidFill>
          <a:ln>
            <a:noFill/>
          </a:ln>
          <a:effectLst>
            <a:outerShdw blurRad="190500" dist="165100" dir="9600000" sx="99000" sy="99000" algn="ctr">
              <a:srgbClr val="000000">
                <a:alpha val="2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lIns="144000" tIns="72000" rIns="91440" bIns="4572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11477840" y="0"/>
            <a:ext cx="580554" cy="106680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0252" y="1538523"/>
            <a:ext cx="11625048" cy="4660355"/>
          </a:xfrm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2pPr>
            <a:lvl3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4pPr>
            <a:lvl5pPr>
              <a:spcBef>
                <a:spcPts val="600"/>
              </a:spcBef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315" y="6438899"/>
            <a:ext cx="3859795" cy="304801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chemeClr val="accent3"/>
                </a:solidFill>
              </a:defRPr>
            </a:lvl1pPr>
          </a:lstStyle>
          <a:p>
            <a:r>
              <a:rPr lang="en-US">
                <a:latin typeface="+mj-lt"/>
              </a:rPr>
              <a:t>Evaluation</a:t>
            </a:r>
            <a:r>
              <a:rPr lang="en-US"/>
              <a:t> HCERES 27-28 nov. 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65104" y="362404"/>
            <a:ext cx="838199" cy="41547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875541-8164-4CC7-9F2F-6F0C49BB858D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325389" y="827973"/>
            <a:ext cx="11070143" cy="475397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2396900" y="5695059"/>
            <a:ext cx="3401063" cy="678445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dirty="0"/>
              <a:t>Modifiez les styles de légende d’image/tableau…</a:t>
            </a:r>
          </a:p>
        </p:txBody>
      </p:sp>
      <p:pic>
        <p:nvPicPr>
          <p:cNvPr id="16" name="Imag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8328" y="6198880"/>
            <a:ext cx="696588" cy="622225"/>
          </a:xfrm>
          <a:prstGeom prst="rect">
            <a:avLst/>
          </a:prstGeom>
        </p:spPr>
      </p:pic>
      <p:pic>
        <p:nvPicPr>
          <p:cNvPr id="18" name="Picture 100" descr="logo_ceme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2817" y="6438986"/>
            <a:ext cx="713921" cy="260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 1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4908" y="6438986"/>
            <a:ext cx="420140" cy="255903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4343" y="6418610"/>
            <a:ext cx="280565" cy="28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335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6237312"/>
            <a:ext cx="12319000" cy="620688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>
              <a:rot lat="0" lon="0" rev="30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 userDrawn="1"/>
        </p:nvSpPr>
        <p:spPr>
          <a:xfrm>
            <a:off x="11463772" y="0"/>
            <a:ext cx="580554" cy="53340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03" y="70406"/>
            <a:ext cx="10733083" cy="680218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99207" y="1539421"/>
            <a:ext cx="5493600" cy="474617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186" y="1534485"/>
            <a:ext cx="5492511" cy="401759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0315" y="6438899"/>
            <a:ext cx="3859795" cy="304801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>
                <a:latin typeface="+mj-lt"/>
              </a:rPr>
              <a:t>Evaluation</a:t>
            </a:r>
            <a:r>
              <a:rPr lang="en-US"/>
              <a:t> HCERES 27-28 </a:t>
            </a:r>
            <a:r>
              <a:rPr lang="en-US" err="1"/>
              <a:t>nov.</a:t>
            </a:r>
            <a:r>
              <a:rPr lang="en-US"/>
              <a:t> 17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34949" y="58964"/>
            <a:ext cx="838199" cy="41547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875541-8164-4CC7-9F2F-6F0C49BB858D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3"/>
          </p:nvPr>
        </p:nvSpPr>
        <p:spPr>
          <a:xfrm>
            <a:off x="257149" y="756889"/>
            <a:ext cx="11070143" cy="475397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2396900" y="5695059"/>
            <a:ext cx="3401063" cy="678445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dirty="0"/>
              <a:t>Modifiez les styles de légende d’image/tableau…</a:t>
            </a:r>
          </a:p>
        </p:txBody>
      </p:sp>
      <p:pic>
        <p:nvPicPr>
          <p:cNvPr id="19" name="Imag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8328" y="6198880"/>
            <a:ext cx="696588" cy="622225"/>
          </a:xfrm>
          <a:prstGeom prst="rect">
            <a:avLst/>
          </a:prstGeom>
        </p:spPr>
      </p:pic>
      <p:pic>
        <p:nvPicPr>
          <p:cNvPr id="20" name="Picture 100" descr="logo_ceme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2817" y="6438986"/>
            <a:ext cx="713921" cy="260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Image 2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4908" y="6438986"/>
            <a:ext cx="420140" cy="255903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4343" y="6418610"/>
            <a:ext cx="280565" cy="28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208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6237312"/>
            <a:ext cx="12319000" cy="620688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>
              <a:rot lat="0" lon="0" rev="3000000"/>
            </a:lightRig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 userDrawn="1"/>
        </p:nvSpPr>
        <p:spPr>
          <a:xfrm>
            <a:off x="11463772" y="0"/>
            <a:ext cx="580554" cy="106680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03" y="92586"/>
            <a:ext cx="10733083" cy="720000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345441"/>
            <a:ext cx="4396338" cy="65736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1955041"/>
            <a:ext cx="4396339" cy="42683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63935" y="1345441"/>
            <a:ext cx="4396339" cy="65736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63935" y="1955041"/>
            <a:ext cx="4396339" cy="42683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0315" y="6438899"/>
            <a:ext cx="3859795" cy="304801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>
                <a:latin typeface="+mj-lt"/>
              </a:rPr>
              <a:t>Evaluation</a:t>
            </a:r>
            <a:r>
              <a:rPr lang="en-US"/>
              <a:t> HCERES 27-28 </a:t>
            </a:r>
            <a:r>
              <a:rPr lang="en-US" err="1"/>
              <a:t>nov.</a:t>
            </a:r>
            <a:r>
              <a:rPr lang="en-US"/>
              <a:t> 17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875541-8164-4CC7-9F2F-6F0C49BB858D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2396900" y="5695059"/>
            <a:ext cx="3401063" cy="678445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dirty="0"/>
              <a:t>Modifiez les styles de légende d’image/tableau…</a:t>
            </a:r>
          </a:p>
        </p:txBody>
      </p:sp>
      <p:pic>
        <p:nvPicPr>
          <p:cNvPr id="18" name="Imag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8328" y="6198880"/>
            <a:ext cx="696588" cy="622225"/>
          </a:xfrm>
          <a:prstGeom prst="rect">
            <a:avLst/>
          </a:prstGeom>
        </p:spPr>
      </p:pic>
      <p:pic>
        <p:nvPicPr>
          <p:cNvPr id="19" name="Picture 100" descr="logo_ceme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2817" y="6438986"/>
            <a:ext cx="713921" cy="260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Image 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4908" y="6438986"/>
            <a:ext cx="420140" cy="255903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4343" y="6418610"/>
            <a:ext cx="280565" cy="28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202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A2624F-46B2-431A-972F-D85A41839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7F6B8F-EF10-4F05-90BA-B60477F04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F86224-B22A-4D36-882B-FE348B820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9BEE3-29A4-4EA5-B7E0-2782E93A2E27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6EE799-38FB-462E-A965-AF2C41BC6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A9D637-78E9-48CC-A48C-28C1DD3B0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1E2AE-B33C-4D1E-926E-C917040061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4372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0603" y="206886"/>
            <a:ext cx="10733083" cy="8789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1" y="1187355"/>
            <a:ext cx="11176072" cy="4958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0962" y="362404"/>
            <a:ext cx="838199" cy="4154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0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75541-8164-4CC7-9F2F-6F0C49BB858D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793315" y="6438899"/>
            <a:ext cx="4639485" cy="34330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en-US"/>
              <a:t>Evaluation HCERES 27-28 </a:t>
            </a:r>
            <a:r>
              <a:rPr lang="en-US" err="1"/>
              <a:t>nov.</a:t>
            </a:r>
            <a:r>
              <a:rPr lang="en-US"/>
              <a:t> 17</a:t>
            </a:r>
          </a:p>
        </p:txBody>
      </p:sp>
    </p:spTree>
    <p:extLst>
      <p:ext uri="{BB962C8B-B14F-4D97-AF65-F5344CB8AC3E}">
        <p14:creationId xmlns:p14="http://schemas.microsoft.com/office/powerpoint/2010/main" val="1563467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701" r:id="rId3"/>
    <p:sldLayoutId id="2147483684" r:id="rId4"/>
    <p:sldLayoutId id="2147483685" r:id="rId5"/>
    <p:sldLayoutId id="2147483703" r:id="rId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80000"/>
        <a:buFont typeface="Wingdings 3" charset="2"/>
        <a:buChar char=""/>
        <a:defRPr sz="2200" b="0" i="0" kern="1200" baseline="0">
          <a:solidFill>
            <a:schemeClr val="tx1"/>
          </a:solidFill>
          <a:latin typeface="+mn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n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n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n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n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0.png"/><Relationship Id="rId2" Type="http://schemas.openxmlformats.org/officeDocument/2006/relationships/image" Target="../media/image40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11" Type="http://schemas.openxmlformats.org/officeDocument/2006/relationships/image" Target="../media/image400.png"/><Relationship Id="rId5" Type="http://schemas.openxmlformats.org/officeDocument/2006/relationships/image" Target="../media/image42.png"/><Relationship Id="rId10" Type="http://schemas.openxmlformats.org/officeDocument/2006/relationships/image" Target="../media/image43.png"/><Relationship Id="rId4" Type="http://schemas.openxmlformats.org/officeDocument/2006/relationships/image" Target="../media/image411.png"/><Relationship Id="rId9" Type="http://schemas.openxmlformats.org/officeDocument/2006/relationships/image" Target="../media/image38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image" Target="../media/image53.png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F339E-87A8-E60E-7256-BB985FBCE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1">
            <a:extLst>
              <a:ext uri="{FF2B5EF4-FFF2-40B4-BE49-F238E27FC236}">
                <a16:creationId xmlns:a16="http://schemas.microsoft.com/office/drawing/2014/main" id="{0A5938B7-2EBB-6904-929E-7A28C4C86724}"/>
              </a:ext>
            </a:extLst>
          </p:cNvPr>
          <p:cNvSpPr txBox="1"/>
          <p:nvPr/>
        </p:nvSpPr>
        <p:spPr>
          <a:xfrm>
            <a:off x="1" y="192919"/>
            <a:ext cx="5364480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en-US" sz="20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D9352531-CE57-773C-A1CB-67EDD52646B9}"/>
              </a:ext>
            </a:extLst>
          </p:cNvPr>
          <p:cNvSpPr/>
          <p:nvPr/>
        </p:nvSpPr>
        <p:spPr>
          <a:xfrm>
            <a:off x="1" y="200515"/>
            <a:ext cx="53644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Modelling - reactive </a:t>
            </a:r>
            <a:r>
              <a:rPr lang="en-GB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elasto</a:t>
            </a:r>
            <a:r>
              <a:rPr lang="en-GB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-</a:t>
            </a:r>
            <a:r>
              <a:rPr lang="en-GB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viscoplastic</a:t>
            </a:r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 drop</a:t>
            </a:r>
            <a:endParaRPr lang="en-GB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6" name="Espace réservé du numéro de diapositive 4">
            <a:extLst>
              <a:ext uri="{FF2B5EF4-FFF2-40B4-BE49-F238E27FC236}">
                <a16:creationId xmlns:a16="http://schemas.microsoft.com/office/drawing/2014/main" id="{CD1DF550-3CFB-CCCF-5AB9-62F47094B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8750" y="-135436"/>
            <a:ext cx="411531" cy="41547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fld id="{2411E2AE-B33C-4D1E-926E-C917040061CB}" type="slidenum">
              <a:rPr lang="fr-FR" sz="1500" smtClean="0">
                <a:solidFill>
                  <a:schemeClr val="tx2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fld>
            <a:endParaRPr lang="fr-FR" sz="1500" dirty="0">
              <a:solidFill>
                <a:schemeClr val="tx2">
                  <a:lumMod val="65000"/>
                  <a:lumOff val="3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D84CB91D-CC60-2AA2-CBEC-CAD79673DB48}"/>
              </a:ext>
            </a:extLst>
          </p:cNvPr>
          <p:cNvCxnSpPr/>
          <p:nvPr/>
        </p:nvCxnSpPr>
        <p:spPr>
          <a:xfrm>
            <a:off x="7992091" y="4307394"/>
            <a:ext cx="0" cy="46884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97F4F224-2080-90A0-2DCA-8EB273633FEA}"/>
              </a:ext>
            </a:extLst>
          </p:cNvPr>
          <p:cNvCxnSpPr>
            <a:cxnSpLocks/>
          </p:cNvCxnSpPr>
          <p:nvPr/>
        </p:nvCxnSpPr>
        <p:spPr>
          <a:xfrm flipH="1">
            <a:off x="7861725" y="4355976"/>
            <a:ext cx="119306" cy="8261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006E89CA-83F4-7630-82AA-8152E4B93E8D}"/>
              </a:ext>
            </a:extLst>
          </p:cNvPr>
          <p:cNvCxnSpPr>
            <a:cxnSpLocks/>
          </p:cNvCxnSpPr>
          <p:nvPr/>
        </p:nvCxnSpPr>
        <p:spPr>
          <a:xfrm flipH="1">
            <a:off x="7861725" y="4462656"/>
            <a:ext cx="119306" cy="8261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D97EEFF2-53E0-7BA4-9171-470410525730}"/>
              </a:ext>
            </a:extLst>
          </p:cNvPr>
          <p:cNvCxnSpPr>
            <a:cxnSpLocks/>
          </p:cNvCxnSpPr>
          <p:nvPr/>
        </p:nvCxnSpPr>
        <p:spPr>
          <a:xfrm flipH="1">
            <a:off x="7861725" y="4584576"/>
            <a:ext cx="119306" cy="8261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02D0B3B2-F8A6-8A11-1CA7-93960FEC8962}"/>
              </a:ext>
            </a:extLst>
          </p:cNvPr>
          <p:cNvCxnSpPr>
            <a:cxnSpLocks/>
          </p:cNvCxnSpPr>
          <p:nvPr/>
        </p:nvCxnSpPr>
        <p:spPr>
          <a:xfrm flipH="1">
            <a:off x="7856521" y="4715769"/>
            <a:ext cx="119306" cy="8261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96A002DB-1B4D-088F-6156-D049B906D8F9}"/>
              </a:ext>
            </a:extLst>
          </p:cNvPr>
          <p:cNvCxnSpPr>
            <a:cxnSpLocks/>
          </p:cNvCxnSpPr>
          <p:nvPr/>
        </p:nvCxnSpPr>
        <p:spPr>
          <a:xfrm flipH="1">
            <a:off x="7992091" y="4550643"/>
            <a:ext cx="26416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6CC4874F-7FEC-6753-5AF4-ED4D364B2093}"/>
              </a:ext>
            </a:extLst>
          </p:cNvPr>
          <p:cNvCxnSpPr>
            <a:cxnSpLocks/>
          </p:cNvCxnSpPr>
          <p:nvPr/>
        </p:nvCxnSpPr>
        <p:spPr>
          <a:xfrm>
            <a:off x="8256251" y="4075560"/>
            <a:ext cx="0" cy="469707"/>
          </a:xfrm>
          <a:prstGeom prst="line">
            <a:avLst/>
          </a:prstGeom>
          <a:ln w="12700">
            <a:solidFill>
              <a:srgbClr val="FF33C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B38B04AB-F683-1555-E38B-842F4B743A75}"/>
              </a:ext>
            </a:extLst>
          </p:cNvPr>
          <p:cNvCxnSpPr>
            <a:cxnSpLocks/>
          </p:cNvCxnSpPr>
          <p:nvPr/>
        </p:nvCxnSpPr>
        <p:spPr>
          <a:xfrm flipH="1">
            <a:off x="8256251" y="4075560"/>
            <a:ext cx="617548" cy="0"/>
          </a:xfrm>
          <a:prstGeom prst="line">
            <a:avLst/>
          </a:prstGeom>
          <a:ln w="12700">
            <a:solidFill>
              <a:srgbClr val="FF33C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492E5BA7-328E-BA63-041C-00FFAF78F62B}"/>
              </a:ext>
            </a:extLst>
          </p:cNvPr>
          <p:cNvCxnSpPr>
            <a:cxnSpLocks/>
          </p:cNvCxnSpPr>
          <p:nvPr/>
        </p:nvCxnSpPr>
        <p:spPr>
          <a:xfrm>
            <a:off x="8881165" y="3980623"/>
            <a:ext cx="0" cy="191770"/>
          </a:xfrm>
          <a:prstGeom prst="line">
            <a:avLst/>
          </a:prstGeom>
          <a:ln w="12700">
            <a:solidFill>
              <a:srgbClr val="FF33C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F69949D8-9330-22F7-BAC9-1375EF970686}"/>
              </a:ext>
            </a:extLst>
          </p:cNvPr>
          <p:cNvCxnSpPr>
            <a:cxnSpLocks/>
          </p:cNvCxnSpPr>
          <p:nvPr/>
        </p:nvCxnSpPr>
        <p:spPr>
          <a:xfrm flipH="1">
            <a:off x="8881165" y="3980623"/>
            <a:ext cx="297254" cy="0"/>
          </a:xfrm>
          <a:prstGeom prst="line">
            <a:avLst/>
          </a:prstGeom>
          <a:ln w="12700">
            <a:solidFill>
              <a:srgbClr val="FF33C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FBFED6A6-C046-A856-AD78-BF96A15A78E5}"/>
              </a:ext>
            </a:extLst>
          </p:cNvPr>
          <p:cNvCxnSpPr>
            <a:cxnSpLocks/>
          </p:cNvCxnSpPr>
          <p:nvPr/>
        </p:nvCxnSpPr>
        <p:spPr>
          <a:xfrm flipH="1">
            <a:off x="8881165" y="4172393"/>
            <a:ext cx="297254" cy="0"/>
          </a:xfrm>
          <a:prstGeom prst="line">
            <a:avLst/>
          </a:prstGeom>
          <a:ln w="12700">
            <a:solidFill>
              <a:srgbClr val="FF33C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C9538E8A-CDDC-5193-2E60-DE363383FCD8}"/>
              </a:ext>
            </a:extLst>
          </p:cNvPr>
          <p:cNvSpPr/>
          <p:nvPr/>
        </p:nvSpPr>
        <p:spPr>
          <a:xfrm>
            <a:off x="8937118" y="4006407"/>
            <a:ext cx="205740" cy="142869"/>
          </a:xfrm>
          <a:prstGeom prst="rect">
            <a:avLst/>
          </a:prstGeom>
          <a:solidFill>
            <a:srgbClr val="FF33CC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63795B94-0503-C03A-F381-A4FABB3FB43E}"/>
              </a:ext>
            </a:extLst>
          </p:cNvPr>
          <p:cNvCxnSpPr>
            <a:cxnSpLocks/>
          </p:cNvCxnSpPr>
          <p:nvPr/>
        </p:nvCxnSpPr>
        <p:spPr>
          <a:xfrm flipH="1">
            <a:off x="9155411" y="4074229"/>
            <a:ext cx="617548" cy="0"/>
          </a:xfrm>
          <a:prstGeom prst="line">
            <a:avLst/>
          </a:prstGeom>
          <a:ln w="12700">
            <a:solidFill>
              <a:srgbClr val="FF33C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502D5500-C26C-9B33-F173-9F8310372850}"/>
              </a:ext>
            </a:extLst>
          </p:cNvPr>
          <p:cNvCxnSpPr>
            <a:cxnSpLocks/>
          </p:cNvCxnSpPr>
          <p:nvPr/>
        </p:nvCxnSpPr>
        <p:spPr>
          <a:xfrm>
            <a:off x="9773901" y="4075080"/>
            <a:ext cx="0" cy="469707"/>
          </a:xfrm>
          <a:prstGeom prst="line">
            <a:avLst/>
          </a:prstGeom>
          <a:ln w="12700">
            <a:solidFill>
              <a:srgbClr val="FF33C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A93A177F-B121-83B7-FB3B-99BFF8162D78}"/>
              </a:ext>
            </a:extLst>
          </p:cNvPr>
          <p:cNvCxnSpPr>
            <a:cxnSpLocks/>
          </p:cNvCxnSpPr>
          <p:nvPr/>
        </p:nvCxnSpPr>
        <p:spPr>
          <a:xfrm flipH="1">
            <a:off x="9778039" y="4546099"/>
            <a:ext cx="300331" cy="0"/>
          </a:xfrm>
          <a:prstGeom prst="line">
            <a:avLst/>
          </a:prstGeom>
          <a:ln w="12700">
            <a:solidFill>
              <a:srgbClr val="00A24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6272D723-4DE3-4161-E088-17835DF62F64}"/>
              </a:ext>
            </a:extLst>
          </p:cNvPr>
          <p:cNvCxnSpPr>
            <a:cxnSpLocks/>
          </p:cNvCxnSpPr>
          <p:nvPr/>
        </p:nvCxnSpPr>
        <p:spPr>
          <a:xfrm>
            <a:off x="8256251" y="4552407"/>
            <a:ext cx="0" cy="469707"/>
          </a:xfrm>
          <a:prstGeom prst="line">
            <a:avLst/>
          </a:prstGeom>
          <a:ln w="12700">
            <a:solidFill>
              <a:srgbClr val="007AD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0497D3A7-3B50-B66F-6444-28BDAB1E7575}"/>
              </a:ext>
            </a:extLst>
          </p:cNvPr>
          <p:cNvCxnSpPr>
            <a:cxnSpLocks/>
          </p:cNvCxnSpPr>
          <p:nvPr/>
        </p:nvCxnSpPr>
        <p:spPr>
          <a:xfrm flipH="1">
            <a:off x="8256251" y="5022980"/>
            <a:ext cx="617548" cy="0"/>
          </a:xfrm>
          <a:prstGeom prst="line">
            <a:avLst/>
          </a:prstGeom>
          <a:ln w="12700">
            <a:solidFill>
              <a:srgbClr val="007AD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BD649894-1660-58E3-BF31-B65E50261C7F}"/>
              </a:ext>
            </a:extLst>
          </p:cNvPr>
          <p:cNvCxnSpPr>
            <a:cxnSpLocks/>
          </p:cNvCxnSpPr>
          <p:nvPr/>
        </p:nvCxnSpPr>
        <p:spPr>
          <a:xfrm flipH="1">
            <a:off x="8873799" y="4879530"/>
            <a:ext cx="92709" cy="142584"/>
          </a:xfrm>
          <a:prstGeom prst="line">
            <a:avLst/>
          </a:prstGeom>
          <a:ln w="12700">
            <a:solidFill>
              <a:srgbClr val="007AD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83FAA99B-FD82-AAC0-015B-D87A8125330F}"/>
              </a:ext>
            </a:extLst>
          </p:cNvPr>
          <p:cNvCxnSpPr>
            <a:cxnSpLocks/>
          </p:cNvCxnSpPr>
          <p:nvPr/>
        </p:nvCxnSpPr>
        <p:spPr>
          <a:xfrm flipH="1">
            <a:off x="8969049" y="4879531"/>
            <a:ext cx="188902" cy="0"/>
          </a:xfrm>
          <a:prstGeom prst="line">
            <a:avLst/>
          </a:prstGeom>
          <a:ln w="12700">
            <a:solidFill>
              <a:srgbClr val="007AD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E28BC6E8-7196-44CF-3CCA-2D05EE6F840B}"/>
              </a:ext>
            </a:extLst>
          </p:cNvPr>
          <p:cNvCxnSpPr>
            <a:cxnSpLocks/>
          </p:cNvCxnSpPr>
          <p:nvPr/>
        </p:nvCxnSpPr>
        <p:spPr>
          <a:xfrm>
            <a:off x="9163031" y="4879531"/>
            <a:ext cx="0" cy="101600"/>
          </a:xfrm>
          <a:prstGeom prst="straightConnector1">
            <a:avLst/>
          </a:prstGeom>
          <a:ln w="12700">
            <a:solidFill>
              <a:srgbClr val="007AD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0D5A5945-F6E7-546D-5F8E-AB2FD009F6DC}"/>
              </a:ext>
            </a:extLst>
          </p:cNvPr>
          <p:cNvSpPr/>
          <p:nvPr/>
        </p:nvSpPr>
        <p:spPr>
          <a:xfrm>
            <a:off x="9059038" y="4999254"/>
            <a:ext cx="205740" cy="45719"/>
          </a:xfrm>
          <a:prstGeom prst="rect">
            <a:avLst/>
          </a:prstGeom>
          <a:solidFill>
            <a:srgbClr val="007AD6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D2C418D7-0B34-0ECD-5B69-C747243BD1D2}"/>
              </a:ext>
            </a:extLst>
          </p:cNvPr>
          <p:cNvCxnSpPr>
            <a:cxnSpLocks/>
          </p:cNvCxnSpPr>
          <p:nvPr/>
        </p:nvCxnSpPr>
        <p:spPr>
          <a:xfrm flipH="1">
            <a:off x="9277331" y="5022980"/>
            <a:ext cx="495628" cy="0"/>
          </a:xfrm>
          <a:prstGeom prst="line">
            <a:avLst/>
          </a:prstGeom>
          <a:ln w="12700">
            <a:solidFill>
              <a:srgbClr val="007AD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0ECE3B31-F9DE-8FF5-FE86-49E321B30D4C}"/>
              </a:ext>
            </a:extLst>
          </p:cNvPr>
          <p:cNvCxnSpPr>
            <a:cxnSpLocks/>
          </p:cNvCxnSpPr>
          <p:nvPr/>
        </p:nvCxnSpPr>
        <p:spPr>
          <a:xfrm>
            <a:off x="9772959" y="4544787"/>
            <a:ext cx="0" cy="469707"/>
          </a:xfrm>
          <a:prstGeom prst="line">
            <a:avLst/>
          </a:prstGeom>
          <a:ln w="12700">
            <a:solidFill>
              <a:srgbClr val="007AD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7AAAF110-7E72-48BB-F0BD-A2494F76AABC}"/>
              </a:ext>
            </a:extLst>
          </p:cNvPr>
          <p:cNvCxnSpPr>
            <a:cxnSpLocks/>
          </p:cNvCxnSpPr>
          <p:nvPr/>
        </p:nvCxnSpPr>
        <p:spPr>
          <a:xfrm flipH="1">
            <a:off x="10078370" y="4462656"/>
            <a:ext cx="43653" cy="80903"/>
          </a:xfrm>
          <a:prstGeom prst="line">
            <a:avLst/>
          </a:prstGeom>
          <a:ln w="12700">
            <a:solidFill>
              <a:srgbClr val="00A24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CB99F728-5B3D-1CEE-7DA5-767D11B8B655}"/>
              </a:ext>
            </a:extLst>
          </p:cNvPr>
          <p:cNvCxnSpPr>
            <a:cxnSpLocks/>
          </p:cNvCxnSpPr>
          <p:nvPr/>
        </p:nvCxnSpPr>
        <p:spPr>
          <a:xfrm flipH="1" flipV="1">
            <a:off x="10124052" y="4465928"/>
            <a:ext cx="48546" cy="118648"/>
          </a:xfrm>
          <a:prstGeom prst="line">
            <a:avLst/>
          </a:prstGeom>
          <a:ln w="12700">
            <a:solidFill>
              <a:srgbClr val="00A24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03ABCAF0-9971-2557-10E8-1277879F1055}"/>
              </a:ext>
            </a:extLst>
          </p:cNvPr>
          <p:cNvCxnSpPr>
            <a:cxnSpLocks/>
          </p:cNvCxnSpPr>
          <p:nvPr/>
        </p:nvCxnSpPr>
        <p:spPr>
          <a:xfrm flipH="1">
            <a:off x="10171182" y="4460026"/>
            <a:ext cx="66742" cy="124550"/>
          </a:xfrm>
          <a:prstGeom prst="line">
            <a:avLst/>
          </a:prstGeom>
          <a:ln w="12700">
            <a:solidFill>
              <a:srgbClr val="00A24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8DDBA032-33DC-840C-B15E-3372D2F903C2}"/>
              </a:ext>
            </a:extLst>
          </p:cNvPr>
          <p:cNvCxnSpPr>
            <a:cxnSpLocks/>
          </p:cNvCxnSpPr>
          <p:nvPr/>
        </p:nvCxnSpPr>
        <p:spPr>
          <a:xfrm flipH="1" flipV="1">
            <a:off x="10238604" y="4458632"/>
            <a:ext cx="39017" cy="125944"/>
          </a:xfrm>
          <a:prstGeom prst="line">
            <a:avLst/>
          </a:prstGeom>
          <a:ln w="12700">
            <a:solidFill>
              <a:srgbClr val="00A24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AE7E7512-590C-ADD3-F8DC-B6231DF27770}"/>
              </a:ext>
            </a:extLst>
          </p:cNvPr>
          <p:cNvCxnSpPr>
            <a:cxnSpLocks/>
          </p:cNvCxnSpPr>
          <p:nvPr/>
        </p:nvCxnSpPr>
        <p:spPr>
          <a:xfrm flipH="1">
            <a:off x="10278918" y="4458632"/>
            <a:ext cx="67424" cy="125944"/>
          </a:xfrm>
          <a:prstGeom prst="line">
            <a:avLst/>
          </a:prstGeom>
          <a:ln w="12700">
            <a:solidFill>
              <a:srgbClr val="00A24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Connecteur droit 77">
            <a:extLst>
              <a:ext uri="{FF2B5EF4-FFF2-40B4-BE49-F238E27FC236}">
                <a16:creationId xmlns:a16="http://schemas.microsoft.com/office/drawing/2014/main" id="{F8D96E64-425C-1777-1C7C-3DA5E8840164}"/>
              </a:ext>
            </a:extLst>
          </p:cNvPr>
          <p:cNvCxnSpPr>
            <a:cxnSpLocks/>
          </p:cNvCxnSpPr>
          <p:nvPr/>
        </p:nvCxnSpPr>
        <p:spPr>
          <a:xfrm flipH="1" flipV="1">
            <a:off x="10348593" y="4458632"/>
            <a:ext cx="39697" cy="131232"/>
          </a:xfrm>
          <a:prstGeom prst="line">
            <a:avLst/>
          </a:prstGeom>
          <a:ln w="12700">
            <a:solidFill>
              <a:srgbClr val="00A24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0DECFCEA-FF0A-F6C4-7B64-0DA69EF7CFD0}"/>
              </a:ext>
            </a:extLst>
          </p:cNvPr>
          <p:cNvCxnSpPr>
            <a:cxnSpLocks/>
          </p:cNvCxnSpPr>
          <p:nvPr/>
        </p:nvCxnSpPr>
        <p:spPr>
          <a:xfrm flipH="1">
            <a:off x="10387645" y="4460537"/>
            <a:ext cx="65971" cy="129924"/>
          </a:xfrm>
          <a:prstGeom prst="line">
            <a:avLst/>
          </a:prstGeom>
          <a:ln w="12700">
            <a:solidFill>
              <a:srgbClr val="00A24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Connecteur droit 83">
            <a:extLst>
              <a:ext uri="{FF2B5EF4-FFF2-40B4-BE49-F238E27FC236}">
                <a16:creationId xmlns:a16="http://schemas.microsoft.com/office/drawing/2014/main" id="{6220605E-9C1C-D958-0FC5-D9F616A12DC4}"/>
              </a:ext>
            </a:extLst>
          </p:cNvPr>
          <p:cNvCxnSpPr>
            <a:cxnSpLocks/>
          </p:cNvCxnSpPr>
          <p:nvPr/>
        </p:nvCxnSpPr>
        <p:spPr>
          <a:xfrm flipH="1" flipV="1">
            <a:off x="10458203" y="4461355"/>
            <a:ext cx="41558" cy="119411"/>
          </a:xfrm>
          <a:prstGeom prst="line">
            <a:avLst/>
          </a:prstGeom>
          <a:ln w="12700">
            <a:solidFill>
              <a:srgbClr val="00A24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Connecteur droit 87">
            <a:extLst>
              <a:ext uri="{FF2B5EF4-FFF2-40B4-BE49-F238E27FC236}">
                <a16:creationId xmlns:a16="http://schemas.microsoft.com/office/drawing/2014/main" id="{03CBACDC-6E4D-A63E-EDA1-72FC0750CF4E}"/>
              </a:ext>
            </a:extLst>
          </p:cNvPr>
          <p:cNvCxnSpPr>
            <a:cxnSpLocks/>
          </p:cNvCxnSpPr>
          <p:nvPr/>
        </p:nvCxnSpPr>
        <p:spPr>
          <a:xfrm flipH="1">
            <a:off x="10501472" y="4527557"/>
            <a:ext cx="44452" cy="54521"/>
          </a:xfrm>
          <a:prstGeom prst="line">
            <a:avLst/>
          </a:prstGeom>
          <a:ln w="12700">
            <a:solidFill>
              <a:srgbClr val="00A24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F59D0ED5-1785-9EC1-2D7E-98399DDEBBAF}"/>
              </a:ext>
            </a:extLst>
          </p:cNvPr>
          <p:cNvCxnSpPr>
            <a:cxnSpLocks/>
          </p:cNvCxnSpPr>
          <p:nvPr/>
        </p:nvCxnSpPr>
        <p:spPr>
          <a:xfrm flipH="1">
            <a:off x="10547829" y="4527557"/>
            <a:ext cx="196680" cy="0"/>
          </a:xfrm>
          <a:prstGeom prst="line">
            <a:avLst/>
          </a:prstGeom>
          <a:ln w="12700">
            <a:solidFill>
              <a:srgbClr val="00A24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Connecteur droit avec flèche 115">
            <a:extLst>
              <a:ext uri="{FF2B5EF4-FFF2-40B4-BE49-F238E27FC236}">
                <a16:creationId xmlns:a16="http://schemas.microsoft.com/office/drawing/2014/main" id="{26DDB8E9-FCD4-8DA2-985F-590FB74F4DDD}"/>
              </a:ext>
            </a:extLst>
          </p:cNvPr>
          <p:cNvCxnSpPr>
            <a:cxnSpLocks/>
          </p:cNvCxnSpPr>
          <p:nvPr/>
        </p:nvCxnSpPr>
        <p:spPr>
          <a:xfrm>
            <a:off x="10744509" y="4527557"/>
            <a:ext cx="18796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ZoneTexte 120">
            <a:extLst>
              <a:ext uri="{FF2B5EF4-FFF2-40B4-BE49-F238E27FC236}">
                <a16:creationId xmlns:a16="http://schemas.microsoft.com/office/drawing/2014/main" id="{16F342A8-4070-A0AA-4AD7-B356B5D0BC7A}"/>
              </a:ext>
            </a:extLst>
          </p:cNvPr>
          <p:cNvSpPr txBox="1"/>
          <p:nvPr/>
        </p:nvSpPr>
        <p:spPr>
          <a:xfrm>
            <a:off x="8916348" y="4963497"/>
            <a:ext cx="4547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>
                <a:solidFill>
                  <a:srgbClr val="007AD6"/>
                </a:solidFill>
                <a:latin typeface="Symbol" panose="05050102010706020507" pitchFamily="18" charset="2"/>
                <a:ea typeface="Cambria" panose="02040503050406030204" pitchFamily="18" charset="0"/>
                <a:cs typeface="Calibri Light" panose="020F0302020204030204" pitchFamily="34" charset="0"/>
              </a:rPr>
              <a:t>t</a:t>
            </a:r>
            <a:r>
              <a:rPr lang="fr-FR" sz="1600" i="1" baseline="-25000" dirty="0">
                <a:solidFill>
                  <a:srgbClr val="007AD6"/>
                </a:solidFill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0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A39DB524-1C8A-46A5-662C-FDF6BD718DBC}"/>
              </a:ext>
            </a:extLst>
          </p:cNvPr>
          <p:cNvSpPr txBox="1"/>
          <p:nvPr/>
        </p:nvSpPr>
        <p:spPr>
          <a:xfrm>
            <a:off x="8797359" y="3695602"/>
            <a:ext cx="4547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>
                <a:solidFill>
                  <a:srgbClr val="FF33CC"/>
                </a:solidFill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k</a:t>
            </a:r>
            <a:endParaRPr lang="fr-FR" sz="1600" i="1" baseline="-25000" dirty="0">
              <a:solidFill>
                <a:srgbClr val="FF33CC"/>
              </a:solidFill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A84DF579-80A0-4FBE-BE4B-C36C022725A9}"/>
              </a:ext>
            </a:extLst>
          </p:cNvPr>
          <p:cNvSpPr txBox="1"/>
          <p:nvPr/>
        </p:nvSpPr>
        <p:spPr>
          <a:xfrm>
            <a:off x="10068993" y="4117127"/>
            <a:ext cx="4547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>
                <a:solidFill>
                  <a:srgbClr val="00A249"/>
                </a:solidFill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G</a:t>
            </a:r>
            <a:endParaRPr lang="fr-FR" sz="1600" i="1" baseline="-25000" dirty="0">
              <a:solidFill>
                <a:srgbClr val="00A249"/>
              </a:solidFill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ZoneTexte 123">
                <a:extLst>
                  <a:ext uri="{FF2B5EF4-FFF2-40B4-BE49-F238E27FC236}">
                    <a16:creationId xmlns:a16="http://schemas.microsoft.com/office/drawing/2014/main" id="{2DBADE95-193B-FA2C-F171-DCFEB66F4606}"/>
                  </a:ext>
                </a:extLst>
              </p:cNvPr>
              <p:cNvSpPr txBox="1"/>
              <p:nvPr/>
            </p:nvSpPr>
            <p:spPr>
              <a:xfrm>
                <a:off x="10996745" y="4314515"/>
                <a:ext cx="898963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𝜏</m:t>
                          </m:r>
                        </m:e>
                        <m:sub>
                          <m:r>
                            <a:rPr lang="fr-FR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𝑚𝑎𝑡𝑒𝑟𝑖𝑎𝑙</m:t>
                          </m:r>
                        </m:sub>
                      </m:sSub>
                    </m:oMath>
                  </m:oMathPara>
                </a14:m>
                <a:endParaRPr lang="fr-FR" i="1" baseline="-25000" dirty="0">
                  <a:solidFill>
                    <a:schemeClr val="tx1"/>
                  </a:solidFill>
                  <a:latin typeface="Symbol" panose="05050102010706020507" pitchFamily="18" charset="2"/>
                  <a:ea typeface="Cambria" panose="02040503050406030204" pitchFamily="18" charset="0"/>
                  <a:cs typeface="Calibri Light" panose="020F0302020204030204" pitchFamily="34" charset="0"/>
                </a:endParaRPr>
              </a:p>
            </p:txBody>
          </p:sp>
        </mc:Choice>
        <mc:Fallback xmlns="">
          <p:sp>
            <p:nvSpPr>
              <p:cNvPr id="124" name="ZoneTexte 123">
                <a:extLst>
                  <a:ext uri="{FF2B5EF4-FFF2-40B4-BE49-F238E27FC236}">
                    <a16:creationId xmlns:a16="http://schemas.microsoft.com/office/drawing/2014/main" id="{2DBADE95-193B-FA2C-F171-DCFEB66F4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6745" y="4314515"/>
                <a:ext cx="898963" cy="362984"/>
              </a:xfrm>
              <a:prstGeom prst="rect">
                <a:avLst/>
              </a:prstGeom>
              <a:blipFill>
                <a:blip r:embed="rId2"/>
                <a:stretch>
                  <a:fillRect l="-6803" b="-33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7" name="Connecteur droit avec flèche 126">
            <a:extLst>
              <a:ext uri="{FF2B5EF4-FFF2-40B4-BE49-F238E27FC236}">
                <a16:creationId xmlns:a16="http://schemas.microsoft.com/office/drawing/2014/main" id="{A806FB86-73AC-21C8-7A9A-A0070C00797A}"/>
              </a:ext>
            </a:extLst>
          </p:cNvPr>
          <p:cNvCxnSpPr/>
          <p:nvPr/>
        </p:nvCxnSpPr>
        <p:spPr>
          <a:xfrm>
            <a:off x="8248631" y="5483123"/>
            <a:ext cx="1516708" cy="0"/>
          </a:xfrm>
          <a:prstGeom prst="straightConnector1">
            <a:avLst/>
          </a:prstGeom>
          <a:ln w="63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Connecteur droit avec flèche 127">
            <a:extLst>
              <a:ext uri="{FF2B5EF4-FFF2-40B4-BE49-F238E27FC236}">
                <a16:creationId xmlns:a16="http://schemas.microsoft.com/office/drawing/2014/main" id="{3D2FDDD0-F9D6-D877-5867-975DEC969474}"/>
              </a:ext>
            </a:extLst>
          </p:cNvPr>
          <p:cNvCxnSpPr>
            <a:cxnSpLocks/>
          </p:cNvCxnSpPr>
          <p:nvPr/>
        </p:nvCxnSpPr>
        <p:spPr>
          <a:xfrm>
            <a:off x="9783760" y="5483124"/>
            <a:ext cx="1148709" cy="0"/>
          </a:xfrm>
          <a:prstGeom prst="straightConnector1">
            <a:avLst/>
          </a:prstGeom>
          <a:ln w="63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Connecteur droit 132">
            <a:extLst>
              <a:ext uri="{FF2B5EF4-FFF2-40B4-BE49-F238E27FC236}">
                <a16:creationId xmlns:a16="http://schemas.microsoft.com/office/drawing/2014/main" id="{D3493C12-A83B-A538-2586-3F498454709F}"/>
              </a:ext>
            </a:extLst>
          </p:cNvPr>
          <p:cNvCxnSpPr>
            <a:cxnSpLocks/>
          </p:cNvCxnSpPr>
          <p:nvPr/>
        </p:nvCxnSpPr>
        <p:spPr>
          <a:xfrm>
            <a:off x="8248661" y="5048783"/>
            <a:ext cx="0" cy="399708"/>
          </a:xfrm>
          <a:prstGeom prst="line">
            <a:avLst/>
          </a:prstGeom>
          <a:ln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8BE6D194-2C89-27A6-61DE-F48F81366F48}"/>
              </a:ext>
            </a:extLst>
          </p:cNvPr>
          <p:cNvCxnSpPr>
            <a:cxnSpLocks/>
          </p:cNvCxnSpPr>
          <p:nvPr/>
        </p:nvCxnSpPr>
        <p:spPr>
          <a:xfrm>
            <a:off x="9768821" y="5048783"/>
            <a:ext cx="0" cy="399708"/>
          </a:xfrm>
          <a:prstGeom prst="line">
            <a:avLst/>
          </a:prstGeom>
          <a:ln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B2BA3A36-16A3-3CE7-8510-39FEB4DBBABB}"/>
              </a:ext>
            </a:extLst>
          </p:cNvPr>
          <p:cNvCxnSpPr>
            <a:cxnSpLocks/>
          </p:cNvCxnSpPr>
          <p:nvPr/>
        </p:nvCxnSpPr>
        <p:spPr>
          <a:xfrm>
            <a:off x="10949921" y="4540327"/>
            <a:ext cx="0" cy="942796"/>
          </a:xfrm>
          <a:prstGeom prst="line">
            <a:avLst/>
          </a:prstGeom>
          <a:ln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ZoneTexte 139">
            <a:extLst>
              <a:ext uri="{FF2B5EF4-FFF2-40B4-BE49-F238E27FC236}">
                <a16:creationId xmlns:a16="http://schemas.microsoft.com/office/drawing/2014/main" id="{F781AEC1-2268-5FE4-A87B-BFFE2DC2E5F5}"/>
              </a:ext>
            </a:extLst>
          </p:cNvPr>
          <p:cNvSpPr txBox="1"/>
          <p:nvPr/>
        </p:nvSpPr>
        <p:spPr>
          <a:xfrm>
            <a:off x="8831035" y="5312211"/>
            <a:ext cx="365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 err="1">
                <a:latin typeface="Symbol" panose="05050102010706020507" pitchFamily="18" charset="2"/>
                <a:ea typeface="Cambria" panose="02040503050406030204" pitchFamily="18" charset="0"/>
                <a:cs typeface="Calibri Light" panose="020F0302020204030204" pitchFamily="34" charset="0"/>
              </a:rPr>
              <a:t>g</a:t>
            </a:r>
            <a:r>
              <a:rPr lang="fr-FR" sz="1600" i="1" baseline="-25000" dirty="0" err="1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ir</a:t>
            </a:r>
            <a:endParaRPr lang="fr-FR" sz="1600" i="1" baseline="-25000" dirty="0"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sp>
        <p:nvSpPr>
          <p:cNvPr id="141" name="ZoneTexte 140">
            <a:extLst>
              <a:ext uri="{FF2B5EF4-FFF2-40B4-BE49-F238E27FC236}">
                <a16:creationId xmlns:a16="http://schemas.microsoft.com/office/drawing/2014/main" id="{37E67BCC-75D7-8C05-BFE8-1E6AB7533933}"/>
              </a:ext>
            </a:extLst>
          </p:cNvPr>
          <p:cNvSpPr txBox="1"/>
          <p:nvPr/>
        </p:nvSpPr>
        <p:spPr>
          <a:xfrm>
            <a:off x="10201884" y="5312211"/>
            <a:ext cx="365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>
                <a:latin typeface="Symbol" panose="05050102010706020507" pitchFamily="18" charset="2"/>
                <a:ea typeface="Cambria" panose="02040503050406030204" pitchFamily="18" charset="0"/>
                <a:cs typeface="Calibri Light" panose="020F0302020204030204" pitchFamily="34" charset="0"/>
              </a:rPr>
              <a:t>g</a:t>
            </a:r>
            <a:r>
              <a:rPr lang="fr-FR" sz="1600" i="1" baseline="-250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el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C5D50EA4-0C73-DB94-65CA-8AE5F12B50D5}"/>
              </a:ext>
            </a:extLst>
          </p:cNvPr>
          <p:cNvSpPr txBox="1"/>
          <p:nvPr/>
        </p:nvSpPr>
        <p:spPr>
          <a:xfrm>
            <a:off x="8543090" y="3443051"/>
            <a:ext cx="971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>
                <a:solidFill>
                  <a:srgbClr val="FF33CC"/>
                </a:solidFill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Bing</a:t>
            </a:r>
            <a:r>
              <a:rPr lang="fr-FR" sz="1600" i="1" dirty="0">
                <a:solidFill>
                  <a:srgbClr val="007AD6"/>
                </a:solidFill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ham</a:t>
            </a:r>
            <a:endParaRPr lang="fr-FR" sz="1600" i="1" baseline="-25000" dirty="0">
              <a:solidFill>
                <a:srgbClr val="007AD6"/>
              </a:solidFill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7F827AC2-376F-E72A-3B66-4D60561AA3EE}"/>
              </a:ext>
            </a:extLst>
          </p:cNvPr>
          <p:cNvSpPr txBox="1"/>
          <p:nvPr/>
        </p:nvSpPr>
        <p:spPr>
          <a:xfrm>
            <a:off x="9831733" y="3443051"/>
            <a:ext cx="971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>
                <a:solidFill>
                  <a:srgbClr val="00A249"/>
                </a:solidFill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Hooke</a:t>
            </a:r>
            <a:endParaRPr lang="fr-FR" sz="1600" i="1" baseline="-25000" dirty="0">
              <a:solidFill>
                <a:srgbClr val="00A249"/>
              </a:solidFill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91305336-1DFF-1E4C-6CD8-18A9CC893F40}"/>
              </a:ext>
            </a:extLst>
          </p:cNvPr>
          <p:cNvSpPr txBox="1"/>
          <p:nvPr/>
        </p:nvSpPr>
        <p:spPr>
          <a:xfrm>
            <a:off x="8762406" y="3089642"/>
            <a:ext cx="1788822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i="1" noProof="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Constitutive equation</a:t>
            </a:r>
            <a:endParaRPr lang="en-GB" sz="1400" i="1" baseline="-25000" noProof="0" dirty="0"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cxnSp>
        <p:nvCxnSpPr>
          <p:cNvPr id="145" name="Connecteur droit 144">
            <a:extLst>
              <a:ext uri="{FF2B5EF4-FFF2-40B4-BE49-F238E27FC236}">
                <a16:creationId xmlns:a16="http://schemas.microsoft.com/office/drawing/2014/main" id="{4C5668CD-1E6B-AAEB-2574-5113592A574C}"/>
              </a:ext>
            </a:extLst>
          </p:cNvPr>
          <p:cNvCxnSpPr>
            <a:cxnSpLocks/>
          </p:cNvCxnSpPr>
          <p:nvPr/>
        </p:nvCxnSpPr>
        <p:spPr>
          <a:xfrm flipH="1">
            <a:off x="7521472" y="1402409"/>
            <a:ext cx="3850642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7" name="Ellipse 146">
            <a:extLst>
              <a:ext uri="{FF2B5EF4-FFF2-40B4-BE49-F238E27FC236}">
                <a16:creationId xmlns:a16="http://schemas.microsoft.com/office/drawing/2014/main" id="{7CF0EF54-068D-C0DD-70BA-D102916F69C8}"/>
              </a:ext>
            </a:extLst>
          </p:cNvPr>
          <p:cNvSpPr/>
          <p:nvPr/>
        </p:nvSpPr>
        <p:spPr>
          <a:xfrm>
            <a:off x="7580589" y="462519"/>
            <a:ext cx="929654" cy="929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134BB3A8-D50B-0948-84F4-47F26393B3F8}"/>
              </a:ext>
            </a:extLst>
          </p:cNvPr>
          <p:cNvSpPr/>
          <p:nvPr/>
        </p:nvSpPr>
        <p:spPr>
          <a:xfrm>
            <a:off x="9315325" y="870919"/>
            <a:ext cx="1564640" cy="5176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3" name="ZoneTexte 152">
            <a:extLst>
              <a:ext uri="{FF2B5EF4-FFF2-40B4-BE49-F238E27FC236}">
                <a16:creationId xmlns:a16="http://schemas.microsoft.com/office/drawing/2014/main" id="{1A4DA980-887A-C3FD-8E92-24FBD3E9C5B6}"/>
              </a:ext>
            </a:extLst>
          </p:cNvPr>
          <p:cNvSpPr txBox="1"/>
          <p:nvPr/>
        </p:nvSpPr>
        <p:spPr>
          <a:xfrm>
            <a:off x="7302070" y="92755"/>
            <a:ext cx="1448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i="1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impact (t = 0s)</a:t>
            </a:r>
            <a:endParaRPr lang="fr-FR" sz="1400" i="1" baseline="-25000" dirty="0"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08F73D46-F586-B22D-BD2A-B5445F98BFDB}"/>
              </a:ext>
            </a:extLst>
          </p:cNvPr>
          <p:cNvSpPr txBox="1"/>
          <p:nvPr/>
        </p:nvSpPr>
        <p:spPr>
          <a:xfrm>
            <a:off x="8702372" y="480273"/>
            <a:ext cx="27905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i="1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Spread of a disc (t &gt; 0s)</a:t>
            </a:r>
            <a:endParaRPr lang="fr-FR" sz="1400" i="1" baseline="-25000" dirty="0"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cxnSp>
        <p:nvCxnSpPr>
          <p:cNvPr id="157" name="Connecteur droit avec flèche 156">
            <a:extLst>
              <a:ext uri="{FF2B5EF4-FFF2-40B4-BE49-F238E27FC236}">
                <a16:creationId xmlns:a16="http://schemas.microsoft.com/office/drawing/2014/main" id="{40408125-2CEE-3703-CDB1-8BF87D27CF22}"/>
              </a:ext>
            </a:extLst>
          </p:cNvPr>
          <p:cNvCxnSpPr>
            <a:cxnSpLocks/>
          </p:cNvCxnSpPr>
          <p:nvPr/>
        </p:nvCxnSpPr>
        <p:spPr>
          <a:xfrm>
            <a:off x="8019314" y="933442"/>
            <a:ext cx="4584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AED9FD73-DAA4-BEA1-1F60-0F01A3ADD4BF}"/>
              </a:ext>
            </a:extLst>
          </p:cNvPr>
          <p:cNvSpPr txBox="1"/>
          <p:nvPr/>
        </p:nvSpPr>
        <p:spPr>
          <a:xfrm>
            <a:off x="7989549" y="626808"/>
            <a:ext cx="4547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R</a:t>
            </a:r>
            <a:r>
              <a:rPr lang="fr-FR" sz="1600" i="1" baseline="-250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0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3B6845E2-946F-1FBF-B13C-7E7C69251CF3}"/>
              </a:ext>
            </a:extLst>
          </p:cNvPr>
          <p:cNvSpPr txBox="1"/>
          <p:nvPr/>
        </p:nvSpPr>
        <p:spPr>
          <a:xfrm>
            <a:off x="10157635" y="832655"/>
            <a:ext cx="5548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R(t)</a:t>
            </a:r>
            <a:endParaRPr lang="fr-FR" sz="1600" i="1" baseline="-25000" dirty="0"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cxnSp>
        <p:nvCxnSpPr>
          <p:cNvPr id="161" name="Connecteur droit avec flèche 160">
            <a:extLst>
              <a:ext uri="{FF2B5EF4-FFF2-40B4-BE49-F238E27FC236}">
                <a16:creationId xmlns:a16="http://schemas.microsoft.com/office/drawing/2014/main" id="{74E4C3A7-5DB3-3110-D3EE-FEDDAC732B7E}"/>
              </a:ext>
            </a:extLst>
          </p:cNvPr>
          <p:cNvCxnSpPr>
            <a:cxnSpLocks/>
          </p:cNvCxnSpPr>
          <p:nvPr/>
        </p:nvCxnSpPr>
        <p:spPr>
          <a:xfrm>
            <a:off x="10109417" y="1129724"/>
            <a:ext cx="7503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Connecteur droit 162">
            <a:extLst>
              <a:ext uri="{FF2B5EF4-FFF2-40B4-BE49-F238E27FC236}">
                <a16:creationId xmlns:a16="http://schemas.microsoft.com/office/drawing/2014/main" id="{1FFF7E63-416D-A057-0FF6-2409E3C57E4D}"/>
              </a:ext>
            </a:extLst>
          </p:cNvPr>
          <p:cNvCxnSpPr>
            <a:cxnSpLocks/>
          </p:cNvCxnSpPr>
          <p:nvPr/>
        </p:nvCxnSpPr>
        <p:spPr>
          <a:xfrm>
            <a:off x="10904349" y="877015"/>
            <a:ext cx="347800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Connecteur droit avec flèche 164">
            <a:extLst>
              <a:ext uri="{FF2B5EF4-FFF2-40B4-BE49-F238E27FC236}">
                <a16:creationId xmlns:a16="http://schemas.microsoft.com/office/drawing/2014/main" id="{D06CDBEC-38A0-3CC1-400E-FF57ACDD83B6}"/>
              </a:ext>
            </a:extLst>
          </p:cNvPr>
          <p:cNvCxnSpPr>
            <a:cxnSpLocks/>
          </p:cNvCxnSpPr>
          <p:nvPr/>
        </p:nvCxnSpPr>
        <p:spPr>
          <a:xfrm>
            <a:off x="11240385" y="904933"/>
            <a:ext cx="0" cy="475654"/>
          </a:xfrm>
          <a:prstGeom prst="straightConnector1">
            <a:avLst/>
          </a:prstGeom>
          <a:ln w="63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ZoneTexte 167">
            <a:extLst>
              <a:ext uri="{FF2B5EF4-FFF2-40B4-BE49-F238E27FC236}">
                <a16:creationId xmlns:a16="http://schemas.microsoft.com/office/drawing/2014/main" id="{D54DC5EB-D579-B053-C5CA-4031189C2C57}"/>
              </a:ext>
            </a:extLst>
          </p:cNvPr>
          <p:cNvSpPr txBox="1"/>
          <p:nvPr/>
        </p:nvSpPr>
        <p:spPr>
          <a:xfrm>
            <a:off x="11164216" y="960447"/>
            <a:ext cx="5220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h(t)</a:t>
            </a:r>
            <a:endParaRPr lang="fr-FR" sz="1600" i="1" baseline="-25000" dirty="0"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sp>
        <p:nvSpPr>
          <p:cNvPr id="169" name="ZoneTexte 168">
            <a:extLst>
              <a:ext uri="{FF2B5EF4-FFF2-40B4-BE49-F238E27FC236}">
                <a16:creationId xmlns:a16="http://schemas.microsoft.com/office/drawing/2014/main" id="{4DB07AEB-D2C6-0BE0-098A-4EA6A3C7F1F7}"/>
              </a:ext>
            </a:extLst>
          </p:cNvPr>
          <p:cNvSpPr txBox="1"/>
          <p:nvPr/>
        </p:nvSpPr>
        <p:spPr>
          <a:xfrm>
            <a:off x="7192519" y="424245"/>
            <a:ext cx="4547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V</a:t>
            </a:r>
            <a:r>
              <a:rPr lang="fr-FR" sz="1600" i="1" baseline="-250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0</a:t>
            </a:r>
          </a:p>
        </p:txBody>
      </p:sp>
      <p:cxnSp>
        <p:nvCxnSpPr>
          <p:cNvPr id="170" name="Connecteur droit avec flèche 169">
            <a:extLst>
              <a:ext uri="{FF2B5EF4-FFF2-40B4-BE49-F238E27FC236}">
                <a16:creationId xmlns:a16="http://schemas.microsoft.com/office/drawing/2014/main" id="{B7DD23D3-D097-A50D-3AE3-4792A837EF80}"/>
              </a:ext>
            </a:extLst>
          </p:cNvPr>
          <p:cNvCxnSpPr>
            <a:cxnSpLocks/>
          </p:cNvCxnSpPr>
          <p:nvPr/>
        </p:nvCxnSpPr>
        <p:spPr>
          <a:xfrm>
            <a:off x="7415034" y="722977"/>
            <a:ext cx="0" cy="263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2" name="ZoneTexte 171">
            <a:extLst>
              <a:ext uri="{FF2B5EF4-FFF2-40B4-BE49-F238E27FC236}">
                <a16:creationId xmlns:a16="http://schemas.microsoft.com/office/drawing/2014/main" id="{CFD175E9-A6A9-9833-8179-01562957A0CF}"/>
              </a:ext>
            </a:extLst>
          </p:cNvPr>
          <p:cNvSpPr txBox="1"/>
          <p:nvPr/>
        </p:nvSpPr>
        <p:spPr>
          <a:xfrm>
            <a:off x="10236424" y="1419651"/>
            <a:ext cx="4547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u</a:t>
            </a:r>
            <a:endParaRPr lang="fr-FR" sz="1600" i="1" baseline="-25000" dirty="0"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cxnSp>
        <p:nvCxnSpPr>
          <p:cNvPr id="173" name="Connecteur droit avec flèche 172">
            <a:extLst>
              <a:ext uri="{FF2B5EF4-FFF2-40B4-BE49-F238E27FC236}">
                <a16:creationId xmlns:a16="http://schemas.microsoft.com/office/drawing/2014/main" id="{754B0160-33FF-3477-CCF1-14B45B7790E7}"/>
              </a:ext>
            </a:extLst>
          </p:cNvPr>
          <p:cNvCxnSpPr>
            <a:cxnSpLocks/>
          </p:cNvCxnSpPr>
          <p:nvPr/>
        </p:nvCxnSpPr>
        <p:spPr>
          <a:xfrm>
            <a:off x="10555497" y="1604700"/>
            <a:ext cx="3108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5" name="ZoneTexte 174">
            <a:extLst>
              <a:ext uri="{FF2B5EF4-FFF2-40B4-BE49-F238E27FC236}">
                <a16:creationId xmlns:a16="http://schemas.microsoft.com/office/drawing/2014/main" id="{6C0284A2-17A7-30A2-5A0E-0FCB44AD1072}"/>
              </a:ext>
            </a:extLst>
          </p:cNvPr>
          <p:cNvSpPr txBox="1"/>
          <p:nvPr/>
        </p:nvSpPr>
        <p:spPr>
          <a:xfrm>
            <a:off x="9677385" y="1647736"/>
            <a:ext cx="16931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(</a:t>
            </a:r>
            <a:r>
              <a:rPr lang="fr-FR" sz="1200" i="1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radial </a:t>
            </a:r>
            <a:r>
              <a:rPr lang="fr-FR" sz="1200" i="1" dirty="0" err="1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velocity</a:t>
            </a:r>
            <a:r>
              <a:rPr lang="fr-FR" sz="12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)</a:t>
            </a:r>
            <a:endParaRPr lang="fr-FR" sz="1200" baseline="-25000" dirty="0"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sp>
        <p:nvSpPr>
          <p:cNvPr id="176" name="ZoneTexte 175">
            <a:extLst>
              <a:ext uri="{FF2B5EF4-FFF2-40B4-BE49-F238E27FC236}">
                <a16:creationId xmlns:a16="http://schemas.microsoft.com/office/drawing/2014/main" id="{6A8A3DAE-A279-195F-A0E3-F7543D4D9639}"/>
              </a:ext>
            </a:extLst>
          </p:cNvPr>
          <p:cNvSpPr txBox="1"/>
          <p:nvPr/>
        </p:nvSpPr>
        <p:spPr>
          <a:xfrm>
            <a:off x="102715" y="635230"/>
            <a:ext cx="4158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noProof="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Mass conservation (volume-averaged </a:t>
            </a:r>
            <a:r>
              <a:rPr lang="en-GB" sz="1400" i="1" noProof="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shallow water</a:t>
            </a:r>
            <a:r>
              <a:rPr lang="en-GB" sz="1400" noProof="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)</a:t>
            </a:r>
            <a:endParaRPr lang="en-GB" sz="1400" baseline="-25000" noProof="0" dirty="0"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sp>
        <p:nvSpPr>
          <p:cNvPr id="177" name="ZoneTexte 176">
            <a:extLst>
              <a:ext uri="{FF2B5EF4-FFF2-40B4-BE49-F238E27FC236}">
                <a16:creationId xmlns:a16="http://schemas.microsoft.com/office/drawing/2014/main" id="{FD7EA265-E9B6-4BF4-14F0-9F17DB21618C}"/>
              </a:ext>
            </a:extLst>
          </p:cNvPr>
          <p:cNvSpPr txBox="1"/>
          <p:nvPr/>
        </p:nvSpPr>
        <p:spPr>
          <a:xfrm>
            <a:off x="105587" y="1808580"/>
            <a:ext cx="45680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noProof="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Momentum conservation (volume-averaged </a:t>
            </a:r>
            <a:r>
              <a:rPr lang="en-GB" sz="1400" i="1" noProof="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shallow water</a:t>
            </a:r>
            <a:r>
              <a:rPr lang="en-GB" sz="1400" noProof="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)</a:t>
            </a:r>
            <a:endParaRPr lang="en-GB" sz="1400" baseline="-25000" noProof="0" dirty="0"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E2DB86B8-76BC-19B2-6967-CB2E537EE96F}"/>
                  </a:ext>
                </a:extLst>
              </p:cNvPr>
              <p:cNvSpPr/>
              <p:nvPr/>
            </p:nvSpPr>
            <p:spPr>
              <a:xfrm>
                <a:off x="374404" y="1047218"/>
                <a:ext cx="1459219" cy="501356"/>
              </a:xfrm>
              <a:prstGeom prst="rect">
                <a:avLst/>
              </a:prstGeom>
              <a:ln w="31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fPr>
                        <m:num>
                          <m:r>
                            <a:rPr lang="fr-FR" sz="1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libri Light" panose="020F0302020204030204" pitchFamily="34" charset="0"/>
                            </a:rPr>
                            <m:t>𝑑</m:t>
                          </m:r>
                          <m:r>
                            <a:rPr lang="fr-FR" sz="1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libri Light" panose="020F0302020204030204" pitchFamily="34" charset="0"/>
                            </a:rPr>
                            <m:t>h</m:t>
                          </m:r>
                        </m:num>
                        <m:den>
                          <m:r>
                            <a:rPr lang="fr-FR" sz="1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libri Light" panose="020F0302020204030204" pitchFamily="34" charset="0"/>
                            </a:rPr>
                            <m:t>𝑑</m:t>
                          </m:r>
                          <m:r>
                            <a:rPr lang="fr-FR" sz="1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libri Light" panose="020F0302020204030204" pitchFamily="34" charset="0"/>
                            </a:rPr>
                            <m:t>𝑡</m:t>
                          </m:r>
                        </m:den>
                      </m:f>
                      <m:r>
                        <a:rPr lang="fr-FR" sz="1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 Light" panose="020F0302020204030204" pitchFamily="34" charset="0"/>
                        </a:rPr>
                        <m:t>+</m:t>
                      </m:r>
                      <m:f>
                        <m:fPr>
                          <m:ctrlPr>
                            <a:rPr lang="fr-FR" sz="1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fPr>
                        <m:num>
                          <m:r>
                            <a:rPr lang="fr-FR" sz="1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libri Light" panose="020F0302020204030204" pitchFamily="34" charset="0"/>
                            </a:rPr>
                            <m:t>2</m:t>
                          </m:r>
                          <m:r>
                            <a:rPr lang="fr-FR" sz="1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libri Light" panose="020F0302020204030204" pitchFamily="34" charset="0"/>
                            </a:rPr>
                            <m:t>𝑢h</m:t>
                          </m:r>
                        </m:num>
                        <m:den>
                          <m:r>
                            <a:rPr lang="fr-FR" sz="1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libri Light" panose="020F0302020204030204" pitchFamily="34" charset="0"/>
                            </a:rPr>
                            <m:t>𝑅</m:t>
                          </m:r>
                        </m:den>
                      </m:f>
                      <m:r>
                        <a:rPr lang="fr-FR" sz="1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  <a:cs typeface="Calibri Light" panose="020F0302020204030204" pitchFamily="34" charset="0"/>
                        </a:rPr>
                        <m:t>=0</m:t>
                      </m:r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3840D195-1F16-4B5D-AE93-E95CD6DA4B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04" y="1047218"/>
                <a:ext cx="1459219" cy="501356"/>
              </a:xfrm>
              <a:prstGeom prst="rect">
                <a:avLst/>
              </a:prstGeom>
              <a:blipFill>
                <a:blip r:embed="rId3"/>
                <a:stretch>
                  <a:fillRect b="-1205"/>
                </a:stretch>
              </a:blipFill>
              <a:ln w="31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49D89088-81D4-3C9C-E3C6-9E6AF4C26A9F}"/>
                  </a:ext>
                </a:extLst>
              </p:cNvPr>
              <p:cNvSpPr/>
              <p:nvPr/>
            </p:nvSpPr>
            <p:spPr>
              <a:xfrm>
                <a:off x="380194" y="2212216"/>
                <a:ext cx="3193735" cy="402611"/>
              </a:xfrm>
              <a:prstGeom prst="rect">
                <a:avLst/>
              </a:prstGeom>
              <a:ln w="31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fr-FR" sz="1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 Light" panose="020F0302020204030204" pitchFamily="34" charset="0"/>
                      </a:rPr>
                      <m:t>𝜌</m:t>
                    </m:r>
                    <m:r>
                      <a:rPr lang="fr-FR" sz="1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 Light" panose="020F0302020204030204" pitchFamily="34" charset="0"/>
                      </a:rPr>
                      <m:t>h</m:t>
                    </m:r>
                    <m:f>
                      <m:fPr>
                        <m:ctrlPr>
                          <a:rPr lang="fr-FR" sz="1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fPr>
                      <m:num>
                        <m:r>
                          <a:rPr lang="fr-FR" sz="1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Calibri Light" panose="020F0302020204030204" pitchFamily="34" charset="0"/>
                          </a:rPr>
                          <m:t>𝑑</m:t>
                        </m:r>
                        <m:r>
                          <a:rPr lang="fr-FR" sz="1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Calibri Light" panose="020F0302020204030204" pitchFamily="34" charset="0"/>
                          </a:rPr>
                          <m:t>𝑢</m:t>
                        </m:r>
                      </m:num>
                      <m:den>
                        <m:r>
                          <a:rPr lang="fr-FR" sz="1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Calibri Light" panose="020F0302020204030204" pitchFamily="34" charset="0"/>
                          </a:rPr>
                          <m:t>𝑑</m:t>
                        </m:r>
                        <m:r>
                          <a:rPr lang="fr-FR" sz="1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Calibri Light" panose="020F0302020204030204" pitchFamily="34" charset="0"/>
                          </a:rPr>
                          <m:t>𝑡</m:t>
                        </m:r>
                      </m:den>
                    </m:f>
                    <m:r>
                      <a:rPr lang="fr-FR" sz="1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Calibri Light" panose="020F0302020204030204" pitchFamily="34" charset="0"/>
                      </a:rPr>
                      <m:t>=−</m:t>
                    </m:r>
                    <m:sSub>
                      <m:sSubPr>
                        <m:ctrlPr>
                          <a:rPr lang="fr-FR" sz="1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fr-FR" sz="1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 Light" panose="020F0302020204030204" pitchFamily="34" charset="0"/>
                          </a:rPr>
                          <m:t>𝜏</m:t>
                        </m:r>
                      </m:e>
                      <m:sub>
                        <m:r>
                          <a:rPr lang="fr-FR" sz="1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 Light" panose="020F0302020204030204" pitchFamily="34" charset="0"/>
                          </a:rPr>
                          <m:t>𝑚𝑎𝑡𝑒𝑟𝑖𝑎𝑙</m:t>
                        </m:r>
                      </m:sub>
                    </m:sSub>
                  </m:oMath>
                </a14:m>
                <a:r>
                  <a:rPr lang="fr-FR" sz="1400" dirty="0">
                    <a:solidFill>
                      <a:srgbClr val="FF0000"/>
                    </a:solidFill>
                  </a:rPr>
                  <a:t> -</a:t>
                </a:r>
                <a:r>
                  <a:rPr lang="fr-FR" sz="1400" dirty="0">
                    <a:solidFill>
                      <a:srgbClr val="FF0000"/>
                    </a:solidFill>
                    <a:ea typeface="Cambria Math" panose="02040503050406030204" pitchFamily="18" charset="0"/>
                    <a:cs typeface="Calibri Light" panose="020F03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fr-FR" sz="1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 Light" panose="020F0302020204030204" pitchFamily="34" charset="0"/>
                          </a:rPr>
                          <m:t>𝜏</m:t>
                        </m:r>
                      </m:e>
                      <m:sub>
                        <m:r>
                          <a:rPr lang="fr-FR" sz="1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 Light" panose="020F0302020204030204" pitchFamily="34" charset="0"/>
                          </a:rPr>
                          <m:t>𝑜𝑖𝑙</m:t>
                        </m:r>
                      </m:sub>
                    </m:sSub>
                  </m:oMath>
                </a14:m>
                <a:r>
                  <a:rPr lang="fr-FR" sz="1400" dirty="0">
                    <a:solidFill>
                      <a:srgbClr val="FF0000"/>
                    </a:solidFill>
                  </a:rPr>
                  <a:t> 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fr-FR" sz="1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 Light" panose="020F0302020204030204" pitchFamily="34" charset="0"/>
                          </a:rPr>
                          <m:t>𝜏</m:t>
                        </m:r>
                      </m:e>
                      <m:sub>
                        <m:r>
                          <a:rPr lang="fr-FR" sz="1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 Light" panose="020F0302020204030204" pitchFamily="34" charset="0"/>
                          </a:rPr>
                          <m:t>𝑐𝑎𝑝𝑖𝑙𝑙𝑎𝑟𝑦</m:t>
                        </m:r>
                      </m:sub>
                    </m:sSub>
                  </m:oMath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49D89088-81D4-3C9C-E3C6-9E6AF4C26A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94" y="2212216"/>
                <a:ext cx="3193735" cy="4026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1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0" name="ZoneTexte 189">
            <a:extLst>
              <a:ext uri="{FF2B5EF4-FFF2-40B4-BE49-F238E27FC236}">
                <a16:creationId xmlns:a16="http://schemas.microsoft.com/office/drawing/2014/main" id="{76A5D8F3-6893-DE50-85F8-9B7987AFC906}"/>
              </a:ext>
            </a:extLst>
          </p:cNvPr>
          <p:cNvSpPr txBox="1"/>
          <p:nvPr/>
        </p:nvSpPr>
        <p:spPr>
          <a:xfrm>
            <a:off x="13983" y="3299530"/>
            <a:ext cx="13808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>
                <a:latin typeface="Symbol" panose="05050102010706020507" pitchFamily="18" charset="2"/>
                <a:ea typeface="Cambria" panose="02040503050406030204" pitchFamily="18" charset="0"/>
                <a:cs typeface="Calibri Light" panose="020F0302020204030204" pitchFamily="34" charset="0"/>
              </a:rPr>
              <a:t>g </a:t>
            </a:r>
            <a:r>
              <a:rPr lang="fr-FR" sz="16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=</a:t>
            </a:r>
            <a:r>
              <a:rPr lang="fr-FR" sz="1600" i="1" dirty="0">
                <a:latin typeface="Symbol" panose="05050102010706020507" pitchFamily="18" charset="2"/>
                <a:ea typeface="Cambria" panose="02040503050406030204" pitchFamily="18" charset="0"/>
                <a:cs typeface="Calibri Light" panose="020F0302020204030204" pitchFamily="34" charset="0"/>
              </a:rPr>
              <a:t> </a:t>
            </a:r>
            <a:r>
              <a:rPr lang="fr-FR" sz="1600" i="1" dirty="0" err="1">
                <a:latin typeface="Symbol" panose="05050102010706020507" pitchFamily="18" charset="2"/>
                <a:ea typeface="Cambria" panose="02040503050406030204" pitchFamily="18" charset="0"/>
                <a:cs typeface="Calibri Light" panose="020F0302020204030204" pitchFamily="34" charset="0"/>
              </a:rPr>
              <a:t>g</a:t>
            </a:r>
            <a:r>
              <a:rPr lang="fr-FR" sz="1600" i="1" baseline="-25000" dirty="0" err="1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ir</a:t>
            </a:r>
            <a:r>
              <a:rPr lang="fr-FR" sz="1600" i="1" baseline="-250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 </a:t>
            </a:r>
            <a:r>
              <a:rPr lang="fr-FR" sz="16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+</a:t>
            </a:r>
            <a:r>
              <a:rPr lang="fr-FR" sz="1600" i="1" dirty="0">
                <a:latin typeface="Symbol" panose="05050102010706020507" pitchFamily="18" charset="2"/>
                <a:ea typeface="Cambria" panose="02040503050406030204" pitchFamily="18" charset="0"/>
                <a:cs typeface="Calibri Light" panose="020F0302020204030204" pitchFamily="34" charset="0"/>
              </a:rPr>
              <a:t>g</a:t>
            </a:r>
            <a:r>
              <a:rPr lang="fr-FR" sz="1600" i="1" baseline="-250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el</a:t>
            </a:r>
          </a:p>
        </p:txBody>
      </p:sp>
      <p:sp>
        <p:nvSpPr>
          <p:cNvPr id="191" name="ZoneTexte 190">
            <a:extLst>
              <a:ext uri="{FF2B5EF4-FFF2-40B4-BE49-F238E27FC236}">
                <a16:creationId xmlns:a16="http://schemas.microsoft.com/office/drawing/2014/main" id="{9F4B2231-A579-0DB6-BDF1-CF2054D1354C}"/>
              </a:ext>
            </a:extLst>
          </p:cNvPr>
          <p:cNvSpPr txBox="1"/>
          <p:nvPr/>
        </p:nvSpPr>
        <p:spPr>
          <a:xfrm>
            <a:off x="1095256" y="3371033"/>
            <a:ext cx="2944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(</a:t>
            </a:r>
            <a:r>
              <a:rPr lang="en-GB" sz="1200" noProof="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total deformation, when the material flows</a:t>
            </a:r>
            <a:r>
              <a:rPr lang="fr-FR" sz="12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)</a:t>
            </a:r>
            <a:endParaRPr lang="fr-FR" sz="1200" baseline="-25000" dirty="0"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sp>
        <p:nvSpPr>
          <p:cNvPr id="192" name="ZoneTexte 191">
            <a:extLst>
              <a:ext uri="{FF2B5EF4-FFF2-40B4-BE49-F238E27FC236}">
                <a16:creationId xmlns:a16="http://schemas.microsoft.com/office/drawing/2014/main" id="{4C6B46FD-32BB-AFB1-D385-50919A662E9A}"/>
              </a:ext>
            </a:extLst>
          </p:cNvPr>
          <p:cNvSpPr txBox="1"/>
          <p:nvPr/>
        </p:nvSpPr>
        <p:spPr>
          <a:xfrm>
            <a:off x="-2061" y="3707758"/>
            <a:ext cx="13808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 err="1">
                <a:latin typeface="Symbol" panose="05050102010706020507" pitchFamily="18" charset="2"/>
                <a:ea typeface="Cambria" panose="02040503050406030204" pitchFamily="18" charset="0"/>
                <a:cs typeface="Calibri Light" panose="020F0302020204030204" pitchFamily="34" charset="0"/>
              </a:rPr>
              <a:t>g</a:t>
            </a:r>
            <a:r>
              <a:rPr lang="fr-FR" sz="1600" i="1" baseline="-25000" dirty="0" err="1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ir</a:t>
            </a:r>
            <a:r>
              <a:rPr lang="fr-FR" sz="1600" i="1" baseline="-250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 </a:t>
            </a:r>
            <a:r>
              <a:rPr lang="fr-FR" sz="16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=</a:t>
            </a:r>
            <a:r>
              <a:rPr lang="fr-FR" sz="1600" i="1" dirty="0">
                <a:latin typeface="Symbol" panose="05050102010706020507" pitchFamily="18" charset="2"/>
                <a:ea typeface="Cambria" panose="02040503050406030204" pitchFamily="18" charset="0"/>
                <a:cs typeface="Calibri Light" panose="020F0302020204030204" pitchFamily="34" charset="0"/>
              </a:rPr>
              <a:t> g </a:t>
            </a:r>
            <a:r>
              <a:rPr lang="fr-FR" sz="16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-</a:t>
            </a:r>
            <a:r>
              <a:rPr lang="fr-FR" sz="1600" i="1" dirty="0">
                <a:latin typeface="Symbol" panose="05050102010706020507" pitchFamily="18" charset="2"/>
                <a:ea typeface="Cambria" panose="02040503050406030204" pitchFamily="18" charset="0"/>
                <a:cs typeface="Calibri Light" panose="020F0302020204030204" pitchFamily="34" charset="0"/>
              </a:rPr>
              <a:t>g</a:t>
            </a:r>
            <a:r>
              <a:rPr lang="fr-FR" sz="1600" i="1" baseline="-250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el</a:t>
            </a:r>
          </a:p>
        </p:txBody>
      </p:sp>
      <p:sp>
        <p:nvSpPr>
          <p:cNvPr id="196" name="ZoneTexte 195">
            <a:extLst>
              <a:ext uri="{FF2B5EF4-FFF2-40B4-BE49-F238E27FC236}">
                <a16:creationId xmlns:a16="http://schemas.microsoft.com/office/drawing/2014/main" id="{68C469B3-2015-C696-A81B-6B150586C488}"/>
              </a:ext>
            </a:extLst>
          </p:cNvPr>
          <p:cNvSpPr txBox="1"/>
          <p:nvPr/>
        </p:nvSpPr>
        <p:spPr>
          <a:xfrm>
            <a:off x="1114848" y="3753039"/>
            <a:ext cx="36244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(</a:t>
            </a:r>
            <a:r>
              <a:rPr lang="en-GB" sz="1200" noProof="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strain rate associated with the irreversible deformation</a:t>
            </a:r>
            <a:r>
              <a:rPr lang="fr-FR" sz="12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)</a:t>
            </a:r>
            <a:endParaRPr lang="fr-FR" sz="1200" baseline="-25000" dirty="0"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2381739F-146F-3135-95AF-CEA9D99F7C4E}"/>
              </a:ext>
            </a:extLst>
          </p:cNvPr>
          <p:cNvSpPr/>
          <p:nvPr/>
        </p:nvSpPr>
        <p:spPr>
          <a:xfrm>
            <a:off x="1874441" y="4108981"/>
            <a:ext cx="1415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i="1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k</a:t>
            </a:r>
            <a:r>
              <a:rPr lang="fr-FR" i="1" dirty="0">
                <a:latin typeface="Symbol" panose="05050102010706020507" pitchFamily="18" charset="2"/>
                <a:ea typeface="Cambria" panose="02040503050406030204" pitchFamily="18" charset="0"/>
                <a:cs typeface="Calibri Light" panose="020F0302020204030204" pitchFamily="34" charset="0"/>
              </a:rPr>
              <a:t>g</a:t>
            </a:r>
            <a:r>
              <a:rPr lang="fr-FR" i="1" baseline="-250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ir</a:t>
            </a:r>
            <a:r>
              <a:rPr lang="fr-FR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+</a:t>
            </a:r>
            <a:r>
              <a:rPr lang="fr-FR" i="1" dirty="0">
                <a:latin typeface="Symbol" panose="05050102010706020507" pitchFamily="18" charset="2"/>
                <a:ea typeface="Cambria" panose="02040503050406030204" pitchFamily="18" charset="0"/>
                <a:cs typeface="Calibri Light" panose="020F0302020204030204" pitchFamily="34" charset="0"/>
              </a:rPr>
              <a:t>t</a:t>
            </a:r>
            <a:r>
              <a:rPr lang="fr-FR" i="1" baseline="-250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0 </a:t>
            </a:r>
            <a:r>
              <a:rPr lang="fr-FR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= </a:t>
            </a:r>
            <a:r>
              <a:rPr lang="fr-FR" dirty="0" err="1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G</a:t>
            </a:r>
            <a:r>
              <a:rPr lang="fr-FR" i="1" dirty="0" err="1">
                <a:latin typeface="Symbol" panose="05050102010706020507" pitchFamily="18" charset="2"/>
                <a:ea typeface="Cambria" panose="02040503050406030204" pitchFamily="18" charset="0"/>
                <a:cs typeface="Calibri Light" panose="020F0302020204030204" pitchFamily="34" charset="0"/>
              </a:rPr>
              <a:t>g</a:t>
            </a:r>
            <a:r>
              <a:rPr lang="fr-FR" i="1" baseline="-25000" dirty="0" err="1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el</a:t>
            </a:r>
            <a:r>
              <a:rPr lang="fr-FR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 </a:t>
            </a:r>
            <a:r>
              <a:rPr lang="fr-FR" i="1" baseline="-250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 </a:t>
            </a:r>
            <a:endParaRPr lang="fr-FR" dirty="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853C9098-7F4B-FE0D-88D1-A73707001F11}"/>
              </a:ext>
            </a:extLst>
          </p:cNvPr>
          <p:cNvSpPr/>
          <p:nvPr/>
        </p:nvSpPr>
        <p:spPr>
          <a:xfrm>
            <a:off x="207140" y="4112936"/>
            <a:ext cx="15312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i="1" dirty="0">
                <a:latin typeface="Symbol" panose="05050102010706020507" pitchFamily="18" charset="2"/>
                <a:ea typeface="Cambria" panose="02040503050406030204" pitchFamily="18" charset="0"/>
                <a:cs typeface="Calibri Light" panose="020F0302020204030204" pitchFamily="34" charset="0"/>
              </a:rPr>
              <a:t>t</a:t>
            </a:r>
            <a:r>
              <a:rPr lang="fr-FR" i="1" baseline="-250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ir </a:t>
            </a:r>
            <a:r>
              <a:rPr lang="fr-FR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=</a:t>
            </a:r>
            <a:r>
              <a:rPr lang="fr-FR" i="1" dirty="0">
                <a:latin typeface="Symbol" panose="05050102010706020507" pitchFamily="18" charset="2"/>
                <a:ea typeface="Cambria" panose="02040503050406030204" pitchFamily="18" charset="0"/>
                <a:cs typeface="Calibri Light" panose="020F0302020204030204" pitchFamily="34" charset="0"/>
              </a:rPr>
              <a:t>t</a:t>
            </a:r>
            <a:r>
              <a:rPr lang="fr-FR" i="1" baseline="-250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el </a:t>
            </a:r>
            <a:r>
              <a:rPr lang="fr-FR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=</a:t>
            </a:r>
            <a:r>
              <a:rPr lang="fr-FR" i="1" dirty="0" err="1">
                <a:latin typeface="Symbol" panose="05050102010706020507" pitchFamily="18" charset="2"/>
                <a:ea typeface="Cambria" panose="02040503050406030204" pitchFamily="18" charset="0"/>
                <a:cs typeface="Calibri Light" panose="020F0302020204030204" pitchFamily="34" charset="0"/>
              </a:rPr>
              <a:t>t</a:t>
            </a:r>
            <a:r>
              <a:rPr lang="fr-FR" i="1" baseline="-25000" dirty="0" err="1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material</a:t>
            </a:r>
            <a:endParaRPr lang="fr-FR" dirty="0"/>
          </a:p>
        </p:txBody>
      </p:sp>
      <p:sp>
        <p:nvSpPr>
          <p:cNvPr id="199" name="ZoneTexte 198">
            <a:extLst>
              <a:ext uri="{FF2B5EF4-FFF2-40B4-BE49-F238E27FC236}">
                <a16:creationId xmlns:a16="http://schemas.microsoft.com/office/drawing/2014/main" id="{49285B3D-D84F-6716-83B5-DE717F9F6B95}"/>
              </a:ext>
            </a:extLst>
          </p:cNvPr>
          <p:cNvSpPr txBox="1"/>
          <p:nvPr/>
        </p:nvSpPr>
        <p:spPr>
          <a:xfrm>
            <a:off x="144898" y="2927372"/>
            <a:ext cx="29440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noProof="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Constitute law (Bingham + Hooke)</a:t>
            </a:r>
            <a:endParaRPr lang="en-GB" sz="1400" baseline="-25000" noProof="0" dirty="0"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4F167F0-C94E-D6D9-F133-69F5ABE8AF8C}"/>
              </a:ext>
            </a:extLst>
          </p:cNvPr>
          <p:cNvSpPr/>
          <p:nvPr/>
        </p:nvSpPr>
        <p:spPr>
          <a:xfrm>
            <a:off x="3246135" y="4108981"/>
            <a:ext cx="18457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i="1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k(</a:t>
            </a:r>
            <a:r>
              <a:rPr lang="fr-FR" i="1" dirty="0">
                <a:latin typeface="Symbol" panose="05050102010706020507" pitchFamily="18" charset="2"/>
                <a:ea typeface="Cambria" panose="02040503050406030204" pitchFamily="18" charset="0"/>
                <a:cs typeface="Calibri Light" panose="020F0302020204030204" pitchFamily="34" charset="0"/>
              </a:rPr>
              <a:t>g </a:t>
            </a:r>
            <a:r>
              <a:rPr lang="fr-FR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-</a:t>
            </a:r>
            <a:r>
              <a:rPr lang="fr-FR" i="1" dirty="0">
                <a:latin typeface="Symbol" panose="05050102010706020507" pitchFamily="18" charset="2"/>
                <a:ea typeface="Cambria" panose="02040503050406030204" pitchFamily="18" charset="0"/>
                <a:cs typeface="Calibri Light" panose="020F0302020204030204" pitchFamily="34" charset="0"/>
              </a:rPr>
              <a:t>g</a:t>
            </a:r>
            <a:r>
              <a:rPr lang="fr-FR" i="1" baseline="-250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el</a:t>
            </a:r>
            <a:r>
              <a:rPr lang="fr-FR" i="1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)</a:t>
            </a:r>
            <a:r>
              <a:rPr lang="fr-FR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+</a:t>
            </a:r>
            <a:r>
              <a:rPr lang="fr-FR" i="1" dirty="0">
                <a:latin typeface="Symbol" panose="05050102010706020507" pitchFamily="18" charset="2"/>
                <a:ea typeface="Cambria" panose="02040503050406030204" pitchFamily="18" charset="0"/>
                <a:cs typeface="Calibri Light" panose="020F0302020204030204" pitchFamily="34" charset="0"/>
              </a:rPr>
              <a:t>t</a:t>
            </a:r>
            <a:r>
              <a:rPr lang="fr-FR" i="1" baseline="-250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0 </a:t>
            </a:r>
            <a:r>
              <a:rPr lang="fr-FR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= </a:t>
            </a:r>
            <a:r>
              <a:rPr lang="fr-FR" dirty="0" err="1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G</a:t>
            </a:r>
            <a:r>
              <a:rPr lang="fr-FR" i="1" dirty="0" err="1">
                <a:latin typeface="Symbol" panose="05050102010706020507" pitchFamily="18" charset="2"/>
                <a:ea typeface="Cambria" panose="02040503050406030204" pitchFamily="18" charset="0"/>
                <a:cs typeface="Calibri Light" panose="020F0302020204030204" pitchFamily="34" charset="0"/>
              </a:rPr>
              <a:t>g</a:t>
            </a:r>
            <a:r>
              <a:rPr lang="fr-FR" i="1" baseline="-25000" dirty="0" err="1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el</a:t>
            </a:r>
            <a:r>
              <a:rPr lang="fr-FR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 </a:t>
            </a:r>
            <a:r>
              <a:rPr lang="fr-FR" i="1" baseline="-250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 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DF476DF6-7F9D-0DC8-E6C4-8DCE92D0187E}"/>
                  </a:ext>
                </a:extLst>
              </p:cNvPr>
              <p:cNvSpPr/>
              <p:nvPr/>
            </p:nvSpPr>
            <p:spPr>
              <a:xfrm>
                <a:off x="5063139" y="4049165"/>
                <a:ext cx="1845771" cy="4916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fr-FR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fPr>
                      <m:num>
                        <m:r>
                          <a:rPr lang="fr-FR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Calibri Light" panose="020F0302020204030204" pitchFamily="34" charset="0"/>
                          </a:rPr>
                          <m:t>𝑘</m:t>
                        </m:r>
                      </m:num>
                      <m:den>
                        <m:r>
                          <a:rPr lang="fr-FR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den>
                    </m:f>
                    <m:r>
                      <a:rPr lang="fr-FR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  <a:cs typeface="Calibri Light" panose="020F0302020204030204" pitchFamily="34" charset="0"/>
                      </a:rPr>
                      <m:t> </m:t>
                    </m:r>
                  </m:oMath>
                </a14:m>
                <a:r>
                  <a:rPr lang="fr-FR" i="1" dirty="0">
                    <a:latin typeface="Calibri Light" panose="020F0302020204030204" pitchFamily="34" charset="0"/>
                    <a:ea typeface="Cambria" panose="02040503050406030204" pitchFamily="18" charset="0"/>
                    <a:cs typeface="Calibri Light" panose="020F0302020204030204" pitchFamily="34" charset="0"/>
                  </a:rPr>
                  <a:t>(</a:t>
                </a:r>
                <a:r>
                  <a:rPr lang="fr-FR" i="1" dirty="0">
                    <a:latin typeface="Symbol" panose="05050102010706020507" pitchFamily="18" charset="2"/>
                    <a:ea typeface="Cambria" panose="02040503050406030204" pitchFamily="18" charset="0"/>
                    <a:cs typeface="Calibri Light" panose="020F0302020204030204" pitchFamily="34" charset="0"/>
                  </a:rPr>
                  <a:t>g </a:t>
                </a:r>
                <a:r>
                  <a:rPr lang="fr-FR" dirty="0">
                    <a:latin typeface="Calibri Light" panose="020F0302020204030204" pitchFamily="34" charset="0"/>
                    <a:ea typeface="Cambria" panose="02040503050406030204" pitchFamily="18" charset="0"/>
                    <a:cs typeface="Calibri Light" panose="020F0302020204030204" pitchFamily="34" charset="0"/>
                  </a:rPr>
                  <a:t>-</a:t>
                </a:r>
                <a:r>
                  <a:rPr lang="fr-FR" i="1" dirty="0">
                    <a:latin typeface="Symbol" panose="05050102010706020507" pitchFamily="18" charset="2"/>
                    <a:ea typeface="Cambria" panose="02040503050406030204" pitchFamily="18" charset="0"/>
                    <a:cs typeface="Calibri Light" panose="020F0302020204030204" pitchFamily="34" charset="0"/>
                  </a:rPr>
                  <a:t>g</a:t>
                </a:r>
                <a:r>
                  <a:rPr lang="fr-FR" i="1" baseline="-25000" dirty="0">
                    <a:latin typeface="Calibri Light" panose="020F0302020204030204" pitchFamily="34" charset="0"/>
                    <a:ea typeface="Cambria" panose="02040503050406030204" pitchFamily="18" charset="0"/>
                    <a:cs typeface="Calibri Light" panose="020F0302020204030204" pitchFamily="34" charset="0"/>
                  </a:rPr>
                  <a:t>el</a:t>
                </a:r>
                <a:r>
                  <a:rPr lang="fr-FR" i="1" dirty="0">
                    <a:latin typeface="Calibri Light" panose="020F0302020204030204" pitchFamily="34" charset="0"/>
                    <a:ea typeface="Cambria" panose="02040503050406030204" pitchFamily="18" charset="0"/>
                    <a:cs typeface="Calibri Light" panose="020F0302020204030204" pitchFamily="34" charset="0"/>
                  </a:rPr>
                  <a:t>)</a:t>
                </a:r>
                <a:r>
                  <a:rPr lang="fr-FR" dirty="0">
                    <a:latin typeface="Calibri Light" panose="020F0302020204030204" pitchFamily="34" charset="0"/>
                    <a:ea typeface="Cambria" panose="02040503050406030204" pitchFamily="18" charset="0"/>
                    <a:cs typeface="Calibri Light" panose="020F0302020204030204" pitchFamily="34" charset="0"/>
                  </a:rPr>
                  <a:t>+</a:t>
                </a:r>
                <a:r>
                  <a:rPr lang="fr-FR" dirty="0">
                    <a:ea typeface="Cambria" panose="02040503050406030204" pitchFamily="18" charset="0"/>
                    <a:cs typeface="Calibri Light" panose="020F030202020403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 dirty="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 dirty="0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Calibri Light" panose="020F0302020204030204" pitchFamily="34" charset="0"/>
                              </a:rPr>
                            </m:ctrlPr>
                          </m:sSubPr>
                          <m:e>
                            <m:r>
                              <a:rPr lang="fr-FR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 Light" panose="020F0302020204030204" pitchFamily="34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fr-FR" b="0" i="1" dirty="0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Calibri Light" panose="020F0302020204030204" pitchFamily="34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fr-FR" i="1" dirty="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Calibri Light" panose="020F0302020204030204" pitchFamily="34" charset="0"/>
                          </a:rPr>
                          <m:t>𝐺</m:t>
                        </m:r>
                      </m:den>
                    </m:f>
                  </m:oMath>
                </a14:m>
                <a:r>
                  <a:rPr lang="fr-FR" i="1" baseline="-25000" dirty="0">
                    <a:latin typeface="Calibri Light" panose="020F0302020204030204" pitchFamily="34" charset="0"/>
                    <a:ea typeface="Cambria" panose="02040503050406030204" pitchFamily="18" charset="0"/>
                    <a:cs typeface="Calibri Light" panose="020F0302020204030204" pitchFamily="34" charset="0"/>
                  </a:rPr>
                  <a:t> </a:t>
                </a:r>
                <a:r>
                  <a:rPr lang="fr-FR" dirty="0">
                    <a:latin typeface="Calibri Light" panose="020F0302020204030204" pitchFamily="34" charset="0"/>
                    <a:ea typeface="Cambria" panose="02040503050406030204" pitchFamily="18" charset="0"/>
                    <a:cs typeface="Calibri Light" panose="020F0302020204030204" pitchFamily="34" charset="0"/>
                  </a:rPr>
                  <a:t>= </a:t>
                </a:r>
                <a:r>
                  <a:rPr lang="fr-FR" i="1" dirty="0">
                    <a:latin typeface="Symbol" panose="05050102010706020507" pitchFamily="18" charset="2"/>
                    <a:ea typeface="Cambria" panose="02040503050406030204" pitchFamily="18" charset="0"/>
                    <a:cs typeface="Calibri Light" panose="020F0302020204030204" pitchFamily="34" charset="0"/>
                  </a:rPr>
                  <a:t>g</a:t>
                </a:r>
                <a:r>
                  <a:rPr lang="fr-FR" i="1" baseline="-25000" dirty="0">
                    <a:latin typeface="Calibri Light" panose="020F0302020204030204" pitchFamily="34" charset="0"/>
                    <a:ea typeface="Cambria" panose="02040503050406030204" pitchFamily="18" charset="0"/>
                    <a:cs typeface="Calibri Light" panose="020F0302020204030204" pitchFamily="34" charset="0"/>
                  </a:rPr>
                  <a:t>el</a:t>
                </a:r>
                <a:r>
                  <a:rPr lang="fr-FR" dirty="0">
                    <a:latin typeface="Calibri Light" panose="020F0302020204030204" pitchFamily="34" charset="0"/>
                    <a:ea typeface="Cambria" panose="02040503050406030204" pitchFamily="18" charset="0"/>
                    <a:cs typeface="Calibri Light" panose="020F0302020204030204" pitchFamily="34" charset="0"/>
                  </a:rPr>
                  <a:t> </a:t>
                </a:r>
                <a:r>
                  <a:rPr lang="fr-FR" i="1" baseline="-25000" dirty="0">
                    <a:latin typeface="Calibri Light" panose="020F0302020204030204" pitchFamily="34" charset="0"/>
                    <a:ea typeface="Cambria" panose="02040503050406030204" pitchFamily="18" charset="0"/>
                    <a:cs typeface="Calibri Light" panose="020F0302020204030204" pitchFamily="34" charset="0"/>
                  </a:rPr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DF476DF6-7F9D-0DC8-E6C4-8DCE92D018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3139" y="4049165"/>
                <a:ext cx="1845771" cy="491609"/>
              </a:xfrm>
              <a:prstGeom prst="rect">
                <a:avLst/>
              </a:prstGeom>
              <a:blipFill>
                <a:blip r:embed="rId5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8" name="Connecteur droit avec flèche 207">
            <a:extLst>
              <a:ext uri="{FF2B5EF4-FFF2-40B4-BE49-F238E27FC236}">
                <a16:creationId xmlns:a16="http://schemas.microsoft.com/office/drawing/2014/main" id="{9D30E6BB-0478-DA52-4520-3EC9C0F614A9}"/>
              </a:ext>
            </a:extLst>
          </p:cNvPr>
          <p:cNvCxnSpPr>
            <a:cxnSpLocks/>
          </p:cNvCxnSpPr>
          <p:nvPr/>
        </p:nvCxnSpPr>
        <p:spPr>
          <a:xfrm>
            <a:off x="5304044" y="4552640"/>
            <a:ext cx="0" cy="282477"/>
          </a:xfrm>
          <a:prstGeom prst="straightConnector1">
            <a:avLst/>
          </a:prstGeom>
          <a:ln w="31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2" name="ZoneTexte 211">
            <a:extLst>
              <a:ext uri="{FF2B5EF4-FFF2-40B4-BE49-F238E27FC236}">
                <a16:creationId xmlns:a16="http://schemas.microsoft.com/office/drawing/2014/main" id="{BD386055-D609-369E-821B-EF4504E4A2A5}"/>
              </a:ext>
            </a:extLst>
          </p:cNvPr>
          <p:cNvSpPr txBox="1"/>
          <p:nvPr/>
        </p:nvSpPr>
        <p:spPr>
          <a:xfrm>
            <a:off x="5063139" y="4804637"/>
            <a:ext cx="4547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>
                <a:latin typeface="Symbol" panose="05050102010706020507" pitchFamily="18" charset="2"/>
                <a:ea typeface="Cambria" panose="02040503050406030204" pitchFamily="18" charset="0"/>
                <a:cs typeface="Calibri Light" panose="020F0302020204030204" pitchFamily="34" charset="0"/>
              </a:rPr>
              <a:t>l</a:t>
            </a:r>
            <a:endParaRPr lang="fr-FR" sz="1600" i="1" baseline="-25000" dirty="0">
              <a:latin typeface="Symbol" panose="05050102010706020507" pitchFamily="18" charset="2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cxnSp>
        <p:nvCxnSpPr>
          <p:cNvPr id="213" name="Connecteur droit avec flèche 212">
            <a:extLst>
              <a:ext uri="{FF2B5EF4-FFF2-40B4-BE49-F238E27FC236}">
                <a16:creationId xmlns:a16="http://schemas.microsoft.com/office/drawing/2014/main" id="{42A1D284-3F10-D753-F978-F4BFA3E1B60D}"/>
              </a:ext>
            </a:extLst>
          </p:cNvPr>
          <p:cNvCxnSpPr>
            <a:cxnSpLocks/>
          </p:cNvCxnSpPr>
          <p:nvPr/>
        </p:nvCxnSpPr>
        <p:spPr>
          <a:xfrm>
            <a:off x="6227170" y="4558736"/>
            <a:ext cx="0" cy="282477"/>
          </a:xfrm>
          <a:prstGeom prst="straightConnector1">
            <a:avLst/>
          </a:prstGeom>
          <a:ln w="31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4" name="ZoneTexte 213">
            <a:extLst>
              <a:ext uri="{FF2B5EF4-FFF2-40B4-BE49-F238E27FC236}">
                <a16:creationId xmlns:a16="http://schemas.microsoft.com/office/drawing/2014/main" id="{8F280035-792B-A6B0-2CEC-8624CBEE95AB}"/>
              </a:ext>
            </a:extLst>
          </p:cNvPr>
          <p:cNvSpPr txBox="1"/>
          <p:nvPr/>
        </p:nvSpPr>
        <p:spPr>
          <a:xfrm>
            <a:off x="5998457" y="4780253"/>
            <a:ext cx="4547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i="1" dirty="0">
                <a:latin typeface="Symbol" panose="05050102010706020507" pitchFamily="18" charset="2"/>
                <a:ea typeface="Cambria" panose="02040503050406030204" pitchFamily="18" charset="0"/>
                <a:cs typeface="Calibri Light" panose="020F0302020204030204" pitchFamily="34" charset="0"/>
              </a:rPr>
              <a:t>g</a:t>
            </a:r>
            <a:r>
              <a:rPr lang="fr-FR" sz="1600" i="1" baseline="-250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0</a:t>
            </a:r>
            <a:endParaRPr lang="fr-FR" sz="1600" i="1" baseline="-25000" dirty="0">
              <a:latin typeface="Symbol" panose="05050102010706020507" pitchFamily="18" charset="2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sp>
        <p:nvSpPr>
          <p:cNvPr id="215" name="ZoneTexte 214">
            <a:extLst>
              <a:ext uri="{FF2B5EF4-FFF2-40B4-BE49-F238E27FC236}">
                <a16:creationId xmlns:a16="http://schemas.microsoft.com/office/drawing/2014/main" id="{1B61F740-72F5-B765-E787-46B32C51AA11}"/>
              </a:ext>
            </a:extLst>
          </p:cNvPr>
          <p:cNvSpPr txBox="1"/>
          <p:nvPr/>
        </p:nvSpPr>
        <p:spPr>
          <a:xfrm>
            <a:off x="6209542" y="4863431"/>
            <a:ext cx="1552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(</a:t>
            </a:r>
            <a:r>
              <a:rPr lang="en-GB" sz="1200" noProof="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critical deformation</a:t>
            </a:r>
            <a:r>
              <a:rPr lang="fr-FR" sz="12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)</a:t>
            </a:r>
            <a:endParaRPr lang="fr-FR" sz="1200" baseline="-25000" dirty="0"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sp>
        <p:nvSpPr>
          <p:cNvPr id="216" name="ZoneTexte 215">
            <a:extLst>
              <a:ext uri="{FF2B5EF4-FFF2-40B4-BE49-F238E27FC236}">
                <a16:creationId xmlns:a16="http://schemas.microsoft.com/office/drawing/2014/main" id="{C7E7B8E1-60FC-E2CA-D12C-F772CF6E6186}"/>
              </a:ext>
            </a:extLst>
          </p:cNvPr>
          <p:cNvSpPr txBox="1"/>
          <p:nvPr/>
        </p:nvSpPr>
        <p:spPr>
          <a:xfrm>
            <a:off x="4633679" y="5015994"/>
            <a:ext cx="13547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(relaxation time)</a:t>
            </a:r>
            <a:endParaRPr lang="fr-FR" sz="1200" baseline="-25000" dirty="0"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CFB52FE2-7CFB-6619-AE05-E49D990F4F3C}"/>
                  </a:ext>
                </a:extLst>
              </p:cNvPr>
              <p:cNvSpPr/>
              <p:nvPr/>
            </p:nvSpPr>
            <p:spPr>
              <a:xfrm>
                <a:off x="314864" y="4849257"/>
                <a:ext cx="2225394" cy="585994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i="1" dirty="0">
                    <a:latin typeface="Symbol" panose="05050102010706020507" pitchFamily="18" charset="2"/>
                    <a:ea typeface="Cambria" panose="02040503050406030204" pitchFamily="18" charset="0"/>
                    <a:cs typeface="Calibri Light" panose="020F0302020204030204" pitchFamily="34" charset="0"/>
                  </a:rPr>
                  <a:t>g</a:t>
                </a:r>
                <a:r>
                  <a:rPr lang="fr-FR" i="1" baseline="-25000" dirty="0">
                    <a:latin typeface="Calibri Light" panose="020F0302020204030204" pitchFamily="34" charset="0"/>
                    <a:ea typeface="Cambria" panose="02040503050406030204" pitchFamily="18" charset="0"/>
                    <a:cs typeface="Calibri Light" panose="020F0302020204030204" pitchFamily="34" charset="0"/>
                  </a:rPr>
                  <a:t>el </a:t>
                </a:r>
                <a:r>
                  <a:rPr lang="fr-FR" dirty="0">
                    <a:latin typeface="Calibri Light" panose="020F0302020204030204" pitchFamily="34" charset="0"/>
                    <a:ea typeface="Cambria" panose="02040503050406030204" pitchFamily="18" charset="0"/>
                    <a:cs typeface="Calibri Light" panose="020F0302020204030204" pitchFamily="34" charset="0"/>
                  </a:rPr>
                  <a:t>= </a:t>
                </a:r>
                <a:r>
                  <a:rPr lang="fr-FR" i="1" dirty="0">
                    <a:latin typeface="Symbol" panose="05050102010706020507" pitchFamily="18" charset="2"/>
                    <a:ea typeface="Cambria" panose="02040503050406030204" pitchFamily="18" charset="0"/>
                    <a:cs typeface="Calibri Light" panose="020F0302020204030204" pitchFamily="34" charset="0"/>
                  </a:rPr>
                  <a:t>g </a:t>
                </a:r>
                <a:r>
                  <a:rPr lang="fr-FR" dirty="0">
                    <a:latin typeface="Calibri Light" panose="020F0302020204030204" pitchFamily="34" charset="0"/>
                    <a:ea typeface="Cambria" panose="02040503050406030204" pitchFamily="18" charset="0"/>
                    <a:cs typeface="Calibri Light" panose="020F0302020204030204" pitchFamily="34" charset="0"/>
                  </a:rPr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 dirty="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fPr>
                      <m:num>
                        <m:r>
                          <a:rPr lang="fr-FR" b="0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Calibri Light" panose="020F0302020204030204" pitchFamily="34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i="1" dirty="0">
                            <a:latin typeface="Symbol" panose="05050102010706020507" pitchFamily="18" charset="2"/>
                            <a:ea typeface="Cambria" panose="02040503050406030204" pitchFamily="18" charset="0"/>
                            <a:cs typeface="Calibri Light" panose="020F0302020204030204" pitchFamily="34" charset="0"/>
                          </a:rPr>
                          <m:t>l</m:t>
                        </m:r>
                        <m:r>
                          <m:rPr>
                            <m:nor/>
                          </m:rPr>
                          <a:rPr lang="fr-FR" i="1" baseline="-25000" dirty="0">
                            <a:latin typeface="Symbol" panose="05050102010706020507" pitchFamily="18" charset="2"/>
                            <a:ea typeface="Cambria" panose="02040503050406030204" pitchFamily="18" charset="0"/>
                            <a:cs typeface="Calibri Light" panose="020F0302020204030204" pitchFamily="34" charset="0"/>
                          </a:rPr>
                          <m:t> </m:t>
                        </m:r>
                      </m:den>
                    </m:f>
                    <m:d>
                      <m:dPr>
                        <m:ctrlPr>
                          <a:rPr lang="fr-FR" i="1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FR" i="1" dirty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Calibri Light" panose="020F0302020204030204" pitchFamily="34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fr-FR" b="0" i="1" dirty="0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Calibri Light" panose="020F03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fr-FR" i="1" dirty="0">
                                    <a:latin typeface="Symbol" panose="05050102010706020507" pitchFamily="18" charset="2"/>
                                    <a:ea typeface="Cambria" panose="02040503050406030204" pitchFamily="18" charset="0"/>
                                    <a:cs typeface="Calibri Light" panose="020F0302020204030204" pitchFamily="34" charset="0"/>
                                  </a:rPr>
                                  <m:t>g</m:t>
                                </m:r>
                                <m:r>
                                  <m:rPr>
                                    <m:nor/>
                                  </m:rPr>
                                  <a:rPr lang="fr-FR" i="1" baseline="-25000" dirty="0">
                                    <a:latin typeface="Calibri Light" panose="020F0302020204030204" pitchFamily="34" charset="0"/>
                                    <a:ea typeface="Cambria" panose="02040503050406030204" pitchFamily="18" charset="0"/>
                                    <a:cs typeface="Calibri Light" panose="020F0302020204030204" pitchFamily="34" charset="0"/>
                                  </a:rPr>
                                  <m:t>el</m:t>
                                </m:r>
                              </m:e>
                            </m:d>
                            <m:r>
                              <a:rPr lang="fr-FR" b="0" i="1" dirty="0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Calibri Light" panose="020F030202020403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fr-FR" i="1" dirty="0">
                                <a:latin typeface="Symbol" panose="05050102010706020507" pitchFamily="18" charset="2"/>
                                <a:ea typeface="Cambria" panose="02040503050406030204" pitchFamily="18" charset="0"/>
                                <a:cs typeface="Calibri Light" panose="020F0302020204030204" pitchFamily="34" charset="0"/>
                              </a:rPr>
                              <m:t>g</m:t>
                            </m:r>
                            <m:r>
                              <m:rPr>
                                <m:nor/>
                              </m:rPr>
                              <a:rPr lang="fr-FR" b="0" i="1" baseline="-25000" dirty="0" smtClean="0">
                                <a:latin typeface="Calibri Light" panose="020F0302020204030204" pitchFamily="34" charset="0"/>
                                <a:ea typeface="Cambria" panose="02040503050406030204" pitchFamily="18" charset="0"/>
                                <a:cs typeface="Calibri Light" panose="020F0302020204030204" pitchFamily="34" charset="0"/>
                              </a:rPr>
                              <m:t>0</m:t>
                            </m:r>
                          </m:num>
                          <m:den>
                            <m:r>
                              <a:rPr lang="fr-FR" b="0" i="1" dirty="0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Calibri Light" panose="020F0302020204030204" pitchFamily="34" charset="0"/>
                              </a:rPr>
                              <m:t>|</m:t>
                            </m:r>
                            <m:r>
                              <m:rPr>
                                <m:nor/>
                              </m:rPr>
                              <a:rPr lang="fr-FR" i="1" dirty="0">
                                <a:latin typeface="Symbol" panose="05050102010706020507" pitchFamily="18" charset="2"/>
                                <a:ea typeface="Cambria" panose="02040503050406030204" pitchFamily="18" charset="0"/>
                                <a:cs typeface="Calibri Light" panose="020F0302020204030204" pitchFamily="34" charset="0"/>
                              </a:rPr>
                              <m:t>g</m:t>
                            </m:r>
                            <m:r>
                              <m:rPr>
                                <m:nor/>
                              </m:rPr>
                              <a:rPr lang="fr-FR" i="1" baseline="-25000" dirty="0">
                                <a:latin typeface="Calibri Light" panose="020F0302020204030204" pitchFamily="34" charset="0"/>
                                <a:ea typeface="Cambria" panose="02040503050406030204" pitchFamily="18" charset="0"/>
                                <a:cs typeface="Calibri Light" panose="020F0302020204030204" pitchFamily="34" charset="0"/>
                              </a:rPr>
                              <m:t>e</m:t>
                            </m:r>
                            <m:r>
                              <a:rPr lang="fr-FR" b="0" i="1" dirty="0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Calibri Light" panose="020F0302020204030204" pitchFamily="34" charset="0"/>
                              </a:rPr>
                              <m:t>|</m:t>
                            </m:r>
                          </m:den>
                        </m:f>
                      </m:e>
                    </m:d>
                    <m:r>
                      <m:rPr>
                        <m:nor/>
                      </m:rPr>
                      <a:rPr lang="fr-FR" i="1" dirty="0">
                        <a:latin typeface="Symbol" panose="05050102010706020507" pitchFamily="18" charset="2"/>
                        <a:ea typeface="Cambria" panose="02040503050406030204" pitchFamily="18" charset="0"/>
                        <a:cs typeface="Calibri Light" panose="020F0302020204030204" pitchFamily="34" charset="0"/>
                      </a:rPr>
                      <m:t>g</m:t>
                    </m:r>
                    <m:r>
                      <m:rPr>
                        <m:nor/>
                      </m:rPr>
                      <a:rPr lang="fr-FR" i="1" baseline="-25000" dirty="0">
                        <a:latin typeface="Calibri Light" panose="020F0302020204030204" pitchFamily="34" charset="0"/>
                        <a:ea typeface="Cambria" panose="02040503050406030204" pitchFamily="18" charset="0"/>
                        <a:cs typeface="Calibri Light" panose="020F0302020204030204" pitchFamily="34" charset="0"/>
                      </a:rPr>
                      <m:t>el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5E74C5CF-EF14-430C-8571-C191D2A429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864" y="4849257"/>
                <a:ext cx="2225394" cy="5859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1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9" name="ZoneTexte 218">
            <a:extLst>
              <a:ext uri="{FF2B5EF4-FFF2-40B4-BE49-F238E27FC236}">
                <a16:creationId xmlns:a16="http://schemas.microsoft.com/office/drawing/2014/main" id="{8F2D0018-BCF8-1485-364D-44AE6D0B5221}"/>
              </a:ext>
            </a:extLst>
          </p:cNvPr>
          <p:cNvSpPr txBox="1"/>
          <p:nvPr/>
        </p:nvSpPr>
        <p:spPr>
          <a:xfrm>
            <a:off x="-80986" y="5649014"/>
            <a:ext cx="3343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noProof="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If the material does not flow</a:t>
            </a:r>
            <a:r>
              <a:rPr lang="fr-FR" sz="14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: </a:t>
            </a:r>
            <a:r>
              <a:rPr lang="fr-FR" sz="1400" i="1" dirty="0">
                <a:latin typeface="Symbol" panose="05050102010706020507" pitchFamily="18" charset="2"/>
                <a:ea typeface="Cambria" panose="02040503050406030204" pitchFamily="18" charset="0"/>
                <a:cs typeface="Calibri Light" panose="020F0302020204030204" pitchFamily="34" charset="0"/>
              </a:rPr>
              <a:t>g</a:t>
            </a:r>
            <a:r>
              <a:rPr lang="fr-FR" sz="1400" i="1" baseline="-250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el</a:t>
            </a:r>
            <a:r>
              <a:rPr lang="fr-FR" sz="14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 = </a:t>
            </a:r>
            <a:r>
              <a:rPr lang="fr-FR" sz="1400" i="1" dirty="0">
                <a:latin typeface="Symbol" panose="05050102010706020507" pitchFamily="18" charset="2"/>
                <a:ea typeface="Cambria" panose="02040503050406030204" pitchFamily="18" charset="0"/>
                <a:cs typeface="Calibri Light" panose="020F0302020204030204" pitchFamily="34" charset="0"/>
              </a:rPr>
              <a:t>g</a:t>
            </a:r>
            <a:endParaRPr lang="fr-FR" sz="1400" baseline="-25000" dirty="0"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sp>
        <p:nvSpPr>
          <p:cNvPr id="222" name="ZoneTexte 221">
            <a:extLst>
              <a:ext uri="{FF2B5EF4-FFF2-40B4-BE49-F238E27FC236}">
                <a16:creationId xmlns:a16="http://schemas.microsoft.com/office/drawing/2014/main" id="{F227AB59-6AFD-A1D4-AFC1-08BDFD610C54}"/>
              </a:ext>
            </a:extLst>
          </p:cNvPr>
          <p:cNvSpPr txBox="1"/>
          <p:nvPr/>
        </p:nvSpPr>
        <p:spPr>
          <a:xfrm>
            <a:off x="10669" y="6232226"/>
            <a:ext cx="3005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noProof="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Thus, we write the general equation: </a:t>
            </a:r>
            <a:endParaRPr lang="en-GB" sz="1400" baseline="-25000" noProof="0" dirty="0"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71F1278E-B4A3-658F-FE64-447F38FABE45}"/>
                  </a:ext>
                </a:extLst>
              </p:cNvPr>
              <p:cNvSpPr/>
              <p:nvPr/>
            </p:nvSpPr>
            <p:spPr>
              <a:xfrm>
                <a:off x="2866179" y="6091240"/>
                <a:ext cx="2812764" cy="585994"/>
              </a:xfrm>
              <a:prstGeom prst="rect">
                <a:avLst/>
              </a:prstGeom>
              <a:ln w="31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i="1" dirty="0">
                    <a:solidFill>
                      <a:srgbClr val="FF0000"/>
                    </a:solidFill>
                    <a:latin typeface="Symbol" panose="05050102010706020507" pitchFamily="18" charset="2"/>
                    <a:ea typeface="Cambria" panose="02040503050406030204" pitchFamily="18" charset="0"/>
                    <a:cs typeface="Calibri Light" panose="020F0302020204030204" pitchFamily="34" charset="0"/>
                  </a:rPr>
                  <a:t>g</a:t>
                </a:r>
                <a:r>
                  <a:rPr lang="fr-FR" i="1" baseline="-25000" dirty="0">
                    <a:solidFill>
                      <a:srgbClr val="FF0000"/>
                    </a:solidFill>
                    <a:latin typeface="Calibri Light" panose="020F0302020204030204" pitchFamily="34" charset="0"/>
                    <a:ea typeface="Cambria" panose="02040503050406030204" pitchFamily="18" charset="0"/>
                    <a:cs typeface="Calibri Light" panose="020F0302020204030204" pitchFamily="34" charset="0"/>
                  </a:rPr>
                  <a:t>el </a:t>
                </a:r>
                <a:r>
                  <a:rPr lang="fr-FR" dirty="0">
                    <a:solidFill>
                      <a:srgbClr val="FF0000"/>
                    </a:solidFill>
                    <a:latin typeface="Calibri Light" panose="020F0302020204030204" pitchFamily="34" charset="0"/>
                    <a:ea typeface="Cambria" panose="02040503050406030204" pitchFamily="18" charset="0"/>
                    <a:cs typeface="Calibri Light" panose="020F0302020204030204" pitchFamily="34" charset="0"/>
                  </a:rPr>
                  <a:t>= </a:t>
                </a:r>
                <a:r>
                  <a:rPr lang="fr-FR" i="1" dirty="0">
                    <a:solidFill>
                      <a:srgbClr val="FF0000"/>
                    </a:solidFill>
                    <a:latin typeface="Symbol" panose="05050102010706020507" pitchFamily="18" charset="2"/>
                    <a:ea typeface="Cambria" panose="02040503050406030204" pitchFamily="18" charset="0"/>
                    <a:cs typeface="Calibri Light" panose="020F0302020204030204" pitchFamily="34" charset="0"/>
                  </a:rPr>
                  <a:t>g </a:t>
                </a:r>
                <a:r>
                  <a:rPr lang="fr-FR" dirty="0">
                    <a:solidFill>
                      <a:srgbClr val="FF0000"/>
                    </a:solidFill>
                    <a:latin typeface="Calibri Light" panose="020F0302020204030204" pitchFamily="34" charset="0"/>
                    <a:ea typeface="Cambria" panose="02040503050406030204" pitchFamily="18" charset="0"/>
                    <a:cs typeface="Calibri Light" panose="020F0302020204030204" pitchFamily="34" charset="0"/>
                  </a:rPr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fPr>
                      <m:num>
                        <m:r>
                          <a:rPr lang="fr-FR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Calibri Light" panose="020F0302020204030204" pitchFamily="34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i="1" dirty="0">
                            <a:solidFill>
                              <a:srgbClr val="FF0000"/>
                            </a:solidFill>
                            <a:latin typeface="Symbol" panose="05050102010706020507" pitchFamily="18" charset="2"/>
                            <a:ea typeface="Cambria" panose="02040503050406030204" pitchFamily="18" charset="0"/>
                            <a:cs typeface="Calibri Light" panose="020F0302020204030204" pitchFamily="34" charset="0"/>
                          </a:rPr>
                          <m:t>l</m:t>
                        </m:r>
                        <m:r>
                          <m:rPr>
                            <m:nor/>
                          </m:rPr>
                          <a:rPr lang="fr-FR" i="1" baseline="-25000" dirty="0">
                            <a:solidFill>
                              <a:srgbClr val="FF0000"/>
                            </a:solidFill>
                            <a:latin typeface="Symbol" panose="05050102010706020507" pitchFamily="18" charset="2"/>
                            <a:ea typeface="Cambria" panose="02040503050406030204" pitchFamily="18" charset="0"/>
                            <a:cs typeface="Calibri Light" panose="020F0302020204030204" pitchFamily="34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fr-FR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Calibri Light" panose="020F0302020204030204" pitchFamily="34" charset="0"/>
                      </a:rPr>
                      <m:t>Max</m:t>
                    </m:r>
                    <m:d>
                      <m:dPr>
                        <m:ctrlPr>
                          <a:rPr lang="fr-FR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dPr>
                      <m:e>
                        <m:r>
                          <a:rPr lang="fr-FR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Calibri Light" panose="020F0302020204030204" pitchFamily="34" charset="0"/>
                          </a:rPr>
                          <m:t>0,</m:t>
                        </m:r>
                        <m:f>
                          <m:fPr>
                            <m:ctrlPr>
                              <a:rPr lang="fr-FR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Calibri Light" panose="020F0302020204030204" pitchFamily="34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fr-FR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Calibri Light" panose="020F03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fr-FR" i="1" dirty="0">
                                    <a:solidFill>
                                      <a:srgbClr val="FF0000"/>
                                    </a:solidFill>
                                    <a:latin typeface="Symbol" panose="05050102010706020507" pitchFamily="18" charset="2"/>
                                    <a:ea typeface="Cambria" panose="02040503050406030204" pitchFamily="18" charset="0"/>
                                    <a:cs typeface="Calibri Light" panose="020F0302020204030204" pitchFamily="34" charset="0"/>
                                  </a:rPr>
                                  <m:t>g</m:t>
                                </m:r>
                                <m:r>
                                  <m:rPr>
                                    <m:nor/>
                                  </m:rPr>
                                  <a:rPr lang="fr-FR" i="1" baseline="-25000" dirty="0">
                                    <a:solidFill>
                                      <a:srgbClr val="FF0000"/>
                                    </a:solidFill>
                                    <a:latin typeface="Calibri Light" panose="020F0302020204030204" pitchFamily="34" charset="0"/>
                                    <a:ea typeface="Cambria" panose="02040503050406030204" pitchFamily="18" charset="0"/>
                                    <a:cs typeface="Calibri Light" panose="020F0302020204030204" pitchFamily="34" charset="0"/>
                                  </a:rPr>
                                  <m:t>el</m:t>
                                </m:r>
                              </m:e>
                            </m:d>
                            <m:r>
                              <a:rPr lang="fr-FR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Calibri Light" panose="020F0302020204030204" pitchFamily="34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fr-FR" i="1" dirty="0">
                                <a:solidFill>
                                  <a:srgbClr val="FF0000"/>
                                </a:solidFill>
                                <a:latin typeface="Symbol" panose="05050102010706020507" pitchFamily="18" charset="2"/>
                                <a:ea typeface="Cambria" panose="02040503050406030204" pitchFamily="18" charset="0"/>
                                <a:cs typeface="Calibri Light" panose="020F0302020204030204" pitchFamily="34" charset="0"/>
                              </a:rPr>
                              <m:t>g</m:t>
                            </m:r>
                            <m:r>
                              <m:rPr>
                                <m:nor/>
                              </m:rPr>
                              <a:rPr lang="fr-FR" b="0" i="1" baseline="-25000" dirty="0" smtClean="0">
                                <a:solidFill>
                                  <a:srgbClr val="FF0000"/>
                                </a:solidFill>
                                <a:latin typeface="Calibri Light" panose="020F0302020204030204" pitchFamily="34" charset="0"/>
                                <a:ea typeface="Cambria" panose="02040503050406030204" pitchFamily="18" charset="0"/>
                                <a:cs typeface="Calibri Light" panose="020F0302020204030204" pitchFamily="34" charset="0"/>
                              </a:rPr>
                              <m:t>0</m:t>
                            </m:r>
                          </m:num>
                          <m:den>
                            <m:r>
                              <a:rPr lang="fr-FR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Calibri Light" panose="020F0302020204030204" pitchFamily="34" charset="0"/>
                              </a:rPr>
                              <m:t>|</m:t>
                            </m:r>
                            <m:r>
                              <m:rPr>
                                <m:nor/>
                              </m:rPr>
                              <a:rPr lang="fr-FR" i="1" dirty="0">
                                <a:solidFill>
                                  <a:srgbClr val="FF0000"/>
                                </a:solidFill>
                                <a:latin typeface="Symbol" panose="05050102010706020507" pitchFamily="18" charset="2"/>
                                <a:ea typeface="Cambria" panose="02040503050406030204" pitchFamily="18" charset="0"/>
                                <a:cs typeface="Calibri Light" panose="020F0302020204030204" pitchFamily="34" charset="0"/>
                              </a:rPr>
                              <m:t>g</m:t>
                            </m:r>
                            <m:r>
                              <m:rPr>
                                <m:nor/>
                              </m:rPr>
                              <a:rPr lang="fr-FR" i="1" baseline="-25000" dirty="0">
                                <a:solidFill>
                                  <a:srgbClr val="FF0000"/>
                                </a:solidFill>
                                <a:latin typeface="Calibri Light" panose="020F0302020204030204" pitchFamily="34" charset="0"/>
                                <a:ea typeface="Cambria" panose="02040503050406030204" pitchFamily="18" charset="0"/>
                                <a:cs typeface="Calibri Light" panose="020F0302020204030204" pitchFamily="34" charset="0"/>
                              </a:rPr>
                              <m:t>e</m:t>
                            </m:r>
                            <m:r>
                              <m:rPr>
                                <m:nor/>
                              </m:rPr>
                              <a:rPr lang="fr-FR" b="0" i="1" baseline="-25000" dirty="0" smtClean="0">
                                <a:solidFill>
                                  <a:srgbClr val="FF0000"/>
                                </a:solidFill>
                                <a:latin typeface="Calibri Light" panose="020F0302020204030204" pitchFamily="34" charset="0"/>
                                <a:ea typeface="Cambria" panose="02040503050406030204" pitchFamily="18" charset="0"/>
                                <a:cs typeface="Calibri Light" panose="020F0302020204030204" pitchFamily="34" charset="0"/>
                              </a:rPr>
                              <m:t>l</m:t>
                            </m:r>
                            <m:r>
                              <a:rPr lang="fr-FR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Calibri Light" panose="020F0302020204030204" pitchFamily="34" charset="0"/>
                              </a:rPr>
                              <m:t>|</m:t>
                            </m:r>
                          </m:den>
                        </m:f>
                      </m:e>
                    </m:d>
                    <m:r>
                      <m:rPr>
                        <m:nor/>
                      </m:rPr>
                      <a:rPr lang="fr-FR" i="1" dirty="0">
                        <a:solidFill>
                          <a:srgbClr val="FF0000"/>
                        </a:solidFill>
                        <a:latin typeface="Symbol" panose="05050102010706020507" pitchFamily="18" charset="2"/>
                        <a:ea typeface="Cambria" panose="02040503050406030204" pitchFamily="18" charset="0"/>
                        <a:cs typeface="Calibri Light" panose="020F0302020204030204" pitchFamily="34" charset="0"/>
                      </a:rPr>
                      <m:t>g</m:t>
                    </m:r>
                    <m:r>
                      <m:rPr>
                        <m:nor/>
                      </m:rPr>
                      <a:rPr lang="fr-FR" i="1" baseline="-25000" dirty="0">
                        <a:solidFill>
                          <a:srgbClr val="FF0000"/>
                        </a:solidFill>
                        <a:latin typeface="Calibri Light" panose="020F0302020204030204" pitchFamily="34" charset="0"/>
                        <a:ea typeface="Cambria" panose="02040503050406030204" pitchFamily="18" charset="0"/>
                        <a:cs typeface="Calibri Light" panose="020F0302020204030204" pitchFamily="34" charset="0"/>
                      </a:rPr>
                      <m:t>el</m:t>
                    </m:r>
                  </m:oMath>
                </a14:m>
                <a:endParaRPr lang="fr-F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6A0A50C9-666F-474B-AF91-733AF4E76B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179" y="6091240"/>
                <a:ext cx="2812764" cy="585994"/>
              </a:xfrm>
              <a:prstGeom prst="rect">
                <a:avLst/>
              </a:prstGeom>
              <a:blipFill>
                <a:blip r:embed="rId7"/>
                <a:stretch>
                  <a:fillRect l="-1080"/>
                </a:stretch>
              </a:blipFill>
              <a:ln w="31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4" name="Ellipse 223">
            <a:extLst>
              <a:ext uri="{FF2B5EF4-FFF2-40B4-BE49-F238E27FC236}">
                <a16:creationId xmlns:a16="http://schemas.microsoft.com/office/drawing/2014/main" id="{A903A8F3-41F1-2DD2-84C8-D6C35837BF1F}"/>
              </a:ext>
            </a:extLst>
          </p:cNvPr>
          <p:cNvSpPr/>
          <p:nvPr/>
        </p:nvSpPr>
        <p:spPr>
          <a:xfrm>
            <a:off x="3032517" y="6254860"/>
            <a:ext cx="45719" cy="45719"/>
          </a:xfrm>
          <a:prstGeom prst="ellipse">
            <a:avLst/>
          </a:prstGeom>
          <a:solidFill>
            <a:srgbClr val="FF0000"/>
          </a:solidFill>
          <a:ln w="317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sp>
        <p:nvSpPr>
          <p:cNvPr id="225" name="ZoneTexte 224">
            <a:extLst>
              <a:ext uri="{FF2B5EF4-FFF2-40B4-BE49-F238E27FC236}">
                <a16:creationId xmlns:a16="http://schemas.microsoft.com/office/drawing/2014/main" id="{ED3AB01A-A477-078D-9E8C-7BD24EADEC5D}"/>
              </a:ext>
            </a:extLst>
          </p:cNvPr>
          <p:cNvSpPr txBox="1"/>
          <p:nvPr/>
        </p:nvSpPr>
        <p:spPr>
          <a:xfrm>
            <a:off x="1838682" y="1141712"/>
            <a:ext cx="523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rgbClr val="FF0000"/>
                </a:solidFill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(1)</a:t>
            </a:r>
            <a:endParaRPr lang="fr-FR" sz="1400" baseline="-25000" dirty="0">
              <a:solidFill>
                <a:srgbClr val="FF0000"/>
              </a:solidFill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sp>
        <p:nvSpPr>
          <p:cNvPr id="226" name="ZoneTexte 225">
            <a:extLst>
              <a:ext uri="{FF2B5EF4-FFF2-40B4-BE49-F238E27FC236}">
                <a16:creationId xmlns:a16="http://schemas.microsoft.com/office/drawing/2014/main" id="{D9EBC399-3415-6957-F9A6-6BD65771CC03}"/>
              </a:ext>
            </a:extLst>
          </p:cNvPr>
          <p:cNvSpPr txBox="1"/>
          <p:nvPr/>
        </p:nvSpPr>
        <p:spPr>
          <a:xfrm>
            <a:off x="3573929" y="2246278"/>
            <a:ext cx="523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rgbClr val="FF0000"/>
                </a:solidFill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(2)</a:t>
            </a:r>
            <a:endParaRPr lang="fr-FR" sz="1400" baseline="-25000" dirty="0">
              <a:solidFill>
                <a:srgbClr val="FF0000"/>
              </a:solidFill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sp>
        <p:nvSpPr>
          <p:cNvPr id="228" name="ZoneTexte 227">
            <a:extLst>
              <a:ext uri="{FF2B5EF4-FFF2-40B4-BE49-F238E27FC236}">
                <a16:creationId xmlns:a16="http://schemas.microsoft.com/office/drawing/2014/main" id="{80B23686-6598-EF5F-24E6-72CC116C1955}"/>
              </a:ext>
            </a:extLst>
          </p:cNvPr>
          <p:cNvSpPr txBox="1"/>
          <p:nvPr/>
        </p:nvSpPr>
        <p:spPr>
          <a:xfrm>
            <a:off x="3174613" y="4996668"/>
            <a:ext cx="523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(4)</a:t>
            </a:r>
            <a:endParaRPr lang="fr-FR" sz="1400" baseline="-25000" dirty="0"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sp>
        <p:nvSpPr>
          <p:cNvPr id="229" name="ZoneTexte 228">
            <a:extLst>
              <a:ext uri="{FF2B5EF4-FFF2-40B4-BE49-F238E27FC236}">
                <a16:creationId xmlns:a16="http://schemas.microsoft.com/office/drawing/2014/main" id="{A8051983-EBA9-342F-2B5C-B705C3BB65CC}"/>
              </a:ext>
            </a:extLst>
          </p:cNvPr>
          <p:cNvSpPr txBox="1"/>
          <p:nvPr/>
        </p:nvSpPr>
        <p:spPr>
          <a:xfrm>
            <a:off x="2963220" y="5646232"/>
            <a:ext cx="523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(5)</a:t>
            </a:r>
            <a:endParaRPr lang="fr-FR" sz="1400" baseline="-25000" dirty="0"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sp>
        <p:nvSpPr>
          <p:cNvPr id="230" name="ZoneTexte 229">
            <a:extLst>
              <a:ext uri="{FF2B5EF4-FFF2-40B4-BE49-F238E27FC236}">
                <a16:creationId xmlns:a16="http://schemas.microsoft.com/office/drawing/2014/main" id="{2032A940-8DBB-66A7-8360-9D9976E7119B}"/>
              </a:ext>
            </a:extLst>
          </p:cNvPr>
          <p:cNvSpPr txBox="1"/>
          <p:nvPr/>
        </p:nvSpPr>
        <p:spPr>
          <a:xfrm>
            <a:off x="5685369" y="6222584"/>
            <a:ext cx="523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rgbClr val="FF0000"/>
                </a:solidFill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(6)</a:t>
            </a:r>
            <a:endParaRPr lang="fr-FR" sz="1400" baseline="-25000" dirty="0">
              <a:solidFill>
                <a:srgbClr val="FF0000"/>
              </a:solidFill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ZoneTexte 230">
                <a:extLst>
                  <a:ext uri="{FF2B5EF4-FFF2-40B4-BE49-F238E27FC236}">
                    <a16:creationId xmlns:a16="http://schemas.microsoft.com/office/drawing/2014/main" id="{5093703E-BE3C-149B-A5F9-91ADD1F4F1B0}"/>
                  </a:ext>
                </a:extLst>
              </p:cNvPr>
              <p:cNvSpPr txBox="1"/>
              <p:nvPr/>
            </p:nvSpPr>
            <p:spPr>
              <a:xfrm>
                <a:off x="8962374" y="2152822"/>
                <a:ext cx="1515334" cy="554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600" i="1" dirty="0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fPr>
                        <m:num>
                          <m:r>
                            <a:rPr lang="fr-FR" sz="1600" b="0" i="1" dirty="0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libri Light" panose="020F0302020204030204" pitchFamily="34" charset="0"/>
                            </a:rPr>
                            <m:t>4</m:t>
                          </m:r>
                        </m:num>
                        <m:den>
                          <m:r>
                            <a:rPr lang="fr-FR" sz="1600" b="0" i="1" dirty="0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Calibri Light" panose="020F0302020204030204" pitchFamily="34" charset="0"/>
                            </a:rPr>
                            <m:t>3</m:t>
                          </m:r>
                        </m:den>
                      </m:f>
                      <m:r>
                        <a:rPr lang="fr-FR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𝜋</m:t>
                      </m:r>
                      <m:sSubSup>
                        <m:sSubSupPr>
                          <m:ctrlPr>
                            <a:rPr lang="fr-F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sSubSupPr>
                        <m:e>
                          <m:r>
                            <a:rPr lang="fr-F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fr-F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0</m:t>
                          </m:r>
                        </m:sub>
                        <m:sup>
                          <m:r>
                            <a:rPr lang="fr-F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3</m:t>
                          </m:r>
                        </m:sup>
                      </m:sSubSup>
                      <m:r>
                        <a:rPr lang="fr-FR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=</m:t>
                      </m:r>
                      <m:r>
                        <a:rPr lang="fr-FR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𝜋</m:t>
                      </m:r>
                      <m:sSup>
                        <m:sSupPr>
                          <m:ctrlPr>
                            <a:rPr lang="fr-FR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sSupPr>
                        <m:e>
                          <m:r>
                            <a:rPr lang="fr-F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𝑅</m:t>
                          </m:r>
                        </m:e>
                        <m:sup>
                          <m:r>
                            <a:rPr lang="fr-F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2</m:t>
                          </m:r>
                        </m:sup>
                      </m:sSup>
                      <m:r>
                        <a:rPr lang="fr-FR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h</m:t>
                      </m:r>
                    </m:oMath>
                  </m:oMathPara>
                </a14:m>
                <a:endParaRPr lang="fr-FR" sz="1600" i="1" baseline="-25000" dirty="0">
                  <a:latin typeface="Calibri Light" panose="020F0302020204030204" pitchFamily="34" charset="0"/>
                  <a:ea typeface="Cambria" panose="02040503050406030204" pitchFamily="18" charset="0"/>
                  <a:cs typeface="Calibri Light" panose="020F0302020204030204" pitchFamily="34" charset="0"/>
                </a:endParaRPr>
              </a:p>
            </p:txBody>
          </p:sp>
        </mc:Choice>
        <mc:Fallback xmlns="">
          <p:sp>
            <p:nvSpPr>
              <p:cNvPr id="231" name="ZoneTexte 230">
                <a:extLst>
                  <a:ext uri="{FF2B5EF4-FFF2-40B4-BE49-F238E27FC236}">
                    <a16:creationId xmlns:a16="http://schemas.microsoft.com/office/drawing/2014/main" id="{818D2AF7-1041-4072-9E9A-25BEF42D2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2374" y="2152822"/>
                <a:ext cx="1515334" cy="55406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ZoneTexte 231">
                <a:extLst>
                  <a:ext uri="{FF2B5EF4-FFF2-40B4-BE49-F238E27FC236}">
                    <a16:creationId xmlns:a16="http://schemas.microsoft.com/office/drawing/2014/main" id="{4ACCD479-B947-3D07-76CD-1147FC96D9E9}"/>
                  </a:ext>
                </a:extLst>
              </p:cNvPr>
              <p:cNvSpPr txBox="1"/>
              <p:nvPr/>
            </p:nvSpPr>
            <p:spPr>
              <a:xfrm>
                <a:off x="10574588" y="2123201"/>
                <a:ext cx="1050409" cy="59093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h</m:t>
                      </m:r>
                      <m:r>
                        <a:rPr lang="fr-FR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fr-F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fPr>
                        <m:num>
                          <m:r>
                            <a:rPr lang="fr-F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4</m:t>
                          </m:r>
                        </m:num>
                        <m:den>
                          <m:r>
                            <a:rPr lang="fr-F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3</m:t>
                          </m:r>
                        </m:den>
                      </m:f>
                      <m:f>
                        <m:fPr>
                          <m:ctrlPr>
                            <a:rPr lang="fr-F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fr-FR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 Light" panose="020F0302020204030204" pitchFamily="34" charset="0"/>
                                </a:rPr>
                              </m:ctrlPr>
                            </m:sSubSupPr>
                            <m:e>
                              <m:r>
                                <a:rPr lang="fr-FR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 Light" panose="020F030202020403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 Light" panose="020F0302020204030204" pitchFamily="34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fr-FR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 Light" panose="020F0302020204030204" pitchFamily="34" charset="0"/>
                                </a:rPr>
                                <m:t>3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fr-FR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 Light" panose="020F03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fr-FR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 Light" panose="020F0302020204030204" pitchFamily="34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fr-FR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 Light" panose="020F030202020403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sz="1600" i="1" baseline="-25000" dirty="0">
                  <a:latin typeface="Calibri Light" panose="020F0302020204030204" pitchFamily="34" charset="0"/>
                  <a:ea typeface="Cambria" panose="02040503050406030204" pitchFamily="18" charset="0"/>
                  <a:cs typeface="Calibri Light" panose="020F0302020204030204" pitchFamily="34" charset="0"/>
                </a:endParaRPr>
              </a:p>
            </p:txBody>
          </p:sp>
        </mc:Choice>
        <mc:Fallback xmlns="">
          <p:sp>
            <p:nvSpPr>
              <p:cNvPr id="232" name="ZoneTexte 231">
                <a:extLst>
                  <a:ext uri="{FF2B5EF4-FFF2-40B4-BE49-F238E27FC236}">
                    <a16:creationId xmlns:a16="http://schemas.microsoft.com/office/drawing/2014/main" id="{68F9AA8C-08E7-445E-AAF2-D90C71AA2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4588" y="2123201"/>
                <a:ext cx="1050409" cy="5909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1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3" name="ZoneTexte 232">
            <a:extLst>
              <a:ext uri="{FF2B5EF4-FFF2-40B4-BE49-F238E27FC236}">
                <a16:creationId xmlns:a16="http://schemas.microsoft.com/office/drawing/2014/main" id="{975D29F3-73F3-FB26-423A-AE05C4FD7760}"/>
              </a:ext>
            </a:extLst>
          </p:cNvPr>
          <p:cNvSpPr txBox="1"/>
          <p:nvPr/>
        </p:nvSpPr>
        <p:spPr>
          <a:xfrm>
            <a:off x="7346481" y="2188438"/>
            <a:ext cx="1138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Volume conservation</a:t>
            </a:r>
            <a:endParaRPr lang="fr-FR" sz="1400" baseline="-25000" dirty="0"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cxnSp>
        <p:nvCxnSpPr>
          <p:cNvPr id="234" name="Connecteur droit avec flèche 233">
            <a:extLst>
              <a:ext uri="{FF2B5EF4-FFF2-40B4-BE49-F238E27FC236}">
                <a16:creationId xmlns:a16="http://schemas.microsoft.com/office/drawing/2014/main" id="{3E3D17EB-4090-5496-19BB-0765D6B87C70}"/>
              </a:ext>
            </a:extLst>
          </p:cNvPr>
          <p:cNvCxnSpPr>
            <a:cxnSpLocks/>
          </p:cNvCxnSpPr>
          <p:nvPr/>
        </p:nvCxnSpPr>
        <p:spPr>
          <a:xfrm>
            <a:off x="8524385" y="2450048"/>
            <a:ext cx="3108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" name="Connecteur droit 234">
            <a:extLst>
              <a:ext uri="{FF2B5EF4-FFF2-40B4-BE49-F238E27FC236}">
                <a16:creationId xmlns:a16="http://schemas.microsoft.com/office/drawing/2014/main" id="{5A4925EC-9B6C-026E-AE64-E901D913E124}"/>
              </a:ext>
            </a:extLst>
          </p:cNvPr>
          <p:cNvCxnSpPr>
            <a:cxnSpLocks/>
          </p:cNvCxnSpPr>
          <p:nvPr/>
        </p:nvCxnSpPr>
        <p:spPr>
          <a:xfrm flipH="1">
            <a:off x="7535571" y="2920174"/>
            <a:ext cx="385064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6" name="Connecteur droit 235">
            <a:extLst>
              <a:ext uri="{FF2B5EF4-FFF2-40B4-BE49-F238E27FC236}">
                <a16:creationId xmlns:a16="http://schemas.microsoft.com/office/drawing/2014/main" id="{7A5C71A5-2C37-2F91-A7B6-40C9AF9834A0}"/>
              </a:ext>
            </a:extLst>
          </p:cNvPr>
          <p:cNvCxnSpPr>
            <a:cxnSpLocks/>
          </p:cNvCxnSpPr>
          <p:nvPr/>
        </p:nvCxnSpPr>
        <p:spPr>
          <a:xfrm flipH="1">
            <a:off x="7545731" y="5704014"/>
            <a:ext cx="385064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96A86240-1054-B428-0A5B-60CF25D8C05C}"/>
                  </a:ext>
                </a:extLst>
              </p:cNvPr>
              <p:cNvSpPr/>
              <p:nvPr/>
            </p:nvSpPr>
            <p:spPr>
              <a:xfrm>
                <a:off x="4811689" y="2270373"/>
                <a:ext cx="1929775" cy="307777"/>
              </a:xfrm>
              <a:prstGeom prst="rect">
                <a:avLst/>
              </a:prstGeom>
              <a:ln w="31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sSubPr>
                        <m:e>
                          <m:r>
                            <a:rPr lang="fr-FR" sz="1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𝜏</m:t>
                          </m:r>
                        </m:e>
                        <m:sub>
                          <m:r>
                            <a:rPr lang="fr-FR" sz="1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𝑚𝑎𝑡𝑒𝑟𝑖𝑎𝑙</m:t>
                          </m:r>
                        </m:sub>
                      </m:sSub>
                      <m:r>
                        <a:rPr lang="fr-FR" sz="1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sSubPr>
                        <m:e>
                          <m:r>
                            <a:rPr lang="fr-FR" sz="1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𝜏</m:t>
                          </m:r>
                        </m:e>
                        <m:sub>
                          <m:r>
                            <a:rPr lang="fr-FR" sz="1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𝑒𝑙</m:t>
                          </m:r>
                        </m:sub>
                      </m:sSub>
                      <m:r>
                        <a:rPr lang="fr-FR" sz="1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fr-FR" sz="1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G</m:t>
                      </m:r>
                      <m:r>
                        <m:rPr>
                          <m:nor/>
                        </m:rPr>
                        <a:rPr lang="fr-FR" sz="1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1400" i="1" dirty="0">
                          <a:solidFill>
                            <a:srgbClr val="FF0000"/>
                          </a:solidFill>
                          <a:latin typeface="Symbol" panose="05050102010706020507" pitchFamily="18" charset="2"/>
                          <a:ea typeface="Cambria" panose="02040503050406030204" pitchFamily="18" charset="0"/>
                          <a:cs typeface="Calibri Light" panose="020F0302020204030204" pitchFamily="34" charset="0"/>
                        </a:rPr>
                        <m:t>g</m:t>
                      </m:r>
                      <m:r>
                        <m:rPr>
                          <m:nor/>
                        </m:rPr>
                        <a:rPr lang="fr-FR" sz="1400" i="1" baseline="-25000" dirty="0">
                          <a:solidFill>
                            <a:srgbClr val="FF0000"/>
                          </a:solidFill>
                          <a:latin typeface="Calibri Light" panose="020F0302020204030204" pitchFamily="34" charset="0"/>
                          <a:ea typeface="Cambria" panose="02040503050406030204" pitchFamily="18" charset="0"/>
                          <a:cs typeface="Calibri Light" panose="020F0302020204030204" pitchFamily="34" charset="0"/>
                        </a:rPr>
                        <m:t>el</m:t>
                      </m:r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96A86240-1054-B428-0A5B-60CF25D8C0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689" y="2270373"/>
                <a:ext cx="1929775" cy="307777"/>
              </a:xfrm>
              <a:prstGeom prst="rect">
                <a:avLst/>
              </a:prstGeom>
              <a:blipFill>
                <a:blip r:embed="rId10"/>
                <a:stretch>
                  <a:fillRect b="-1923"/>
                </a:stretch>
              </a:blipFill>
              <a:ln w="31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8" name="ZoneTexte 237">
            <a:extLst>
              <a:ext uri="{FF2B5EF4-FFF2-40B4-BE49-F238E27FC236}">
                <a16:creationId xmlns:a16="http://schemas.microsoft.com/office/drawing/2014/main" id="{6C4A9AF2-9797-9484-2114-5D35C3A448BD}"/>
              </a:ext>
            </a:extLst>
          </p:cNvPr>
          <p:cNvSpPr txBox="1"/>
          <p:nvPr/>
        </p:nvSpPr>
        <p:spPr>
          <a:xfrm>
            <a:off x="4287876" y="2274851"/>
            <a:ext cx="523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rgbClr val="FF0000"/>
                </a:solidFill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avec</a:t>
            </a:r>
            <a:endParaRPr lang="fr-FR" sz="1400" baseline="-25000" dirty="0">
              <a:solidFill>
                <a:srgbClr val="FF0000"/>
              </a:solidFill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sp>
        <p:nvSpPr>
          <p:cNvPr id="239" name="ZoneTexte 238">
            <a:extLst>
              <a:ext uri="{FF2B5EF4-FFF2-40B4-BE49-F238E27FC236}">
                <a16:creationId xmlns:a16="http://schemas.microsoft.com/office/drawing/2014/main" id="{D7955481-AA72-AB21-A9A9-457D366DA784}"/>
              </a:ext>
            </a:extLst>
          </p:cNvPr>
          <p:cNvSpPr txBox="1"/>
          <p:nvPr/>
        </p:nvSpPr>
        <p:spPr>
          <a:xfrm>
            <a:off x="6682050" y="2259632"/>
            <a:ext cx="523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rgbClr val="FF0000"/>
                </a:solidFill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(3)</a:t>
            </a:r>
            <a:endParaRPr lang="fr-FR" sz="1400" baseline="-25000" dirty="0">
              <a:solidFill>
                <a:srgbClr val="FF0000"/>
              </a:solidFill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3D6FE022-3BEF-27B5-BDB2-867FC7ECF7FC}"/>
              </a:ext>
            </a:extLst>
          </p:cNvPr>
          <p:cNvSpPr/>
          <p:nvPr/>
        </p:nvSpPr>
        <p:spPr>
          <a:xfrm>
            <a:off x="7517114" y="6236164"/>
            <a:ext cx="9749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i="1" dirty="0">
                <a:solidFill>
                  <a:srgbClr val="FF0000"/>
                </a:solidFill>
                <a:latin typeface="Symbol" panose="05050102010706020507" pitchFamily="18" charset="2"/>
                <a:ea typeface="Cambria" panose="02040503050406030204" pitchFamily="18" charset="0"/>
                <a:cs typeface="Calibri Light" panose="020F0302020204030204" pitchFamily="34" charset="0"/>
              </a:rPr>
              <a:t>g</a:t>
            </a:r>
            <a:r>
              <a:rPr lang="fr-FR" sz="1400" i="1" baseline="-25000" dirty="0">
                <a:solidFill>
                  <a:srgbClr val="FF0000"/>
                </a:solidFill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el </a:t>
            </a:r>
            <a:r>
              <a:rPr lang="fr-FR" sz="1400" i="1" dirty="0">
                <a:solidFill>
                  <a:srgbClr val="FF0000"/>
                </a:solidFill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(t=0) = 0</a:t>
            </a:r>
            <a:endParaRPr lang="fr-FR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1A2F14FC-2459-C8F4-06F9-17DB7054B92C}"/>
                  </a:ext>
                </a:extLst>
              </p:cNvPr>
              <p:cNvSpPr/>
              <p:nvPr/>
            </p:nvSpPr>
            <p:spPr>
              <a:xfrm>
                <a:off x="8759217" y="6125886"/>
                <a:ext cx="1450269" cy="4962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h</m:t>
                      </m:r>
                      <m:r>
                        <a:rPr lang="fr-FR" sz="1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(</m:t>
                      </m:r>
                      <m:r>
                        <a:rPr lang="fr-FR" sz="1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𝑡</m:t>
                      </m:r>
                      <m:r>
                        <a:rPr lang="fr-FR" sz="1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=0)=</m:t>
                      </m:r>
                      <m:f>
                        <m:fPr>
                          <m:ctrlPr>
                            <a:rPr lang="fr-FR" sz="1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fPr>
                        <m:num>
                          <m:r>
                            <a:rPr lang="fr-FR" sz="1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4</m:t>
                          </m:r>
                        </m:num>
                        <m:den>
                          <m:r>
                            <a:rPr lang="fr-FR" sz="1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fr-FR" sz="1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sSubPr>
                        <m:e>
                          <m:r>
                            <a:rPr lang="fr-FR" sz="1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fr-FR" sz="1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FBA4BA69-CFFD-418D-B657-6211C64EE6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217" y="6125886"/>
                <a:ext cx="1450269" cy="496290"/>
              </a:xfrm>
              <a:prstGeom prst="rect">
                <a:avLst/>
              </a:prstGeom>
              <a:blipFill>
                <a:blip r:embed="rId11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87FEED17-64BD-2D65-8014-AF9B2D676381}"/>
                  </a:ext>
                </a:extLst>
              </p:cNvPr>
              <p:cNvSpPr/>
              <p:nvPr/>
            </p:nvSpPr>
            <p:spPr>
              <a:xfrm>
                <a:off x="10384384" y="6116914"/>
                <a:ext cx="1432572" cy="4970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𝑢</m:t>
                      </m:r>
                      <m:r>
                        <a:rPr lang="fr-FR" sz="1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(</m:t>
                      </m:r>
                      <m:r>
                        <a:rPr lang="fr-FR" sz="1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𝑡</m:t>
                      </m:r>
                      <m:r>
                        <a:rPr lang="fr-FR" sz="1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=0)=</m:t>
                      </m:r>
                      <m:f>
                        <m:fPr>
                          <m:ctrlPr>
                            <a:rPr lang="fr-FR" sz="1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fPr>
                        <m:num>
                          <m:r>
                            <a:rPr lang="fr-FR" sz="1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3</m:t>
                          </m:r>
                        </m:num>
                        <m:den>
                          <m:r>
                            <a:rPr lang="fr-FR" sz="1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8</m:t>
                          </m:r>
                        </m:den>
                      </m:f>
                      <m:sSub>
                        <m:sSubPr>
                          <m:ctrlPr>
                            <a:rPr lang="fr-FR" sz="1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sSubPr>
                        <m:e>
                          <m:r>
                            <a:rPr lang="fr-FR" sz="1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fr-FR" sz="1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72DB9616-764B-48CC-A788-8959AF4DC5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4384" y="6116914"/>
                <a:ext cx="1432572" cy="497059"/>
              </a:xfrm>
              <a:prstGeom prst="rect">
                <a:avLst/>
              </a:prstGeom>
              <a:blipFill>
                <a:blip r:embed="rId12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3" name="ZoneTexte 242">
            <a:extLst>
              <a:ext uri="{FF2B5EF4-FFF2-40B4-BE49-F238E27FC236}">
                <a16:creationId xmlns:a16="http://schemas.microsoft.com/office/drawing/2014/main" id="{62536290-1745-AFDC-DC98-7487C26BE2E6}"/>
              </a:ext>
            </a:extLst>
          </p:cNvPr>
          <p:cNvSpPr txBox="1"/>
          <p:nvPr/>
        </p:nvSpPr>
        <p:spPr>
          <a:xfrm>
            <a:off x="10064334" y="6579570"/>
            <a:ext cx="2135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solidFill>
                  <a:srgbClr val="FF0000"/>
                </a:solidFill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(mass conservation)</a:t>
            </a:r>
            <a:endParaRPr lang="fr-FR" sz="1200" baseline="-25000" dirty="0">
              <a:solidFill>
                <a:srgbClr val="FF0000"/>
              </a:solidFill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sp>
        <p:nvSpPr>
          <p:cNvPr id="244" name="ZoneTexte 243">
            <a:extLst>
              <a:ext uri="{FF2B5EF4-FFF2-40B4-BE49-F238E27FC236}">
                <a16:creationId xmlns:a16="http://schemas.microsoft.com/office/drawing/2014/main" id="{C30F900B-DFF8-2F5F-4330-CC20E0B2FDAF}"/>
              </a:ext>
            </a:extLst>
          </p:cNvPr>
          <p:cNvSpPr txBox="1"/>
          <p:nvPr/>
        </p:nvSpPr>
        <p:spPr>
          <a:xfrm>
            <a:off x="8736255" y="5815857"/>
            <a:ext cx="1688667" cy="307777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FF0000"/>
                </a:solidFill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Initial conditions</a:t>
            </a:r>
            <a:endParaRPr lang="fr-FR" sz="1400" b="1" baseline="-25000" dirty="0">
              <a:solidFill>
                <a:srgbClr val="FF0000"/>
              </a:solidFill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24967DE0-C367-67E0-BA6B-8431071C0006}"/>
              </a:ext>
            </a:extLst>
          </p:cNvPr>
          <p:cNvSpPr/>
          <p:nvPr/>
        </p:nvSpPr>
        <p:spPr>
          <a:xfrm>
            <a:off x="3441315" y="6250077"/>
            <a:ext cx="45719" cy="45719"/>
          </a:xfrm>
          <a:prstGeom prst="ellipse">
            <a:avLst/>
          </a:prstGeom>
          <a:solidFill>
            <a:srgbClr val="FF0000"/>
          </a:solidFill>
          <a:ln w="317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7FCA1D82-9776-DC51-9C4B-E0A0FB1AE42B}"/>
              </a:ext>
            </a:extLst>
          </p:cNvPr>
          <p:cNvSpPr/>
          <p:nvPr/>
        </p:nvSpPr>
        <p:spPr>
          <a:xfrm>
            <a:off x="375195" y="3758745"/>
            <a:ext cx="45719" cy="45719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0DB0232-03C9-C9B4-4EB1-4A36C44E4082}"/>
              </a:ext>
            </a:extLst>
          </p:cNvPr>
          <p:cNvSpPr/>
          <p:nvPr/>
        </p:nvSpPr>
        <p:spPr>
          <a:xfrm>
            <a:off x="718267" y="3758745"/>
            <a:ext cx="45719" cy="45719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D42F3979-C06B-2389-259E-6B6FCF9F344F}"/>
              </a:ext>
            </a:extLst>
          </p:cNvPr>
          <p:cNvSpPr/>
          <p:nvPr/>
        </p:nvSpPr>
        <p:spPr>
          <a:xfrm>
            <a:off x="932580" y="3753981"/>
            <a:ext cx="45719" cy="45719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090AD9B-E489-BFFE-49CA-2B88B709A28F}"/>
              </a:ext>
            </a:extLst>
          </p:cNvPr>
          <p:cNvSpPr/>
          <p:nvPr/>
        </p:nvSpPr>
        <p:spPr>
          <a:xfrm>
            <a:off x="2182774" y="4172393"/>
            <a:ext cx="45719" cy="45719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CFE06887-DA32-DEFF-F5D7-07D4164695D5}"/>
              </a:ext>
            </a:extLst>
          </p:cNvPr>
          <p:cNvSpPr/>
          <p:nvPr/>
        </p:nvSpPr>
        <p:spPr>
          <a:xfrm>
            <a:off x="3663490" y="4174228"/>
            <a:ext cx="45719" cy="45719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688ECAA8-EA61-C6AA-5E59-9825A187591B}"/>
              </a:ext>
            </a:extLst>
          </p:cNvPr>
          <p:cNvSpPr/>
          <p:nvPr/>
        </p:nvSpPr>
        <p:spPr>
          <a:xfrm>
            <a:off x="3877805" y="4174220"/>
            <a:ext cx="45719" cy="45719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9D4D834A-BE46-3BDA-DD8C-6CB4F8B28855}"/>
              </a:ext>
            </a:extLst>
          </p:cNvPr>
          <p:cNvSpPr/>
          <p:nvPr/>
        </p:nvSpPr>
        <p:spPr>
          <a:xfrm>
            <a:off x="5542887" y="4174849"/>
            <a:ext cx="45719" cy="45719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34737C3D-57A8-53A2-69F1-FDA93B873508}"/>
              </a:ext>
            </a:extLst>
          </p:cNvPr>
          <p:cNvSpPr/>
          <p:nvPr/>
        </p:nvSpPr>
        <p:spPr>
          <a:xfrm>
            <a:off x="5771487" y="4179606"/>
            <a:ext cx="45719" cy="45719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7ED7E995-9749-3196-DA3E-F49E7F00E2A2}"/>
              </a:ext>
            </a:extLst>
          </p:cNvPr>
          <p:cNvSpPr/>
          <p:nvPr/>
        </p:nvSpPr>
        <p:spPr>
          <a:xfrm>
            <a:off x="525556" y="5028379"/>
            <a:ext cx="45719" cy="45719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6D2A5B5-8FEE-E840-3094-EF4912408637}"/>
              </a:ext>
            </a:extLst>
          </p:cNvPr>
          <p:cNvSpPr/>
          <p:nvPr/>
        </p:nvSpPr>
        <p:spPr>
          <a:xfrm>
            <a:off x="920848" y="5029139"/>
            <a:ext cx="45719" cy="45719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F02B1AA7-F047-A407-5F51-D6D0C82F6CC4}"/>
              </a:ext>
            </a:extLst>
          </p:cNvPr>
          <p:cNvSpPr/>
          <p:nvPr/>
        </p:nvSpPr>
        <p:spPr>
          <a:xfrm>
            <a:off x="2524128" y="5704654"/>
            <a:ext cx="45719" cy="45719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CC73FB1D-705A-8A2F-5F68-9BD454B8B02E}"/>
              </a:ext>
            </a:extLst>
          </p:cNvPr>
          <p:cNvSpPr/>
          <p:nvPr/>
        </p:nvSpPr>
        <p:spPr>
          <a:xfrm>
            <a:off x="2850841" y="5704654"/>
            <a:ext cx="45719" cy="45719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946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2C684-94D6-BEEE-AE2A-459F15C5D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1">
            <a:extLst>
              <a:ext uri="{FF2B5EF4-FFF2-40B4-BE49-F238E27FC236}">
                <a16:creationId xmlns:a16="http://schemas.microsoft.com/office/drawing/2014/main" id="{A40765BE-274D-D345-8D8F-138B0CAADE0F}"/>
              </a:ext>
            </a:extLst>
          </p:cNvPr>
          <p:cNvSpPr txBox="1"/>
          <p:nvPr/>
        </p:nvSpPr>
        <p:spPr>
          <a:xfrm>
            <a:off x="1" y="192919"/>
            <a:ext cx="5364480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en-US" sz="20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75B235F2-219F-9E1E-1048-2DE5C91D9339}"/>
              </a:ext>
            </a:extLst>
          </p:cNvPr>
          <p:cNvSpPr/>
          <p:nvPr/>
        </p:nvSpPr>
        <p:spPr>
          <a:xfrm>
            <a:off x="1" y="200515"/>
            <a:ext cx="53644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Modelling - reactive </a:t>
            </a:r>
            <a:r>
              <a:rPr lang="en-GB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elasto</a:t>
            </a:r>
            <a:r>
              <a:rPr lang="en-GB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-</a:t>
            </a:r>
            <a:r>
              <a:rPr lang="en-GB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viscoplastic</a:t>
            </a:r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 drop</a:t>
            </a:r>
            <a:endParaRPr lang="en-GB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6" name="Espace réservé du numéro de diapositive 4">
            <a:extLst>
              <a:ext uri="{FF2B5EF4-FFF2-40B4-BE49-F238E27FC236}">
                <a16:creationId xmlns:a16="http://schemas.microsoft.com/office/drawing/2014/main" id="{F2B17B40-A426-DD22-EBE0-35991B528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8750" y="-135436"/>
            <a:ext cx="411531" cy="41547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fld id="{2411E2AE-B33C-4D1E-926E-C917040061CB}" type="slidenum">
              <a:rPr lang="fr-FR" sz="1500" smtClean="0">
                <a:solidFill>
                  <a:schemeClr val="tx2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</a:t>
            </a:fld>
            <a:endParaRPr lang="fr-FR" sz="1500" dirty="0">
              <a:solidFill>
                <a:schemeClr val="tx2">
                  <a:lumMod val="65000"/>
                  <a:lumOff val="3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27F3EE1D-9DB0-FFB2-4E11-428F6C28CCB3}"/>
              </a:ext>
            </a:extLst>
          </p:cNvPr>
          <p:cNvSpPr txBox="1"/>
          <p:nvPr/>
        </p:nvSpPr>
        <p:spPr>
          <a:xfrm>
            <a:off x="280504" y="860543"/>
            <a:ext cx="2498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noProof="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Capillary stress (</a:t>
            </a:r>
            <a:r>
              <a:rPr lang="en-GB" sz="1400" b="1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for a cylinder</a:t>
            </a:r>
            <a:r>
              <a:rPr lang="en-GB" sz="1400" b="1" noProof="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)</a:t>
            </a:r>
            <a:endParaRPr lang="en-GB" sz="1400" b="1" baseline="-25000" noProof="0" dirty="0"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37A6796C-1BD1-F294-6AC4-9BDDC98586F2}"/>
                  </a:ext>
                </a:extLst>
              </p:cNvPr>
              <p:cNvSpPr txBox="1"/>
              <p:nvPr/>
            </p:nvSpPr>
            <p:spPr>
              <a:xfrm>
                <a:off x="470104" y="1787338"/>
                <a:ext cx="1525332" cy="44294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sSubPr>
                        <m:e>
                          <m:r>
                            <a:rPr lang="fr-FR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fr-FR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𝑐𝑎𝑝𝑖𝑙𝑙𝑎𝑟𝑦</m:t>
                          </m:r>
                        </m:sub>
                      </m:sSub>
                      <m:r>
                        <a:rPr lang="fr-FR" sz="1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=</m:t>
                      </m:r>
                      <m:r>
                        <a:rPr lang="fr-FR" sz="1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𝜎</m:t>
                      </m:r>
                      <m:f>
                        <m:fPr>
                          <m:ctrlPr>
                            <a:rPr lang="fr-FR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fPr>
                        <m:num>
                          <m:r>
                            <a:rPr lang="fr-FR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𝑑𝐴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fr-FR" sz="12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dV</m:t>
                          </m:r>
                        </m:den>
                      </m:f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37A6796C-1BD1-F294-6AC4-9BDDC9858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104" y="1787338"/>
                <a:ext cx="1525332" cy="4429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1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82B1236A-5D0C-09C6-22BE-686F74F8E3C7}"/>
              </a:ext>
            </a:extLst>
          </p:cNvPr>
          <p:cNvCxnSpPr>
            <a:cxnSpLocks/>
            <a:endCxn id="55" idx="0"/>
          </p:cNvCxnSpPr>
          <p:nvPr/>
        </p:nvCxnSpPr>
        <p:spPr>
          <a:xfrm flipV="1">
            <a:off x="661857" y="2910498"/>
            <a:ext cx="862550" cy="4870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BAD42868-2DBB-3D74-CE5B-06D28BAAB15E}"/>
              </a:ext>
            </a:extLst>
          </p:cNvPr>
          <p:cNvCxnSpPr>
            <a:cxnSpLocks/>
          </p:cNvCxnSpPr>
          <p:nvPr/>
        </p:nvCxnSpPr>
        <p:spPr>
          <a:xfrm flipV="1">
            <a:off x="661857" y="3379727"/>
            <a:ext cx="1048871" cy="17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Arc 54">
            <a:extLst>
              <a:ext uri="{FF2B5EF4-FFF2-40B4-BE49-F238E27FC236}">
                <a16:creationId xmlns:a16="http://schemas.microsoft.com/office/drawing/2014/main" id="{E0AB5214-E568-39BC-BD7C-8176A9FFEF6B}"/>
              </a:ext>
            </a:extLst>
          </p:cNvPr>
          <p:cNvSpPr/>
          <p:nvPr/>
        </p:nvSpPr>
        <p:spPr>
          <a:xfrm rot="1159509">
            <a:off x="1062981" y="2889344"/>
            <a:ext cx="674365" cy="750882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BB0C2FDE-B8B4-2551-E441-0626091EC156}"/>
              </a:ext>
            </a:extLst>
          </p:cNvPr>
          <p:cNvCxnSpPr>
            <a:cxnSpLocks/>
            <a:endCxn id="62" idx="0"/>
          </p:cNvCxnSpPr>
          <p:nvPr/>
        </p:nvCxnSpPr>
        <p:spPr>
          <a:xfrm flipV="1">
            <a:off x="667833" y="4025183"/>
            <a:ext cx="862550" cy="4870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67DC5BE5-ADC0-CB2B-3872-BA742A82740E}"/>
              </a:ext>
            </a:extLst>
          </p:cNvPr>
          <p:cNvCxnSpPr>
            <a:cxnSpLocks/>
          </p:cNvCxnSpPr>
          <p:nvPr/>
        </p:nvCxnSpPr>
        <p:spPr>
          <a:xfrm flipV="1">
            <a:off x="667833" y="4494412"/>
            <a:ext cx="1048871" cy="17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Arc 61">
            <a:extLst>
              <a:ext uri="{FF2B5EF4-FFF2-40B4-BE49-F238E27FC236}">
                <a16:creationId xmlns:a16="http://schemas.microsoft.com/office/drawing/2014/main" id="{7A1B8991-B066-9DB7-1D6C-6115CE24D2F8}"/>
              </a:ext>
            </a:extLst>
          </p:cNvPr>
          <p:cNvSpPr/>
          <p:nvPr/>
        </p:nvSpPr>
        <p:spPr>
          <a:xfrm rot="1159509">
            <a:off x="1068957" y="4004029"/>
            <a:ext cx="674365" cy="750882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8062E84F-7DA7-D4E8-2970-80C4EFA746EB}"/>
              </a:ext>
            </a:extLst>
          </p:cNvPr>
          <p:cNvCxnSpPr/>
          <p:nvPr/>
        </p:nvCxnSpPr>
        <p:spPr>
          <a:xfrm>
            <a:off x="1710728" y="3397502"/>
            <a:ext cx="0" cy="10969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CD21BD5A-A71B-38D4-6BB6-CFE24F4A198D}"/>
              </a:ext>
            </a:extLst>
          </p:cNvPr>
          <p:cNvCxnSpPr/>
          <p:nvPr/>
        </p:nvCxnSpPr>
        <p:spPr>
          <a:xfrm>
            <a:off x="1524407" y="2916474"/>
            <a:ext cx="0" cy="10969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EF5AFDAC-00EA-497F-B039-8CAA56933B88}"/>
              </a:ext>
            </a:extLst>
          </p:cNvPr>
          <p:cNvCxnSpPr/>
          <p:nvPr/>
        </p:nvCxnSpPr>
        <p:spPr>
          <a:xfrm>
            <a:off x="657439" y="3409687"/>
            <a:ext cx="0" cy="10969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3E2A51E5-D182-CF55-0E6C-2785E25D5487}"/>
              </a:ext>
            </a:extLst>
          </p:cNvPr>
          <p:cNvCxnSpPr>
            <a:cxnSpLocks/>
          </p:cNvCxnSpPr>
          <p:nvPr/>
        </p:nvCxnSpPr>
        <p:spPr>
          <a:xfrm flipV="1">
            <a:off x="1529726" y="2834337"/>
            <a:ext cx="129870" cy="7332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Arc 72">
            <a:extLst>
              <a:ext uri="{FF2B5EF4-FFF2-40B4-BE49-F238E27FC236}">
                <a16:creationId xmlns:a16="http://schemas.microsoft.com/office/drawing/2014/main" id="{96ADD2D5-AA97-871A-5383-C5D559B73D00}"/>
              </a:ext>
            </a:extLst>
          </p:cNvPr>
          <p:cNvSpPr/>
          <p:nvPr/>
        </p:nvSpPr>
        <p:spPr>
          <a:xfrm rot="1159509">
            <a:off x="1158791" y="2808649"/>
            <a:ext cx="718831" cy="910319"/>
          </a:xfrm>
          <a:prstGeom prst="arc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1045523A-7C6A-C47D-C1C8-F4B92189236B}"/>
              </a:ext>
            </a:extLst>
          </p:cNvPr>
          <p:cNvCxnSpPr>
            <a:cxnSpLocks/>
          </p:cNvCxnSpPr>
          <p:nvPr/>
        </p:nvCxnSpPr>
        <p:spPr>
          <a:xfrm>
            <a:off x="1718698" y="3379807"/>
            <a:ext cx="12987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droit 76">
            <a:extLst>
              <a:ext uri="{FF2B5EF4-FFF2-40B4-BE49-F238E27FC236}">
                <a16:creationId xmlns:a16="http://schemas.microsoft.com/office/drawing/2014/main" id="{F0092FDA-3F25-CCE3-AD68-1A1428B96A0E}"/>
              </a:ext>
            </a:extLst>
          </p:cNvPr>
          <p:cNvCxnSpPr>
            <a:cxnSpLocks/>
          </p:cNvCxnSpPr>
          <p:nvPr/>
        </p:nvCxnSpPr>
        <p:spPr>
          <a:xfrm flipV="1">
            <a:off x="1540343" y="3952010"/>
            <a:ext cx="129870" cy="7332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Arc 78">
            <a:extLst>
              <a:ext uri="{FF2B5EF4-FFF2-40B4-BE49-F238E27FC236}">
                <a16:creationId xmlns:a16="http://schemas.microsoft.com/office/drawing/2014/main" id="{9CE4F976-ABDF-C50D-6E5E-785D3B0A618F}"/>
              </a:ext>
            </a:extLst>
          </p:cNvPr>
          <p:cNvSpPr/>
          <p:nvPr/>
        </p:nvSpPr>
        <p:spPr>
          <a:xfrm rot="1159509">
            <a:off x="1158792" y="3924170"/>
            <a:ext cx="718831" cy="910319"/>
          </a:xfrm>
          <a:prstGeom prst="arc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3C4363A8-F024-EB7C-D767-0098FC8EDEBD}"/>
              </a:ext>
            </a:extLst>
          </p:cNvPr>
          <p:cNvCxnSpPr>
            <a:cxnSpLocks/>
          </p:cNvCxnSpPr>
          <p:nvPr/>
        </p:nvCxnSpPr>
        <p:spPr>
          <a:xfrm>
            <a:off x="1717363" y="4497480"/>
            <a:ext cx="12987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D91D2DBA-AA5D-DEAC-E9AE-ACA79B0B451E}"/>
              </a:ext>
            </a:extLst>
          </p:cNvPr>
          <p:cNvCxnSpPr/>
          <p:nvPr/>
        </p:nvCxnSpPr>
        <p:spPr>
          <a:xfrm>
            <a:off x="1857154" y="3385703"/>
            <a:ext cx="0" cy="10969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461E3571-AEBB-0D46-A914-44667C0DD9F7}"/>
              </a:ext>
            </a:extLst>
          </p:cNvPr>
          <p:cNvCxnSpPr/>
          <p:nvPr/>
        </p:nvCxnSpPr>
        <p:spPr>
          <a:xfrm>
            <a:off x="1671548" y="2843071"/>
            <a:ext cx="0" cy="10969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ZoneTexte 85">
                <a:extLst>
                  <a:ext uri="{FF2B5EF4-FFF2-40B4-BE49-F238E27FC236}">
                    <a16:creationId xmlns:a16="http://schemas.microsoft.com/office/drawing/2014/main" id="{0FE0024A-B5C4-275B-AE98-98DCAA38CA14}"/>
                  </a:ext>
                </a:extLst>
              </p:cNvPr>
              <p:cNvSpPr txBox="1"/>
              <p:nvPr/>
            </p:nvSpPr>
            <p:spPr>
              <a:xfrm>
                <a:off x="1370239" y="2636946"/>
                <a:ext cx="352733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𝑑𝑅</m:t>
                      </m:r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86" name="ZoneTexte 85">
                <a:extLst>
                  <a:ext uri="{FF2B5EF4-FFF2-40B4-BE49-F238E27FC236}">
                    <a16:creationId xmlns:a16="http://schemas.microsoft.com/office/drawing/2014/main" id="{0FE0024A-B5C4-275B-AE98-98DCAA38C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0239" y="2636946"/>
                <a:ext cx="352733" cy="2462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ZoneTexte 86">
                <a:extLst>
                  <a:ext uri="{FF2B5EF4-FFF2-40B4-BE49-F238E27FC236}">
                    <a16:creationId xmlns:a16="http://schemas.microsoft.com/office/drawing/2014/main" id="{98C435C8-02B4-27B4-50FD-D360AC042537}"/>
                  </a:ext>
                </a:extLst>
              </p:cNvPr>
              <p:cNvSpPr txBox="1"/>
              <p:nvPr/>
            </p:nvSpPr>
            <p:spPr>
              <a:xfrm>
                <a:off x="923768" y="2878622"/>
                <a:ext cx="352733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𝑅</m:t>
                      </m:r>
                    </m:oMath>
                  </m:oMathPara>
                </a14:m>
                <a:endParaRPr lang="fr-FR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ZoneTexte 86">
                <a:extLst>
                  <a:ext uri="{FF2B5EF4-FFF2-40B4-BE49-F238E27FC236}">
                    <a16:creationId xmlns:a16="http://schemas.microsoft.com/office/drawing/2014/main" id="{98C435C8-02B4-27B4-50FD-D360AC042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768" y="2878622"/>
                <a:ext cx="352733" cy="2462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ZoneTexte 89">
                <a:extLst>
                  <a:ext uri="{FF2B5EF4-FFF2-40B4-BE49-F238E27FC236}">
                    <a16:creationId xmlns:a16="http://schemas.microsoft.com/office/drawing/2014/main" id="{ADF8A63E-D6FC-74CE-13CD-04C7055E2884}"/>
                  </a:ext>
                </a:extLst>
              </p:cNvPr>
              <p:cNvSpPr txBox="1"/>
              <p:nvPr/>
            </p:nvSpPr>
            <p:spPr>
              <a:xfrm>
                <a:off x="341452" y="3847865"/>
                <a:ext cx="352733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h</m:t>
                      </m:r>
                    </m:oMath>
                  </m:oMathPara>
                </a14:m>
                <a:endParaRPr lang="fr-FR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ZoneTexte 89">
                <a:extLst>
                  <a:ext uri="{FF2B5EF4-FFF2-40B4-BE49-F238E27FC236}">
                    <a16:creationId xmlns:a16="http://schemas.microsoft.com/office/drawing/2014/main" id="{ADF8A63E-D6FC-74CE-13CD-04C7055E2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52" y="3847865"/>
                <a:ext cx="352733" cy="2462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Arc 91">
            <a:extLst>
              <a:ext uri="{FF2B5EF4-FFF2-40B4-BE49-F238E27FC236}">
                <a16:creationId xmlns:a16="http://schemas.microsoft.com/office/drawing/2014/main" id="{DEE3679E-4237-87E8-C5B5-DFC60F64B571}"/>
              </a:ext>
            </a:extLst>
          </p:cNvPr>
          <p:cNvSpPr/>
          <p:nvPr/>
        </p:nvSpPr>
        <p:spPr>
          <a:xfrm rot="1159509">
            <a:off x="840001" y="4282217"/>
            <a:ext cx="310791" cy="346055"/>
          </a:xfrm>
          <a:prstGeom prst="arc">
            <a:avLst/>
          </a:prstGeom>
          <a:ln>
            <a:solidFill>
              <a:srgbClr val="007AD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ZoneTexte 92">
                <a:extLst>
                  <a:ext uri="{FF2B5EF4-FFF2-40B4-BE49-F238E27FC236}">
                    <a16:creationId xmlns:a16="http://schemas.microsoft.com/office/drawing/2014/main" id="{340439CE-5D40-44F8-5EC8-B6CEFDCC46EB}"/>
                  </a:ext>
                </a:extLst>
              </p:cNvPr>
              <p:cNvSpPr txBox="1"/>
              <p:nvPr/>
            </p:nvSpPr>
            <p:spPr>
              <a:xfrm>
                <a:off x="1056404" y="4237857"/>
                <a:ext cx="352733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00" b="0" i="1" dirty="0" smtClean="0">
                          <a:solidFill>
                            <a:srgbClr val="007AD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𝜙</m:t>
                      </m:r>
                    </m:oMath>
                  </m:oMathPara>
                </a14:m>
                <a:endParaRPr lang="fr-FR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3" name="ZoneTexte 92">
                <a:extLst>
                  <a:ext uri="{FF2B5EF4-FFF2-40B4-BE49-F238E27FC236}">
                    <a16:creationId xmlns:a16="http://schemas.microsoft.com/office/drawing/2014/main" id="{340439CE-5D40-44F8-5EC8-B6CEFDCC4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404" y="4237857"/>
                <a:ext cx="352733" cy="2462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ZoneTexte 93">
                <a:extLst>
                  <a:ext uri="{FF2B5EF4-FFF2-40B4-BE49-F238E27FC236}">
                    <a16:creationId xmlns:a16="http://schemas.microsoft.com/office/drawing/2014/main" id="{4BE1EEC3-00F7-F719-DA69-5113D2E23587}"/>
                  </a:ext>
                </a:extLst>
              </p:cNvPr>
              <p:cNvSpPr txBox="1"/>
              <p:nvPr/>
            </p:nvSpPr>
            <p:spPr>
              <a:xfrm>
                <a:off x="3265047" y="2109005"/>
                <a:ext cx="80669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𝐴</m:t>
                      </m:r>
                      <m:r>
                        <a:rPr lang="fr-FR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= </m:t>
                      </m:r>
                      <m:r>
                        <a:rPr lang="fr-FR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𝜙</m:t>
                      </m:r>
                      <m:r>
                        <a:rPr lang="fr-FR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𝑅h</m:t>
                      </m:r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ZoneTexte 93">
                <a:extLst>
                  <a:ext uri="{FF2B5EF4-FFF2-40B4-BE49-F238E27FC236}">
                    <a16:creationId xmlns:a16="http://schemas.microsoft.com/office/drawing/2014/main" id="{4BE1EEC3-00F7-F719-DA69-5113D2E23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047" y="2109005"/>
                <a:ext cx="806697" cy="276999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ZoneTexte 94">
                <a:extLst>
                  <a:ext uri="{FF2B5EF4-FFF2-40B4-BE49-F238E27FC236}">
                    <a16:creationId xmlns:a16="http://schemas.microsoft.com/office/drawing/2014/main" id="{5350BC3B-0F56-4862-E4F3-D7A6056FE8F6}"/>
                  </a:ext>
                </a:extLst>
              </p:cNvPr>
              <p:cNvSpPr txBox="1"/>
              <p:nvPr/>
            </p:nvSpPr>
            <p:spPr>
              <a:xfrm>
                <a:off x="3193828" y="2536169"/>
                <a:ext cx="181895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𝐴</m:t>
                      </m:r>
                      <m:r>
                        <a:rPr lang="fr-FR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+</m:t>
                      </m:r>
                      <m:r>
                        <a:rPr lang="fr-FR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𝑑𝐴</m:t>
                      </m:r>
                      <m:r>
                        <a:rPr lang="fr-FR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= </m:t>
                      </m:r>
                      <m:r>
                        <a:rPr lang="fr-FR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𝜙</m:t>
                      </m:r>
                      <m:d>
                        <m:dPr>
                          <m:ctrlPr>
                            <a:rPr lang="fr-FR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dPr>
                        <m:e>
                          <m: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𝑅</m:t>
                          </m:r>
                          <m: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+</m:t>
                          </m:r>
                          <m: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𝑑𝑅</m:t>
                          </m:r>
                        </m:e>
                      </m:d>
                      <m:r>
                        <a:rPr lang="fr-FR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h</m:t>
                      </m:r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ZoneTexte 94">
                <a:extLst>
                  <a:ext uri="{FF2B5EF4-FFF2-40B4-BE49-F238E27FC236}">
                    <a16:creationId xmlns:a16="http://schemas.microsoft.com/office/drawing/2014/main" id="{5350BC3B-0F56-4862-E4F3-D7A6056FE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3828" y="2536169"/>
                <a:ext cx="1818950" cy="276999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ZoneTexte 95">
                <a:extLst>
                  <a:ext uri="{FF2B5EF4-FFF2-40B4-BE49-F238E27FC236}">
                    <a16:creationId xmlns:a16="http://schemas.microsoft.com/office/drawing/2014/main" id="{EF585E14-14E7-2C55-933F-650039DEEB0C}"/>
                  </a:ext>
                </a:extLst>
              </p:cNvPr>
              <p:cNvSpPr txBox="1"/>
              <p:nvPr/>
            </p:nvSpPr>
            <p:spPr>
              <a:xfrm>
                <a:off x="3191711" y="3011380"/>
                <a:ext cx="198086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𝜙</m:t>
                      </m:r>
                      <m:r>
                        <a:rPr lang="fr-FR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𝑅h</m:t>
                      </m:r>
                      <m:r>
                        <a:rPr lang="fr-FR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+</m:t>
                      </m:r>
                      <m:r>
                        <a:rPr lang="fr-FR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𝑑𝐴</m:t>
                      </m:r>
                      <m:r>
                        <a:rPr lang="fr-FR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= </m:t>
                      </m:r>
                      <m:r>
                        <a:rPr lang="fr-FR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𝜙</m:t>
                      </m:r>
                      <m:d>
                        <m:dPr>
                          <m:ctrlPr>
                            <a:rPr lang="fr-FR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dPr>
                        <m:e>
                          <m: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𝑅</m:t>
                          </m:r>
                          <m: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+</m:t>
                          </m:r>
                          <m: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𝑑𝑅</m:t>
                          </m:r>
                        </m:e>
                      </m:d>
                      <m:r>
                        <a:rPr lang="fr-FR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h</m:t>
                      </m:r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6" name="ZoneTexte 95">
                <a:extLst>
                  <a:ext uri="{FF2B5EF4-FFF2-40B4-BE49-F238E27FC236}">
                    <a16:creationId xmlns:a16="http://schemas.microsoft.com/office/drawing/2014/main" id="{EF585E14-14E7-2C55-933F-650039DEE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711" y="3011380"/>
                <a:ext cx="1980865" cy="276999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ZoneTexte 96">
                <a:extLst>
                  <a:ext uri="{FF2B5EF4-FFF2-40B4-BE49-F238E27FC236}">
                    <a16:creationId xmlns:a16="http://schemas.microsoft.com/office/drawing/2014/main" id="{7579D8AE-F1DB-9ED3-666B-216C6EE2EBD3}"/>
                  </a:ext>
                </a:extLst>
              </p:cNvPr>
              <p:cNvSpPr txBox="1"/>
              <p:nvPr/>
            </p:nvSpPr>
            <p:spPr>
              <a:xfrm>
                <a:off x="3262850" y="3459048"/>
                <a:ext cx="1046767" cy="2767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𝑑𝐴</m:t>
                      </m:r>
                      <m:r>
                        <a:rPr lang="fr-FR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= </m:t>
                      </m:r>
                      <m:r>
                        <a:rPr lang="fr-FR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𝜙</m:t>
                      </m:r>
                      <m:r>
                        <a:rPr lang="fr-FR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𝑑𝑅h</m:t>
                      </m:r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7" name="ZoneTexte 96">
                <a:extLst>
                  <a:ext uri="{FF2B5EF4-FFF2-40B4-BE49-F238E27FC236}">
                    <a16:creationId xmlns:a16="http://schemas.microsoft.com/office/drawing/2014/main" id="{7579D8AE-F1DB-9ED3-666B-216C6EE2E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850" y="3459048"/>
                <a:ext cx="1046767" cy="276735"/>
              </a:xfrm>
              <a:prstGeom prst="rect">
                <a:avLst/>
              </a:prstGeom>
              <a:blipFill>
                <a:blip r:embed="rId1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ZoneTexte 97">
                <a:extLst>
                  <a:ext uri="{FF2B5EF4-FFF2-40B4-BE49-F238E27FC236}">
                    <a16:creationId xmlns:a16="http://schemas.microsoft.com/office/drawing/2014/main" id="{0C33039F-E7F1-D4D9-0D6D-5451CED7F86A}"/>
                  </a:ext>
                </a:extLst>
              </p:cNvPr>
              <p:cNvSpPr txBox="1"/>
              <p:nvPr/>
            </p:nvSpPr>
            <p:spPr>
              <a:xfrm>
                <a:off x="3272992" y="3893540"/>
                <a:ext cx="11342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𝑑</m:t>
                      </m:r>
                      <m:r>
                        <a:rPr lang="fr-FR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𝑉</m:t>
                      </m:r>
                      <m:r>
                        <a:rPr lang="fr-FR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= </m:t>
                      </m:r>
                      <m:r>
                        <a:rPr lang="fr-FR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𝜙</m:t>
                      </m:r>
                      <m:r>
                        <a:rPr lang="fr-FR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𝑅h</m:t>
                      </m:r>
                      <m:r>
                        <a:rPr lang="fr-FR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 </m:t>
                      </m:r>
                      <m:r>
                        <a:rPr lang="fr-FR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𝑑𝑅</m:t>
                      </m:r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8" name="ZoneTexte 97">
                <a:extLst>
                  <a:ext uri="{FF2B5EF4-FFF2-40B4-BE49-F238E27FC236}">
                    <a16:creationId xmlns:a16="http://schemas.microsoft.com/office/drawing/2014/main" id="{0C33039F-E7F1-D4D9-0D6D-5451CED7F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992" y="3893540"/>
                <a:ext cx="1134258" cy="276999"/>
              </a:xfrm>
              <a:prstGeom prst="rect">
                <a:avLst/>
              </a:prstGeom>
              <a:blipFill>
                <a:blip r:embed="rId1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ZoneTexte 101">
                <a:extLst>
                  <a:ext uri="{FF2B5EF4-FFF2-40B4-BE49-F238E27FC236}">
                    <a16:creationId xmlns:a16="http://schemas.microsoft.com/office/drawing/2014/main" id="{D3C810E6-8F05-EDD5-01A2-34B481FDF4F9}"/>
                  </a:ext>
                </a:extLst>
              </p:cNvPr>
              <p:cNvSpPr txBox="1"/>
              <p:nvPr/>
            </p:nvSpPr>
            <p:spPr>
              <a:xfrm>
                <a:off x="5908674" y="1958361"/>
                <a:ext cx="2756252" cy="4740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sSubPr>
                        <m:e>
                          <m:r>
                            <a:rPr lang="fr-FR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fr-FR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𝑐𝑎𝑝𝑖𝑙𝑙𝑎𝑟𝑦</m:t>
                          </m:r>
                        </m:sub>
                      </m:sSub>
                      <m:r>
                        <a:rPr lang="fr-FR" sz="1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=</m:t>
                      </m:r>
                      <m:r>
                        <a:rPr lang="fr-FR" sz="1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𝜎</m:t>
                      </m:r>
                      <m:f>
                        <m:fPr>
                          <m:ctrlPr>
                            <a:rPr lang="fr-FR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fPr>
                        <m:num>
                          <m:r>
                            <a:rPr lang="fr-FR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𝑑𝐴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fr-FR" sz="12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dV</m:t>
                          </m:r>
                        </m:den>
                      </m:f>
                      <m:r>
                        <a:rPr lang="fr-FR" sz="1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=</m:t>
                      </m:r>
                      <m:r>
                        <a:rPr lang="fr-FR" sz="1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𝜎</m:t>
                      </m:r>
                      <m:f>
                        <m:fPr>
                          <m:ctrlP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fPr>
                        <m:num>
                          <m: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𝜙</m:t>
                          </m:r>
                          <m: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𝑑𝑅h</m:t>
                          </m:r>
                        </m:num>
                        <m:den>
                          <m: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𝜙</m:t>
                          </m:r>
                          <m: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𝑅h</m:t>
                          </m:r>
                          <m: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 </m:t>
                          </m:r>
                          <m: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𝑑𝑅</m:t>
                          </m:r>
                        </m:den>
                      </m:f>
                      <m:r>
                        <a:rPr lang="fr-FR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fPr>
                        <m:num>
                          <m: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𝜎</m:t>
                          </m:r>
                        </m:num>
                        <m:den>
                          <m: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ZoneTexte 101">
                <a:extLst>
                  <a:ext uri="{FF2B5EF4-FFF2-40B4-BE49-F238E27FC236}">
                    <a16:creationId xmlns:a16="http://schemas.microsoft.com/office/drawing/2014/main" id="{D3C810E6-8F05-EDD5-01A2-34B481FDF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674" y="1958361"/>
                <a:ext cx="2756252" cy="474041"/>
              </a:xfrm>
              <a:prstGeom prst="rect">
                <a:avLst/>
              </a:prstGeom>
              <a:blipFill>
                <a:blip r:embed="rId12"/>
                <a:stretch>
                  <a:fillRect b="-512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ZoneTexte 102">
                <a:extLst>
                  <a:ext uri="{FF2B5EF4-FFF2-40B4-BE49-F238E27FC236}">
                    <a16:creationId xmlns:a16="http://schemas.microsoft.com/office/drawing/2014/main" id="{7CB2E24F-BD91-9799-41D2-EAE8A6A858AC}"/>
                  </a:ext>
                </a:extLst>
              </p:cNvPr>
              <p:cNvSpPr txBox="1"/>
              <p:nvPr/>
            </p:nvSpPr>
            <p:spPr>
              <a:xfrm>
                <a:off x="6029142" y="2644431"/>
                <a:ext cx="1171762" cy="4060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sSubPr>
                        <m:e>
                          <m:r>
                            <a:rPr lang="fr-FR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fr-FR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𝑐𝑎𝑝𝑖𝑙𝑙𝑎𝑟𝑦</m:t>
                          </m:r>
                        </m:sub>
                      </m:sSub>
                      <m:r>
                        <a:rPr lang="fr-FR" sz="1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fPr>
                        <m:num>
                          <m: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𝜎</m:t>
                          </m:r>
                        </m:num>
                        <m:den>
                          <m: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3" name="ZoneTexte 102">
                <a:extLst>
                  <a:ext uri="{FF2B5EF4-FFF2-40B4-BE49-F238E27FC236}">
                    <a16:creationId xmlns:a16="http://schemas.microsoft.com/office/drawing/2014/main" id="{7CB2E24F-BD91-9799-41D2-EAE8A6A85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9142" y="2644431"/>
                <a:ext cx="1171762" cy="406073"/>
              </a:xfrm>
              <a:prstGeom prst="rect">
                <a:avLst/>
              </a:prstGeom>
              <a:blipFill>
                <a:blip r:embed="rId13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ZoneTexte 103">
                <a:extLst>
                  <a:ext uri="{FF2B5EF4-FFF2-40B4-BE49-F238E27FC236}">
                    <a16:creationId xmlns:a16="http://schemas.microsoft.com/office/drawing/2014/main" id="{773B90A0-AB5B-8732-86E1-D77C56083291}"/>
                  </a:ext>
                </a:extLst>
              </p:cNvPr>
              <p:cNvSpPr txBox="1"/>
              <p:nvPr/>
            </p:nvSpPr>
            <p:spPr>
              <a:xfrm>
                <a:off x="5998411" y="3741995"/>
                <a:ext cx="1302204" cy="438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sSubPr>
                        <m:e>
                          <m:r>
                            <a:rPr lang="fr-FR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fr-FR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𝑐𝑎𝑝𝑖𝑙𝑙𝑎𝑟𝑦</m:t>
                          </m:r>
                        </m:sub>
                      </m:sSub>
                      <m:r>
                        <a:rPr lang="fr-FR" sz="1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fPr>
                        <m:num>
                          <m: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𝜎</m:t>
                          </m:r>
                        </m:num>
                        <m:den>
                          <m:sSub>
                            <m:sSubPr>
                              <m:ctrlPr>
                                <a:rPr lang="fr-FR" sz="1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 Light" panose="020F03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 Light" panose="020F030202020403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 Light" panose="020F0302020204030204" pitchFamily="34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" name="ZoneTexte 103">
                <a:extLst>
                  <a:ext uri="{FF2B5EF4-FFF2-40B4-BE49-F238E27FC236}">
                    <a16:creationId xmlns:a16="http://schemas.microsoft.com/office/drawing/2014/main" id="{773B90A0-AB5B-8732-86E1-D77C56083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411" y="3741995"/>
                <a:ext cx="1302204" cy="43864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ZoneTexte 104">
                <a:extLst>
                  <a:ext uri="{FF2B5EF4-FFF2-40B4-BE49-F238E27FC236}">
                    <a16:creationId xmlns:a16="http://schemas.microsoft.com/office/drawing/2014/main" id="{F0A9CE57-AB68-24E8-EB75-EB7B5A29940A}"/>
                  </a:ext>
                </a:extLst>
              </p:cNvPr>
              <p:cNvSpPr txBox="1"/>
              <p:nvPr/>
            </p:nvSpPr>
            <p:spPr>
              <a:xfrm>
                <a:off x="9412279" y="2297133"/>
                <a:ext cx="1658181" cy="438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sSubPr>
                        <m:e>
                          <m: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𝜏</m:t>
                          </m:r>
                        </m:e>
                        <m:sub>
                          <m:r>
                            <a:rPr lang="fr-FR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𝑐𝑎𝑝𝑖𝑙𝑙𝑎𝑟𝑦</m:t>
                          </m:r>
                        </m:sub>
                      </m:sSub>
                      <m:r>
                        <a:rPr lang="fr-FR" sz="1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fPr>
                        <m:num>
                          <m: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𝜎</m:t>
                          </m:r>
                        </m:num>
                        <m:den>
                          <m: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𝑅</m:t>
                          </m:r>
                        </m:den>
                      </m:f>
                      <m:r>
                        <a:rPr lang="fr-FR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−</m:t>
                      </m:r>
                      <m:f>
                        <m:fPr>
                          <m:ctrlP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fPr>
                        <m:num>
                          <m: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𝜎</m:t>
                          </m:r>
                        </m:num>
                        <m:den>
                          <m:sSub>
                            <m:sSubPr>
                              <m:ctrlPr>
                                <a:rPr lang="fr-FR" sz="1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 Light" panose="020F03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 Light" panose="020F030202020403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 Light" panose="020F0302020204030204" pitchFamily="34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5" name="ZoneTexte 104">
                <a:extLst>
                  <a:ext uri="{FF2B5EF4-FFF2-40B4-BE49-F238E27FC236}">
                    <a16:creationId xmlns:a16="http://schemas.microsoft.com/office/drawing/2014/main" id="{F0A9CE57-AB68-24E8-EB75-EB7B5A299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2279" y="2297133"/>
                <a:ext cx="1658181" cy="43864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ZoneTexte 105">
                <a:extLst>
                  <a:ext uri="{FF2B5EF4-FFF2-40B4-BE49-F238E27FC236}">
                    <a16:creationId xmlns:a16="http://schemas.microsoft.com/office/drawing/2014/main" id="{E7913F33-65AF-2C6B-5B6A-244651AC9783}"/>
                  </a:ext>
                </a:extLst>
              </p:cNvPr>
              <p:cNvSpPr txBox="1"/>
              <p:nvPr/>
            </p:nvSpPr>
            <p:spPr>
              <a:xfrm>
                <a:off x="9615841" y="3860124"/>
                <a:ext cx="1980866" cy="50731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sSubPr>
                        <m:e>
                          <m: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𝜏</m:t>
                          </m:r>
                        </m:e>
                        <m:sub>
                          <m: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𝑐𝑎𝑝𝑖𝑙𝑙𝑎𝑟𝑦</m:t>
                          </m:r>
                        </m:sub>
                      </m:sSub>
                      <m:r>
                        <a:rPr lang="fr-FR" sz="1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 Light" panose="020F03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fPr>
                        <m:num>
                          <m:r>
                            <a:rPr lang="fr-FR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𝜎</m:t>
                          </m:r>
                        </m:num>
                        <m:den>
                          <m:sSub>
                            <m:sSubPr>
                              <m:ctrlPr>
                                <a:rPr lang="fr-FR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 Light" panose="020F03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fr-FR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 Light" panose="020F030202020403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 Light" panose="020F0302020204030204" pitchFamily="34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fr-FR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 Light" panose="020F0302020204030204" pitchFamily="34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 Light" panose="020F03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 Light" panose="020F0302020204030204" pitchFamily="34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 Light" panose="020F0302020204030204" pitchFamily="34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 Light" panose="020F0302020204030204" pitchFamily="34" charset="0"/>
                                </a:rPr>
                                <m:t>𝑅</m:t>
                              </m:r>
                            </m:den>
                          </m:f>
                          <m:r>
                            <a:rPr lang="fr-FR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 Light" panose="020F0302020204030204" pitchFamily="34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" name="ZoneTexte 105">
                <a:extLst>
                  <a:ext uri="{FF2B5EF4-FFF2-40B4-BE49-F238E27FC236}">
                    <a16:creationId xmlns:a16="http://schemas.microsoft.com/office/drawing/2014/main" id="{E7913F33-65AF-2C6B-5B6A-244651AC9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5841" y="3860124"/>
                <a:ext cx="1980866" cy="50731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ZoneTexte 50">
            <a:extLst>
              <a:ext uri="{FF2B5EF4-FFF2-40B4-BE49-F238E27FC236}">
                <a16:creationId xmlns:a16="http://schemas.microsoft.com/office/drawing/2014/main" id="{42799020-A117-4223-9EC8-045DE025DF91}"/>
              </a:ext>
            </a:extLst>
          </p:cNvPr>
          <p:cNvSpPr txBox="1"/>
          <p:nvPr/>
        </p:nvSpPr>
        <p:spPr>
          <a:xfrm>
            <a:off x="5921912" y="3461684"/>
            <a:ext cx="1413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noProof="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At equilibrium</a:t>
            </a:r>
            <a:endParaRPr lang="en-GB" sz="1400" baseline="-25000" noProof="0" dirty="0"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AB30158D-94D1-4B70-A01C-8E0426199F2C}"/>
              </a:ext>
            </a:extLst>
          </p:cNvPr>
          <p:cNvSpPr txBox="1"/>
          <p:nvPr/>
        </p:nvSpPr>
        <p:spPr>
          <a:xfrm>
            <a:off x="9361692" y="1967835"/>
            <a:ext cx="1413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noProof="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Than we write</a:t>
            </a:r>
            <a:endParaRPr lang="en-GB" sz="1400" baseline="-25000" noProof="0" dirty="0"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5A10B754-2BAD-42CD-88B7-B27CCD2D1891}"/>
              </a:ext>
            </a:extLst>
          </p:cNvPr>
          <p:cNvSpPr txBox="1"/>
          <p:nvPr/>
        </p:nvSpPr>
        <p:spPr>
          <a:xfrm>
            <a:off x="9361692" y="3511543"/>
            <a:ext cx="1413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noProof="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And finally</a:t>
            </a:r>
            <a:endParaRPr lang="en-GB" sz="1400" baseline="-25000" noProof="0" dirty="0"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0ECEF9EF-1328-40EC-A58F-3867CEB967B1}"/>
              </a:ext>
            </a:extLst>
          </p:cNvPr>
          <p:cNvSpPr txBox="1"/>
          <p:nvPr/>
        </p:nvSpPr>
        <p:spPr>
          <a:xfrm>
            <a:off x="412490" y="1456004"/>
            <a:ext cx="2719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noProof="0" dirty="0">
                <a:latin typeface="Calibri Light" panose="020F0302020204030204" pitchFamily="34" charset="0"/>
                <a:ea typeface="Cambria" panose="02040503050406030204" pitchFamily="18" charset="0"/>
                <a:cs typeface="Calibri Light" panose="020F0302020204030204" pitchFamily="34" charset="0"/>
              </a:rPr>
              <a:t>By definition, the capillary pressure</a:t>
            </a:r>
            <a:endParaRPr lang="en-GB" sz="1400" baseline="-25000" noProof="0" dirty="0">
              <a:latin typeface="Calibri Light" panose="020F0302020204030204" pitchFamily="34" charset="0"/>
              <a:ea typeface="Cambria" panose="02040503050406030204" pitchFamily="18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5293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MEF template red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MEF">
      <a:majorFont>
        <a:latin typeface="Kozuka Gothic Pro EL"/>
        <a:ea typeface=""/>
        <a:cs typeface=""/>
      </a:majorFont>
      <a:minorFont>
        <a:latin typeface="Century Gothic"/>
        <a:ea typeface=""/>
        <a:cs typeface="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9924D1ECC420D47A2456556BC94F7370400BDF4491DEA4973499845289601F88B9F" ma:contentTypeVersion="55" ma:contentTypeDescription="Create a new document." ma:contentTypeScope="" ma:versionID="41eb558a2b826e6e4f9defd990175bec">
  <xsd:schema xmlns:xsd="http://www.w3.org/2001/XMLSchema" xmlns:xs="http://www.w3.org/2001/XMLSchema" xmlns:p="http://schemas.microsoft.com/office/2006/metadata/properties" xmlns:ns2="6d93d202-47fc-4405-873a-cab67cc5f1b2" xmlns:ns3="64acb2c5-0a2b-4bda-bd34-58e36cbb80d2" targetNamespace="http://schemas.microsoft.com/office/2006/metadata/properties" ma:root="true" ma:fieldsID="19deea0185cf7bc57eee9b90b1ba2ace" ns2:_="" ns3:_="">
    <xsd:import namespace="6d93d202-47fc-4405-873a-cab67cc5f1b2"/>
    <xsd:import namespace="64acb2c5-0a2b-4bda-bd34-58e36cbb80d2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93d202-47fc-4405-873a-cab67cc5f1b2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dc79c007-7f28-4db9-9ba1-525d19a3279b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80C6DD30-196A-4C6B-B1BF-A43F3B8ACD4F}" ma:internalName="CSXSubmissionMarket" ma:readOnly="false" ma:showField="MarketName" ma:web="6d93d202-47fc-4405-873a-cab67cc5f1b2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bb16b974-ed24-4278-8820-8e232d38904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7E2D4CA2-442A-4FDA-AA57-71B8C7B2C53C}" ma:internalName="InProjectListLookup" ma:readOnly="true" ma:showField="InProjectLis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fd9a49dc-3dbf-4047-b62d-1d587abe7b40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7E2D4CA2-442A-4FDA-AA57-71B8C7B2C53C}" ma:internalName="LastCompleteVersionLookup" ma:readOnly="true" ma:showField="LastComplete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7E2D4CA2-442A-4FDA-AA57-71B8C7B2C53C}" ma:internalName="LastPreviewErrorLookup" ma:readOnly="true" ma:showField="LastPreview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7E2D4CA2-442A-4FDA-AA57-71B8C7B2C53C}" ma:internalName="LastPreviewResultLookup" ma:readOnly="true" ma:showField="LastPreview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7E2D4CA2-442A-4FDA-AA57-71B8C7B2C53C}" ma:internalName="LastPreviewAttemptDateLookup" ma:readOnly="true" ma:showField="LastPreview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7E2D4CA2-442A-4FDA-AA57-71B8C7B2C53C}" ma:internalName="LastPreviewedByLookup" ma:readOnly="true" ma:showField="LastPreview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7E2D4CA2-442A-4FDA-AA57-71B8C7B2C53C}" ma:internalName="LastPreviewTimeLookup" ma:readOnly="true" ma:showField="LastPreview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7E2D4CA2-442A-4FDA-AA57-71B8C7B2C53C}" ma:internalName="LastPreviewVersionLookup" ma:readOnly="true" ma:showField="LastPreview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7E2D4CA2-442A-4FDA-AA57-71B8C7B2C53C}" ma:internalName="LastPublishErrorLookup" ma:readOnly="true" ma:showField="LastPublish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7E2D4CA2-442A-4FDA-AA57-71B8C7B2C53C}" ma:internalName="LastPublishResultLookup" ma:readOnly="true" ma:showField="LastPublish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7E2D4CA2-442A-4FDA-AA57-71B8C7B2C53C}" ma:internalName="LastPublishAttemptDateLookup" ma:readOnly="true" ma:showField="LastPublish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7E2D4CA2-442A-4FDA-AA57-71B8C7B2C53C}" ma:internalName="LastPublishedByLookup" ma:readOnly="true" ma:showField="LastPublish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7E2D4CA2-442A-4FDA-AA57-71B8C7B2C53C}" ma:internalName="LastPublishTimeLookup" ma:readOnly="true" ma:showField="LastPublish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7E2D4CA2-442A-4FDA-AA57-71B8C7B2C53C}" ma:internalName="LastPublishVersionLookup" ma:readOnly="true" ma:showField="LastPublish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4CDE398E-75A7-4993-8C61-2BFD31F64754}" ma:internalName="LocLastLocAttemptVersionLookup" ma:readOnly="false" ma:showField="LastLocAttemptVersion" ma:web="6d93d202-47fc-4405-873a-cab67cc5f1b2">
      <xsd:simpleType>
        <xsd:restriction base="dms:Lookup"/>
      </xsd:simpleType>
    </xsd:element>
    <xsd:element name="LocLastLocAttemptVersionTypeLookup" ma:index="72" nillable="true" ma:displayName="Loc Last Loc Attempt Version Type" ma:default="" ma:list="{4CDE398E-75A7-4993-8C61-2BFD31F64754}" ma:internalName="LocLastLocAttemptVersionTypeLookup" ma:readOnly="true" ma:showField="LastLocAttemptVersionType" ma:web="6d93d202-47fc-4405-873a-cab67cc5f1b2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4CDE398E-75A7-4993-8C61-2BFD31F64754}" ma:internalName="LocNewPublishedVersionLookup" ma:readOnly="true" ma:showField="NewPublishedVersion" ma:web="6d93d202-47fc-4405-873a-cab67cc5f1b2">
      <xsd:simpleType>
        <xsd:restriction base="dms:Lookup"/>
      </xsd:simpleType>
    </xsd:element>
    <xsd:element name="LocOverallHandbackStatusLookup" ma:index="76" nillable="true" ma:displayName="Loc Overall Handback Status" ma:default="" ma:list="{4CDE398E-75A7-4993-8C61-2BFD31F64754}" ma:internalName="LocOverallHandbackStatusLookup" ma:readOnly="true" ma:showField="OverallHandbackStatus" ma:web="6d93d202-47fc-4405-873a-cab67cc5f1b2">
      <xsd:simpleType>
        <xsd:restriction base="dms:Lookup"/>
      </xsd:simpleType>
    </xsd:element>
    <xsd:element name="LocOverallLocStatusLookup" ma:index="77" nillable="true" ma:displayName="Loc Overall Localize Status" ma:default="" ma:list="{4CDE398E-75A7-4993-8C61-2BFD31F64754}" ma:internalName="LocOverallLocStatusLookup" ma:readOnly="true" ma:showField="OverallLocStatus" ma:web="6d93d202-47fc-4405-873a-cab67cc5f1b2">
      <xsd:simpleType>
        <xsd:restriction base="dms:Lookup"/>
      </xsd:simpleType>
    </xsd:element>
    <xsd:element name="LocOverallPreviewStatusLookup" ma:index="78" nillable="true" ma:displayName="Loc Overall Preview Status" ma:default="" ma:list="{4CDE398E-75A7-4993-8C61-2BFD31F64754}" ma:internalName="LocOverallPreviewStatusLookup" ma:readOnly="true" ma:showField="OverallPreviewStatus" ma:web="6d93d202-47fc-4405-873a-cab67cc5f1b2">
      <xsd:simpleType>
        <xsd:restriction base="dms:Lookup"/>
      </xsd:simpleType>
    </xsd:element>
    <xsd:element name="LocOverallPublishStatusLookup" ma:index="79" nillable="true" ma:displayName="Loc Overall Publish Status" ma:default="" ma:list="{4CDE398E-75A7-4993-8C61-2BFD31F64754}" ma:internalName="LocOverallPublishStatusLookup" ma:readOnly="true" ma:showField="OverallPublishStatus" ma:web="6d93d202-47fc-4405-873a-cab67cc5f1b2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4CDE398E-75A7-4993-8C61-2BFD31F64754}" ma:internalName="LocProcessedForHandoffsLookup" ma:readOnly="true" ma:showField="ProcessedForHandoffs" ma:web="6d93d202-47fc-4405-873a-cab67cc5f1b2">
      <xsd:simpleType>
        <xsd:restriction base="dms:Lookup"/>
      </xsd:simpleType>
    </xsd:element>
    <xsd:element name="LocProcessedForMarketsLookup" ma:index="82" nillable="true" ma:displayName="Loc Processed For Markets" ma:default="" ma:list="{4CDE398E-75A7-4993-8C61-2BFD31F64754}" ma:internalName="LocProcessedForMarketsLookup" ma:readOnly="true" ma:showField="ProcessedForMarkets" ma:web="6d93d202-47fc-4405-873a-cab67cc5f1b2">
      <xsd:simpleType>
        <xsd:restriction base="dms:Lookup"/>
      </xsd:simpleType>
    </xsd:element>
    <xsd:element name="LocPublishedDependentAssetsLookup" ma:index="83" nillable="true" ma:displayName="Loc Published Dependent Assets" ma:default="" ma:list="{4CDE398E-75A7-4993-8C61-2BFD31F64754}" ma:internalName="LocPublishedDependentAssetsLookup" ma:readOnly="true" ma:showField="PublishedDependentAssets" ma:web="6d93d202-47fc-4405-873a-cab67cc5f1b2">
      <xsd:simpleType>
        <xsd:restriction base="dms:Lookup"/>
      </xsd:simpleType>
    </xsd:element>
    <xsd:element name="LocPublishedLinkedAssetsLookup" ma:index="84" nillable="true" ma:displayName="Loc Published Linked Assets" ma:default="" ma:list="{4CDE398E-75A7-4993-8C61-2BFD31F64754}" ma:internalName="LocPublishedLinkedAssetsLookup" ma:readOnly="true" ma:showField="PublishedLinkedAssets" ma:web="6d93d202-47fc-4405-873a-cab67cc5f1b2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db560eb5-700a-4f94-8fda-b57de4261f12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80C6DD30-196A-4C6B-B1BF-A43F3B8ACD4F}" ma:internalName="Markets" ma:readOnly="false" ma:showField="MarketNa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7E2D4CA2-442A-4FDA-AA57-71B8C7B2C53C}" ma:internalName="NumOfRatingsLookup" ma:readOnly="true" ma:showField="NumOfRating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7E2D4CA2-442A-4FDA-AA57-71B8C7B2C53C}" ma:internalName="PublishStatusLookup" ma:readOnly="false" ma:showField="PublishStatu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6e3f7319-fb8f-4449-8902-000ab73a8566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11d213f5-ec09-44b6-a8be-9da225be7a8d}" ma:internalName="TaxCatchAll" ma:showField="CatchAllData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11d213f5-ec09-44b6-a8be-9da225be7a8d}" ma:internalName="TaxCatchAllLabel" ma:readOnly="true" ma:showField="CatchAllDataLabel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acb2c5-0a2b-4bda-bd34-58e36cbb80d2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6d93d202-47fc-4405-873a-cab67cc5f1b2" xsi:nil="true"/>
    <AssetExpire xmlns="6d93d202-47fc-4405-873a-cab67cc5f1b2">2029-01-01T08:00:00+00:00</AssetExpire>
    <CampaignTagsTaxHTField0 xmlns="6d93d202-47fc-4405-873a-cab67cc5f1b2">
      <Terms xmlns="http://schemas.microsoft.com/office/infopath/2007/PartnerControls"/>
    </CampaignTagsTaxHTField0>
    <IntlLangReviewDate xmlns="6d93d202-47fc-4405-873a-cab67cc5f1b2" xsi:nil="true"/>
    <TPFriendlyName xmlns="6d93d202-47fc-4405-873a-cab67cc5f1b2" xsi:nil="true"/>
    <IntlLangReview xmlns="6d93d202-47fc-4405-873a-cab67cc5f1b2">false</IntlLangReview>
    <LocLastLocAttemptVersionLookup xmlns="6d93d202-47fc-4405-873a-cab67cc5f1b2">847778</LocLastLocAttemptVersionLookup>
    <PolicheckWords xmlns="6d93d202-47fc-4405-873a-cab67cc5f1b2" xsi:nil="true"/>
    <SubmitterId xmlns="6d93d202-47fc-4405-873a-cab67cc5f1b2" xsi:nil="true"/>
    <AcquiredFrom xmlns="6d93d202-47fc-4405-873a-cab67cc5f1b2">Internal MS</AcquiredFrom>
    <EditorialStatus xmlns="6d93d202-47fc-4405-873a-cab67cc5f1b2">Complete</EditorialStatus>
    <Markets xmlns="6d93d202-47fc-4405-873a-cab67cc5f1b2"/>
    <OriginAsset xmlns="6d93d202-47fc-4405-873a-cab67cc5f1b2" xsi:nil="true"/>
    <AssetStart xmlns="6d93d202-47fc-4405-873a-cab67cc5f1b2">2012-07-18T23:36:00+00:00</AssetStart>
    <FriendlyTitle xmlns="6d93d202-47fc-4405-873a-cab67cc5f1b2" xsi:nil="true"/>
    <MarketSpecific xmlns="6d93d202-47fc-4405-873a-cab67cc5f1b2">false</MarketSpecific>
    <TPNamespace xmlns="6d93d202-47fc-4405-873a-cab67cc5f1b2" xsi:nil="true"/>
    <PublishStatusLookup xmlns="6d93d202-47fc-4405-873a-cab67cc5f1b2">
      <Value>497326</Value>
    </PublishStatusLookup>
    <APAuthor xmlns="6d93d202-47fc-4405-873a-cab67cc5f1b2">
      <UserInfo>
        <DisplayName>REDMOND\v-alekha</DisplayName>
        <AccountId>2912</AccountId>
        <AccountType/>
      </UserInfo>
    </APAuthor>
    <TPCommandLine xmlns="6d93d202-47fc-4405-873a-cab67cc5f1b2" xsi:nil="true"/>
    <IntlLangReviewer xmlns="6d93d202-47fc-4405-873a-cab67cc5f1b2" xsi:nil="true"/>
    <OpenTemplate xmlns="6d93d202-47fc-4405-873a-cab67cc5f1b2">true</OpenTemplate>
    <CSXSubmissionDate xmlns="6d93d202-47fc-4405-873a-cab67cc5f1b2" xsi:nil="true"/>
    <TaxCatchAll xmlns="6d93d202-47fc-4405-873a-cab67cc5f1b2"/>
    <Manager xmlns="6d93d202-47fc-4405-873a-cab67cc5f1b2" xsi:nil="true"/>
    <NumericId xmlns="6d93d202-47fc-4405-873a-cab67cc5f1b2" xsi:nil="true"/>
    <ParentAssetId xmlns="6d93d202-47fc-4405-873a-cab67cc5f1b2" xsi:nil="true"/>
    <OriginalSourceMarket xmlns="6d93d202-47fc-4405-873a-cab67cc5f1b2">english</OriginalSourceMarket>
    <ApprovalStatus xmlns="6d93d202-47fc-4405-873a-cab67cc5f1b2">InProgress</ApprovalStatus>
    <TPComponent xmlns="6d93d202-47fc-4405-873a-cab67cc5f1b2" xsi:nil="true"/>
    <EditorialTags xmlns="6d93d202-47fc-4405-873a-cab67cc5f1b2" xsi:nil="true"/>
    <TPExecutable xmlns="6d93d202-47fc-4405-873a-cab67cc5f1b2" xsi:nil="true"/>
    <TPLaunchHelpLink xmlns="6d93d202-47fc-4405-873a-cab67cc5f1b2" xsi:nil="true"/>
    <LocComments xmlns="6d93d202-47fc-4405-873a-cab67cc5f1b2" xsi:nil="true"/>
    <LocRecommendedHandoff xmlns="6d93d202-47fc-4405-873a-cab67cc5f1b2" xsi:nil="true"/>
    <SourceTitle xmlns="6d93d202-47fc-4405-873a-cab67cc5f1b2" xsi:nil="true"/>
    <CSXUpdate xmlns="6d93d202-47fc-4405-873a-cab67cc5f1b2">false</CSXUpdate>
    <IntlLocPriority xmlns="6d93d202-47fc-4405-873a-cab67cc5f1b2" xsi:nil="true"/>
    <UAProjectedTotalWords xmlns="6d93d202-47fc-4405-873a-cab67cc5f1b2" xsi:nil="true"/>
    <AssetType xmlns="6d93d202-47fc-4405-873a-cab67cc5f1b2">TP</AssetType>
    <MachineTranslated xmlns="6d93d202-47fc-4405-873a-cab67cc5f1b2">false</MachineTranslated>
    <OutputCachingOn xmlns="6d93d202-47fc-4405-873a-cab67cc5f1b2">false</OutputCachingOn>
    <TemplateStatus xmlns="6d93d202-47fc-4405-873a-cab67cc5f1b2">Complete</TemplateStatus>
    <IsSearchable xmlns="6d93d202-47fc-4405-873a-cab67cc5f1b2">true</IsSearchable>
    <ContentItem xmlns="6d93d202-47fc-4405-873a-cab67cc5f1b2" xsi:nil="true"/>
    <HandoffToMSDN xmlns="6d93d202-47fc-4405-873a-cab67cc5f1b2" xsi:nil="true"/>
    <ShowIn xmlns="6d93d202-47fc-4405-873a-cab67cc5f1b2">Show everywhere</ShowIn>
    <ThumbnailAssetId xmlns="6d93d202-47fc-4405-873a-cab67cc5f1b2" xsi:nil="true"/>
    <UALocComments xmlns="6d93d202-47fc-4405-873a-cab67cc5f1b2" xsi:nil="true"/>
    <UALocRecommendation xmlns="6d93d202-47fc-4405-873a-cab67cc5f1b2">Localize</UALocRecommendation>
    <LastModifiedDateTime xmlns="6d93d202-47fc-4405-873a-cab67cc5f1b2" xsi:nil="true"/>
    <LegacyData xmlns="6d93d202-47fc-4405-873a-cab67cc5f1b2" xsi:nil="true"/>
    <LocManualTestRequired xmlns="6d93d202-47fc-4405-873a-cab67cc5f1b2">false</LocManualTestRequired>
    <LocMarketGroupTiers2 xmlns="6d93d202-47fc-4405-873a-cab67cc5f1b2" xsi:nil="true"/>
    <ClipArtFilename xmlns="6d93d202-47fc-4405-873a-cab67cc5f1b2" xsi:nil="true"/>
    <TPApplication xmlns="6d93d202-47fc-4405-873a-cab67cc5f1b2" xsi:nil="true"/>
    <CSXHash xmlns="6d93d202-47fc-4405-873a-cab67cc5f1b2" xsi:nil="true"/>
    <DirectSourceMarket xmlns="6d93d202-47fc-4405-873a-cab67cc5f1b2">english</DirectSourceMarket>
    <PrimaryImageGen xmlns="6d93d202-47fc-4405-873a-cab67cc5f1b2">true</PrimaryImageGen>
    <PlannedPubDate xmlns="6d93d202-47fc-4405-873a-cab67cc5f1b2" xsi:nil="true"/>
    <CSXSubmissionMarket xmlns="6d93d202-47fc-4405-873a-cab67cc5f1b2" xsi:nil="true"/>
    <Downloads xmlns="6d93d202-47fc-4405-873a-cab67cc5f1b2">0</Downloads>
    <ArtSampleDocs xmlns="6d93d202-47fc-4405-873a-cab67cc5f1b2" xsi:nil="true"/>
    <TrustLevel xmlns="6d93d202-47fc-4405-873a-cab67cc5f1b2">1 Microsoft Managed Content</TrustLevel>
    <BlockPublish xmlns="6d93d202-47fc-4405-873a-cab67cc5f1b2">false</BlockPublish>
    <TPLaunchHelpLinkType xmlns="6d93d202-47fc-4405-873a-cab67cc5f1b2">Template</TPLaunchHelpLinkType>
    <LocalizationTagsTaxHTField0 xmlns="6d93d202-47fc-4405-873a-cab67cc5f1b2">
      <Terms xmlns="http://schemas.microsoft.com/office/infopath/2007/PartnerControls"/>
    </LocalizationTagsTaxHTField0>
    <BusinessGroup xmlns="6d93d202-47fc-4405-873a-cab67cc5f1b2" xsi:nil="true"/>
    <Providers xmlns="6d93d202-47fc-4405-873a-cab67cc5f1b2" xsi:nil="true"/>
    <TemplateTemplateType xmlns="6d93d202-47fc-4405-873a-cab67cc5f1b2">PowerPoint Presentation Template</TemplateTemplateType>
    <TimesCloned xmlns="6d93d202-47fc-4405-873a-cab67cc5f1b2" xsi:nil="true"/>
    <TPAppVersion xmlns="6d93d202-47fc-4405-873a-cab67cc5f1b2" xsi:nil="true"/>
    <VoteCount xmlns="6d93d202-47fc-4405-873a-cab67cc5f1b2" xsi:nil="true"/>
    <AverageRating xmlns="6d93d202-47fc-4405-873a-cab67cc5f1b2" xsi:nil="true"/>
    <FeatureTagsTaxHTField0 xmlns="6d93d202-47fc-4405-873a-cab67cc5f1b2">
      <Terms xmlns="http://schemas.microsoft.com/office/infopath/2007/PartnerControls"/>
    </FeatureTagsTaxHTField0>
    <Provider xmlns="6d93d202-47fc-4405-873a-cab67cc5f1b2" xsi:nil="true"/>
    <UACurrentWords xmlns="6d93d202-47fc-4405-873a-cab67cc5f1b2" xsi:nil="true"/>
    <AssetId xmlns="6d93d202-47fc-4405-873a-cab67cc5f1b2">TP103039515</AssetId>
    <TPClientViewer xmlns="6d93d202-47fc-4405-873a-cab67cc5f1b2" xsi:nil="true"/>
    <DSATActionTaken xmlns="6d93d202-47fc-4405-873a-cab67cc5f1b2" xsi:nil="true"/>
    <APEditor xmlns="6d93d202-47fc-4405-873a-cab67cc5f1b2">
      <UserInfo>
        <DisplayName/>
        <AccountId xsi:nil="true"/>
        <AccountType/>
      </UserInfo>
    </APEditor>
    <TPInstallLocation xmlns="6d93d202-47fc-4405-873a-cab67cc5f1b2" xsi:nil="true"/>
    <OOCacheId xmlns="6d93d202-47fc-4405-873a-cab67cc5f1b2" xsi:nil="true"/>
    <IsDeleted xmlns="6d93d202-47fc-4405-873a-cab67cc5f1b2">false</IsDeleted>
    <PublishTargets xmlns="6d93d202-47fc-4405-873a-cab67cc5f1b2">OfficeOnlineVNext</PublishTargets>
    <ApprovalLog xmlns="6d93d202-47fc-4405-873a-cab67cc5f1b2" xsi:nil="true"/>
    <BugNumber xmlns="6d93d202-47fc-4405-873a-cab67cc5f1b2" xsi:nil="true"/>
    <CrawlForDependencies xmlns="6d93d202-47fc-4405-873a-cab67cc5f1b2">false</CrawlForDependencies>
    <InternalTagsTaxHTField0 xmlns="6d93d202-47fc-4405-873a-cab67cc5f1b2">
      <Terms xmlns="http://schemas.microsoft.com/office/infopath/2007/PartnerControls"/>
    </InternalTagsTaxHTField0>
    <LastHandOff xmlns="6d93d202-47fc-4405-873a-cab67cc5f1b2" xsi:nil="true"/>
    <Milestone xmlns="6d93d202-47fc-4405-873a-cab67cc5f1b2" xsi:nil="true"/>
    <OriginalRelease xmlns="6d93d202-47fc-4405-873a-cab67cc5f1b2">15</OriginalRelease>
    <RecommendationsModifier xmlns="6d93d202-47fc-4405-873a-cab67cc5f1b2" xsi:nil="true"/>
    <ScenarioTagsTaxHTField0 xmlns="6d93d202-47fc-4405-873a-cab67cc5f1b2">
      <Terms xmlns="http://schemas.microsoft.com/office/infopath/2007/PartnerControls"/>
    </ScenarioTagsTaxHTField0>
    <UANotes xmlns="6d93d202-47fc-4405-873a-cab67cc5f1b2" xsi:nil="true"/>
    <Component xmlns="64acb2c5-0a2b-4bda-bd34-58e36cbb80d2" xsi:nil="true"/>
    <Description0 xmlns="64acb2c5-0a2b-4bda-bd34-58e36cbb80d2" xsi:nil="true"/>
  </documentManagement>
</p:properties>
</file>

<file path=customXml/itemProps1.xml><?xml version="1.0" encoding="utf-8"?>
<ds:datastoreItem xmlns:ds="http://schemas.openxmlformats.org/officeDocument/2006/customXml" ds:itemID="{4AE901BC-D190-49E6-8B33-2F32A0F2BF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52BFCB-2CC8-4BA2-97C8-FEA5C605A5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93d202-47fc-4405-873a-cab67cc5f1b2"/>
    <ds:schemaRef ds:uri="64acb2c5-0a2b-4bda-bd34-58e36cbb80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EAE737A-72D2-4F07-84A4-D46333E273A5}">
  <ds:schemaRefs>
    <ds:schemaRef ds:uri="6d93d202-47fc-4405-873a-cab67cc5f1b2"/>
    <ds:schemaRef ds:uri="http://purl.org/dc/elements/1.1/"/>
    <ds:schemaRef ds:uri="http://purl.org/dc/terms/"/>
    <ds:schemaRef ds:uri="http://www.w3.org/XML/1998/namespace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64acb2c5-0a2b-4bda-bd34-58e36cbb80d2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16218</TotalTime>
  <Words>335</Words>
  <Application>Microsoft Office PowerPoint</Application>
  <PresentationFormat>Grand écran</PresentationFormat>
  <Paragraphs>78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11" baseType="lpstr">
      <vt:lpstr>Calibri</vt:lpstr>
      <vt:lpstr>Calibri Light</vt:lpstr>
      <vt:lpstr>Cambria</vt:lpstr>
      <vt:lpstr>Cambria Math</vt:lpstr>
      <vt:lpstr>Century Gothic</vt:lpstr>
      <vt:lpstr>Kozuka Gothic Pro EL</vt:lpstr>
      <vt:lpstr>Symbol</vt:lpstr>
      <vt:lpstr>Wingdings 3</vt:lpstr>
      <vt:lpstr>CEMEF template red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Edith PEUVREL-DISDIER</dc:creator>
  <cp:lastModifiedBy>Anselmo SOEIRO PEREIRA</cp:lastModifiedBy>
  <cp:revision>133</cp:revision>
  <dcterms:created xsi:type="dcterms:W3CDTF">2017-10-12T11:51:05Z</dcterms:created>
  <dcterms:modified xsi:type="dcterms:W3CDTF">2026-01-06T10:32:17Z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0x01010069924D1ECC420D47A2456556BC94F7370400BDF4491DEA4973499845289601F88B9F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HiddenCategoryTags">
    <vt:lpwstr/>
  </property>
  <property fmtid="{D5CDD505-2E9C-101B-9397-08002B2CF9AE}" pid="9" name="CategoryTags">
    <vt:lpwstr/>
  </property>
  <property fmtid="{D5CDD505-2E9C-101B-9397-08002B2CF9AE}" pid="10" name="LocMarketGroupTiers">
    <vt:lpwstr/>
  </property>
  <property fmtid="{D5CDD505-2E9C-101B-9397-08002B2CF9AE}" pid="11" name="CategoryTagsTaxHTField0">
    <vt:lpwstr/>
  </property>
  <property fmtid="{D5CDD505-2E9C-101B-9397-08002B2CF9AE}" pid="12" name="HiddenCategoryTagsTaxHTField0">
    <vt:lpwstr/>
  </property>
</Properties>
</file>