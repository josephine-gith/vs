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0" r:id="rId4"/>
  </p:sldMasterIdLst>
  <p:notesMasterIdLst>
    <p:notesMasterId r:id="rId6"/>
  </p:notesMasterIdLst>
  <p:handoutMasterIdLst>
    <p:handoutMasterId r:id="rId7"/>
  </p:handoutMasterIdLst>
  <p:sldIdLst>
    <p:sldId id="432" r:id="rId5"/>
  </p:sldIdLst>
  <p:sldSz cx="12192000" cy="6858000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7B93AA28-F3ED-448A-ADB4-5570FE00D17D}">
          <p14:sldIdLst/>
        </p14:section>
        <p14:section name="Présentation des équipes" id="{4CE093F1-DA41-4295-A923-2EE2D5F13C7E}">
          <p14:sldIdLst>
            <p14:sldId id="43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2">
          <p15:clr>
            <a:srgbClr val="A4A3A4"/>
          </p15:clr>
        </p15:guide>
        <p15:guide id="2" pos="221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AD6"/>
    <a:srgbClr val="C9E8FF"/>
    <a:srgbClr val="FF33CC"/>
    <a:srgbClr val="00A249"/>
    <a:srgbClr val="FB8E21"/>
    <a:srgbClr val="E67504"/>
    <a:srgbClr val="FF5050"/>
    <a:srgbClr val="FF9900"/>
    <a:srgbClr val="FF7C8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268" autoAdjust="0"/>
  </p:normalViewPr>
  <p:slideViewPr>
    <p:cSldViewPr snapToGrid="0" showGuides="1">
      <p:cViewPr varScale="1">
        <p:scale>
          <a:sx n="160" d="100"/>
          <a:sy n="160" d="100"/>
        </p:scale>
        <p:origin x="2586" y="1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-3780" y="-78"/>
      </p:cViewPr>
      <p:guideLst>
        <p:guide orient="horz" pos="2932"/>
        <p:guide pos="221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eur\Documents\My_scientific_works\DoD\Grapher_results\DoD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rheometer</c:v>
          </c:tx>
          <c:spPr>
            <a:ln w="19050" cap="rnd">
              <a:noFill/>
              <a:round/>
            </a:ln>
            <a:effectLst/>
          </c:spPr>
          <c:marker>
            <c:symbol val="circle"/>
            <c:size val="9"/>
            <c:spPr>
              <a:solidFill>
                <a:srgbClr val="FF00FF"/>
              </a:solidFill>
              <a:ln w="9525">
                <a:solidFill>
                  <a:schemeClr val="tx1"/>
                </a:solidFill>
              </a:ln>
              <a:effectLst/>
            </c:spPr>
          </c:marker>
          <c:xVal>
            <c:numRef>
              <c:f>Feuil4!$B$3:$B$13</c:f>
              <c:numCache>
                <c:formatCode>General</c:formatCode>
                <c:ptCount val="11"/>
                <c:pt idx="0">
                  <c:v>9.8999542533494994E-2</c:v>
                </c:pt>
                <c:pt idx="1">
                  <c:v>0.15564663575047599</c:v>
                </c:pt>
                <c:pt idx="2">
                  <c:v>0.249677790636498</c:v>
                </c:pt>
                <c:pt idx="3">
                  <c:v>0.40456368790224101</c:v>
                </c:pt>
                <c:pt idx="4">
                  <c:v>0.61097888399118805</c:v>
                </c:pt>
                <c:pt idx="5">
                  <c:v>1</c:v>
                </c:pt>
                <c:pt idx="6">
                  <c:v>1.5564663575047499</c:v>
                </c:pt>
                <c:pt idx="7">
                  <c:v>2.5220095391049302</c:v>
                </c:pt>
                <c:pt idx="8">
                  <c:v>3.9254230009229101</c:v>
                </c:pt>
                <c:pt idx="9">
                  <c:v>6.2968976968789399</c:v>
                </c:pt>
                <c:pt idx="10">
                  <c:v>9.9999999999999893</c:v>
                </c:pt>
              </c:numCache>
            </c:numRef>
          </c:xVal>
          <c:yVal>
            <c:numRef>
              <c:f>Feuil4!$D$3:$D$13</c:f>
              <c:numCache>
                <c:formatCode>General</c:formatCode>
                <c:ptCount val="11"/>
                <c:pt idx="0">
                  <c:v>127.67277678348687</c:v>
                </c:pt>
                <c:pt idx="1">
                  <c:v>140.98446029981815</c:v>
                </c:pt>
                <c:pt idx="2">
                  <c:v>157.31293329409641</c:v>
                </c:pt>
                <c:pt idx="3">
                  <c:v>178.09601111763808</c:v>
                </c:pt>
                <c:pt idx="4">
                  <c:v>200.23097412616707</c:v>
                </c:pt>
                <c:pt idx="5">
                  <c:v>235.31883555857101</c:v>
                </c:pt>
                <c:pt idx="6">
                  <c:v>271.41479945051549</c:v>
                </c:pt>
                <c:pt idx="7">
                  <c:v>320.83640545051867</c:v>
                </c:pt>
                <c:pt idx="8">
                  <c:v>375.44992382055159</c:v>
                </c:pt>
                <c:pt idx="9">
                  <c:v>453.40514468791019</c:v>
                </c:pt>
                <c:pt idx="10">
                  <c:v>540.1728488383884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EA1-4384-93BF-7D44D15E79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51933087"/>
        <c:axId val="1143415871"/>
      </c:scatterChart>
      <c:scatterChart>
        <c:scatterStyle val="smoothMarker"/>
        <c:varyColors val="0"/>
        <c:ser>
          <c:idx val="1"/>
          <c:order val="1"/>
          <c:tx>
            <c:v>Herschel–Bulkley equation</c:v>
          </c:tx>
          <c:spPr>
            <a:ln w="19050" cap="rnd">
              <a:solidFill>
                <a:srgbClr val="0070C0"/>
              </a:solidFill>
              <a:round/>
            </a:ln>
            <a:effectLst/>
          </c:spPr>
          <c:marker>
            <c:symbol val="none"/>
          </c:marker>
          <c:xVal>
            <c:numRef>
              <c:f>Feuil4!$B$3:$B$13</c:f>
              <c:numCache>
                <c:formatCode>General</c:formatCode>
                <c:ptCount val="11"/>
                <c:pt idx="0">
                  <c:v>9.8999542533494994E-2</c:v>
                </c:pt>
                <c:pt idx="1">
                  <c:v>0.15564663575047599</c:v>
                </c:pt>
                <c:pt idx="2">
                  <c:v>0.249677790636498</c:v>
                </c:pt>
                <c:pt idx="3">
                  <c:v>0.40456368790224101</c:v>
                </c:pt>
                <c:pt idx="4">
                  <c:v>0.61097888399118805</c:v>
                </c:pt>
                <c:pt idx="5">
                  <c:v>1</c:v>
                </c:pt>
                <c:pt idx="6">
                  <c:v>1.5564663575047499</c:v>
                </c:pt>
                <c:pt idx="7">
                  <c:v>2.5220095391049302</c:v>
                </c:pt>
                <c:pt idx="8">
                  <c:v>3.9254230009229101</c:v>
                </c:pt>
                <c:pt idx="9">
                  <c:v>6.2968976968789399</c:v>
                </c:pt>
                <c:pt idx="10">
                  <c:v>9.9999999999999893</c:v>
                </c:pt>
              </c:numCache>
            </c:numRef>
          </c:xVal>
          <c:yVal>
            <c:numRef>
              <c:f>Feuil4!$H$3:$H$13</c:f>
              <c:numCache>
                <c:formatCode>General</c:formatCode>
                <c:ptCount val="11"/>
                <c:pt idx="0">
                  <c:v>125.04596874731736</c:v>
                </c:pt>
                <c:pt idx="1">
                  <c:v>138.60576037336372</c:v>
                </c:pt>
                <c:pt idx="2">
                  <c:v>156.04788925319781</c:v>
                </c:pt>
                <c:pt idx="3">
                  <c:v>178.13396971359083</c:v>
                </c:pt>
                <c:pt idx="4">
                  <c:v>201.19485817424135</c:v>
                </c:pt>
                <c:pt idx="5">
                  <c:v>235</c:v>
                </c:pt>
                <c:pt idx="6">
                  <c:v>272.44921867902929</c:v>
                </c:pt>
                <c:pt idx="7">
                  <c:v>322.77152897937293</c:v>
                </c:pt>
                <c:pt idx="8">
                  <c:v>379.55589579099893</c:v>
                </c:pt>
                <c:pt idx="9">
                  <c:v>454.09523138739814</c:v>
                </c:pt>
                <c:pt idx="10">
                  <c:v>544.12509831495686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DEA1-4384-93BF-7D44D15E79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51933087"/>
        <c:axId val="1143415871"/>
      </c:scatterChart>
      <c:valAx>
        <c:axId val="1151933087"/>
        <c:scaling>
          <c:logBase val="10"/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5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lt"/>
                    <a:ea typeface="+mn-ea"/>
                    <a:cs typeface="+mn-cs"/>
                  </a:defRPr>
                </a:pPr>
                <a:r>
                  <a:rPr lang="fr-FR" sz="1500">
                    <a:latin typeface="+mj-lt"/>
                  </a:rPr>
                  <a:t>strain rate [1/s]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5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ea typeface="+mn-ea"/>
                  <a:cs typeface="+mn-cs"/>
                </a:defRPr>
              </a:pPr>
              <a:endParaRPr lang="fr-FR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pPr>
            <a:endParaRPr lang="fr-FR"/>
          </a:p>
        </c:txPr>
        <c:crossAx val="1143415871"/>
        <c:crosses val="autoZero"/>
        <c:crossBetween val="midCat"/>
      </c:valAx>
      <c:valAx>
        <c:axId val="11434158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5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lt"/>
                    <a:ea typeface="+mn-ea"/>
                    <a:cs typeface="+mn-cs"/>
                  </a:defRPr>
                </a:pPr>
                <a:r>
                  <a:rPr lang="fr-FR" sz="1500">
                    <a:latin typeface="+mj-lt"/>
                  </a:rPr>
                  <a:t>shear stress [Pa]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5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ea typeface="+mn-ea"/>
                  <a:cs typeface="+mn-cs"/>
                </a:defRPr>
              </a:pPr>
              <a:endParaRPr lang="fr-FR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pPr>
            <a:endParaRPr lang="fr-FR"/>
          </a:p>
        </c:txPr>
        <c:crossAx val="1151933087"/>
        <c:crossesAt val="1.0000000000000002E-2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8275" y="0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74AC39-44E6-425E-AF49-CF7D189F346F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375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8275" y="8842375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20F472-929B-459B-8D82-2FABCC5B32A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2641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DF2775BC-6312-42C7-B7C5-EA6783C2D9CA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80004"/>
            <a:ext cx="5618480" cy="3665458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67F715A1-4ADC-44E0-9587-804FF39D6B2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842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rcalair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0" y="3073400"/>
            <a:ext cx="12195398" cy="3124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3476757"/>
            <a:ext cx="10427444" cy="8103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434481"/>
            <a:ext cx="10427445" cy="860400"/>
          </a:xfrm>
        </p:spPr>
        <p:txBody>
          <a:bodyPr anchor="ctr" anchorCtr="0"/>
          <a:lstStyle>
            <a:lvl1pPr marL="0" indent="0" algn="l">
              <a:buNone/>
              <a:defRPr sz="2000" kern="0" cap="all" spc="40" baseline="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Modifiez les styles du texte du masque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0315" y="5816599"/>
            <a:ext cx="3859795" cy="304801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>
                <a:latin typeface="+mj-lt"/>
              </a:rPr>
              <a:t>Evaluation</a:t>
            </a:r>
            <a:r>
              <a:rPr lang="en-US"/>
              <a:t> HCERES 27-28 </a:t>
            </a:r>
            <a:r>
              <a:rPr lang="en-US" err="1"/>
              <a:t>nov.</a:t>
            </a:r>
            <a:r>
              <a:rPr lang="en-US"/>
              <a:t> 17</a:t>
            </a:r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8314" y="308012"/>
            <a:ext cx="696588" cy="622225"/>
          </a:xfrm>
          <a:prstGeom prst="rect">
            <a:avLst/>
          </a:prstGeom>
        </p:spPr>
      </p:pic>
      <p:pic>
        <p:nvPicPr>
          <p:cNvPr id="9" name="Picture 100" descr="logo_ceme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403" y="548118"/>
            <a:ext cx="713921" cy="2601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Image 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394" y="548118"/>
            <a:ext cx="420140" cy="255903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829" y="527742"/>
            <a:ext cx="280565" cy="28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998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lanche de contenu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 userDrawn="1"/>
        </p:nvSpPr>
        <p:spPr>
          <a:xfrm>
            <a:off x="0" y="6237312"/>
            <a:ext cx="12319000" cy="620688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>
              <a:rot lat="0" lon="0" rev="30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19"/>
          <p:cNvSpPr/>
          <p:nvPr userDrawn="1"/>
        </p:nvSpPr>
        <p:spPr>
          <a:xfrm>
            <a:off x="11477840" y="0"/>
            <a:ext cx="580554" cy="1066800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586" y="81243"/>
            <a:ext cx="11104392" cy="720000"/>
          </a:xfr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lIns="144000" tIns="72000"/>
          <a:lstStyle>
            <a:lvl1pPr>
              <a:defRPr sz="3600"/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9720" y="1582057"/>
            <a:ext cx="11405579" cy="4836552"/>
          </a:xfrm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defRPr>
                <a:solidFill>
                  <a:schemeClr val="tx1"/>
                </a:solidFill>
              </a:defRPr>
            </a:lvl1pPr>
            <a:lvl2pPr>
              <a:spcBef>
                <a:spcPts val="600"/>
              </a:spcBef>
              <a:buClr>
                <a:schemeClr val="tx2"/>
              </a:buClr>
              <a:defRPr>
                <a:solidFill>
                  <a:schemeClr val="tx1"/>
                </a:solidFill>
              </a:defRPr>
            </a:lvl2pPr>
            <a:lvl3pPr>
              <a:spcBef>
                <a:spcPts val="600"/>
              </a:spcBef>
              <a:buClr>
                <a:schemeClr val="tx2"/>
              </a:buClr>
              <a:defRPr>
                <a:solidFill>
                  <a:schemeClr val="tx1"/>
                </a:solidFill>
              </a:defRPr>
            </a:lvl3pPr>
            <a:lvl4pPr>
              <a:spcBef>
                <a:spcPts val="600"/>
              </a:spcBef>
              <a:buClr>
                <a:schemeClr val="tx2"/>
              </a:buClr>
              <a:defRPr>
                <a:solidFill>
                  <a:schemeClr val="tx1"/>
                </a:solidFill>
              </a:defRPr>
            </a:lvl4pPr>
            <a:lvl5pPr>
              <a:spcBef>
                <a:spcPts val="600"/>
              </a:spcBef>
              <a:buClr>
                <a:schemeClr val="tx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0315" y="6438899"/>
            <a:ext cx="3859795" cy="304801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>
                <a:latin typeface="+mj-lt"/>
              </a:rPr>
              <a:t>Evaluation</a:t>
            </a:r>
            <a:r>
              <a:rPr lang="en-US"/>
              <a:t> HCERES 27-28 </a:t>
            </a:r>
            <a:r>
              <a:rPr lang="en-US" err="1"/>
              <a:t>nov.</a:t>
            </a:r>
            <a:r>
              <a:rPr lang="en-US"/>
              <a:t> 17</a:t>
            </a:r>
          </a:p>
        </p:txBody>
      </p:sp>
      <p:pic>
        <p:nvPicPr>
          <p:cNvPr id="12" name="Image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8328" y="6198880"/>
            <a:ext cx="696588" cy="622225"/>
          </a:xfrm>
          <a:prstGeom prst="rect">
            <a:avLst/>
          </a:prstGeom>
        </p:spPr>
      </p:pic>
      <p:pic>
        <p:nvPicPr>
          <p:cNvPr id="13" name="Picture 100" descr="logo_ceme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2817" y="6438986"/>
            <a:ext cx="713921" cy="2601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Image 1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4908" y="6438986"/>
            <a:ext cx="420140" cy="255903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4343" y="6418610"/>
            <a:ext cx="280565" cy="280565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40390" y="362404"/>
            <a:ext cx="838199" cy="41547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875541-8164-4CC7-9F2F-6F0C49BB858D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325389" y="839349"/>
            <a:ext cx="11070143" cy="475397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Modifiez les styles du texte du masque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4" hasCustomPrompt="1"/>
          </p:nvPr>
        </p:nvSpPr>
        <p:spPr>
          <a:xfrm>
            <a:off x="2396900" y="5695059"/>
            <a:ext cx="3401063" cy="678445"/>
          </a:xfrm>
        </p:spPr>
        <p:txBody>
          <a:bodyPr/>
          <a:lstStyle>
            <a:lvl1pPr marL="0" indent="0">
              <a:buNone/>
              <a:defRPr sz="14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dirty="0"/>
              <a:t>Modifiez les styles de légende d’image/tableau…</a:t>
            </a:r>
          </a:p>
        </p:txBody>
      </p:sp>
    </p:spTree>
    <p:extLst>
      <p:ext uri="{BB962C8B-B14F-4D97-AF65-F5344CB8AC3E}">
        <p14:creationId xmlns:p14="http://schemas.microsoft.com/office/powerpoint/2010/main" val="2522446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lanche de contenu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584" y="40944"/>
            <a:ext cx="11160000" cy="720000"/>
          </a:xfrm>
          <a:solidFill>
            <a:schemeClr val="bg1"/>
          </a:solidFill>
          <a:ln>
            <a:noFill/>
          </a:ln>
          <a:effectLst>
            <a:outerShdw blurRad="190500" dist="165100" dir="9600000" sx="99000" sy="99000" algn="ctr">
              <a:srgbClr val="000000">
                <a:alpha val="2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lIns="144000" tIns="72000" rIns="91440" bIns="45720" rtlCol="0" anchor="t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11477840" y="0"/>
            <a:ext cx="580554" cy="1066800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0252" y="1538523"/>
            <a:ext cx="11625048" cy="4660355"/>
          </a:xfrm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defRPr>
                <a:solidFill>
                  <a:schemeClr val="tx1"/>
                </a:solidFill>
              </a:defRPr>
            </a:lvl1pPr>
            <a:lvl2pPr>
              <a:spcBef>
                <a:spcPts val="600"/>
              </a:spcBef>
              <a:buClr>
                <a:schemeClr val="tx2"/>
              </a:buClr>
              <a:defRPr>
                <a:solidFill>
                  <a:schemeClr val="tx1"/>
                </a:solidFill>
              </a:defRPr>
            </a:lvl2pPr>
            <a:lvl3pPr>
              <a:spcBef>
                <a:spcPts val="600"/>
              </a:spcBef>
              <a:buClr>
                <a:schemeClr val="tx2"/>
              </a:buClr>
              <a:defRPr>
                <a:solidFill>
                  <a:schemeClr val="tx1"/>
                </a:solidFill>
              </a:defRPr>
            </a:lvl3pPr>
            <a:lvl4pPr>
              <a:spcBef>
                <a:spcPts val="600"/>
              </a:spcBef>
              <a:buClr>
                <a:schemeClr val="tx2"/>
              </a:buClr>
              <a:defRPr>
                <a:solidFill>
                  <a:schemeClr val="tx1"/>
                </a:solidFill>
              </a:defRPr>
            </a:lvl4pPr>
            <a:lvl5pPr>
              <a:spcBef>
                <a:spcPts val="600"/>
              </a:spcBef>
              <a:buClr>
                <a:schemeClr val="tx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0315" y="6438899"/>
            <a:ext cx="3859795" cy="304801"/>
          </a:xfrm>
          <a:prstGeom prst="rect">
            <a:avLst/>
          </a:prstGeom>
        </p:spPr>
        <p:txBody>
          <a:bodyPr/>
          <a:lstStyle>
            <a:lvl1pPr algn="l">
              <a:defRPr b="1">
                <a:solidFill>
                  <a:schemeClr val="accent3"/>
                </a:solidFill>
              </a:defRPr>
            </a:lvl1pPr>
          </a:lstStyle>
          <a:p>
            <a:r>
              <a:rPr lang="en-US">
                <a:latin typeface="+mj-lt"/>
              </a:rPr>
              <a:t>Evaluation</a:t>
            </a:r>
            <a:r>
              <a:rPr lang="en-US"/>
              <a:t> HCERES 27-28 nov. 17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65104" y="362404"/>
            <a:ext cx="838199" cy="41547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875541-8164-4CC7-9F2F-6F0C49BB858D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325389" y="827973"/>
            <a:ext cx="11070143" cy="475397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Modifiez les styles du texte du masque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4" hasCustomPrompt="1"/>
          </p:nvPr>
        </p:nvSpPr>
        <p:spPr>
          <a:xfrm>
            <a:off x="2396900" y="5695059"/>
            <a:ext cx="3401063" cy="678445"/>
          </a:xfrm>
        </p:spPr>
        <p:txBody>
          <a:bodyPr/>
          <a:lstStyle>
            <a:lvl1pPr marL="0" indent="0">
              <a:buNone/>
              <a:defRPr sz="14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dirty="0"/>
              <a:t>Modifiez les styles de légende d’image/tableau…</a:t>
            </a:r>
          </a:p>
        </p:txBody>
      </p:sp>
      <p:pic>
        <p:nvPicPr>
          <p:cNvPr id="16" name="Image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8328" y="6198880"/>
            <a:ext cx="696588" cy="622225"/>
          </a:xfrm>
          <a:prstGeom prst="rect">
            <a:avLst/>
          </a:prstGeom>
        </p:spPr>
      </p:pic>
      <p:pic>
        <p:nvPicPr>
          <p:cNvPr id="18" name="Picture 100" descr="logo_ceme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2817" y="6438986"/>
            <a:ext cx="713921" cy="2601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Image 1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4908" y="6438986"/>
            <a:ext cx="420140" cy="255903"/>
          </a:xfrm>
          <a:prstGeom prst="rect">
            <a:avLst/>
          </a:prstGeom>
        </p:spPr>
      </p:pic>
      <p:pic>
        <p:nvPicPr>
          <p:cNvPr id="22" name="Image 2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4343" y="6418610"/>
            <a:ext cx="280565" cy="28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9335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0" y="6237312"/>
            <a:ext cx="12319000" cy="620688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>
              <a:rot lat="0" lon="0" rev="30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/>
          <p:nvPr userDrawn="1"/>
        </p:nvSpPr>
        <p:spPr>
          <a:xfrm>
            <a:off x="11463772" y="0"/>
            <a:ext cx="580554" cy="533400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603" y="70406"/>
            <a:ext cx="10733083" cy="680218"/>
          </a:xfrm>
        </p:spPr>
        <p:txBody>
          <a:bodyPr/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99207" y="1539421"/>
            <a:ext cx="5493600" cy="474617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2186" y="1534485"/>
            <a:ext cx="5492511" cy="401759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0315" y="6438899"/>
            <a:ext cx="3859795" cy="304801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>
                <a:latin typeface="+mj-lt"/>
              </a:rPr>
              <a:t>Evaluation</a:t>
            </a:r>
            <a:r>
              <a:rPr lang="en-US"/>
              <a:t> HCERES 27-28 </a:t>
            </a:r>
            <a:r>
              <a:rPr lang="en-US" err="1"/>
              <a:t>nov.</a:t>
            </a:r>
            <a:r>
              <a:rPr lang="en-US"/>
              <a:t> 17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334949" y="58964"/>
            <a:ext cx="838199" cy="41547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875541-8164-4CC7-9F2F-6F0C49BB858D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3"/>
          </p:nvPr>
        </p:nvSpPr>
        <p:spPr>
          <a:xfrm>
            <a:off x="257149" y="756889"/>
            <a:ext cx="11070143" cy="475397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Modifiez les styles du texte du masque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 hasCustomPrompt="1"/>
          </p:nvPr>
        </p:nvSpPr>
        <p:spPr>
          <a:xfrm>
            <a:off x="2396900" y="5695059"/>
            <a:ext cx="3401063" cy="678445"/>
          </a:xfrm>
        </p:spPr>
        <p:txBody>
          <a:bodyPr/>
          <a:lstStyle>
            <a:lvl1pPr marL="0" indent="0">
              <a:buNone/>
              <a:defRPr sz="14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dirty="0"/>
              <a:t>Modifiez les styles de légende d’image/tableau…</a:t>
            </a:r>
          </a:p>
        </p:txBody>
      </p:sp>
      <p:pic>
        <p:nvPicPr>
          <p:cNvPr id="19" name="Image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8328" y="6198880"/>
            <a:ext cx="696588" cy="622225"/>
          </a:xfrm>
          <a:prstGeom prst="rect">
            <a:avLst/>
          </a:prstGeom>
        </p:spPr>
      </p:pic>
      <p:pic>
        <p:nvPicPr>
          <p:cNvPr id="20" name="Picture 100" descr="logo_ceme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2817" y="6438986"/>
            <a:ext cx="713921" cy="2601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Image 2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4908" y="6438986"/>
            <a:ext cx="420140" cy="255903"/>
          </a:xfrm>
          <a:prstGeom prst="rect">
            <a:avLst/>
          </a:prstGeom>
        </p:spPr>
      </p:pic>
      <p:pic>
        <p:nvPicPr>
          <p:cNvPr id="22" name="Image 2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4343" y="6418610"/>
            <a:ext cx="280565" cy="28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208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6237312"/>
            <a:ext cx="12319000" cy="620688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>
              <a:rot lat="0" lon="0" rev="30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/>
          <p:cNvSpPr/>
          <p:nvPr userDrawn="1"/>
        </p:nvSpPr>
        <p:spPr>
          <a:xfrm>
            <a:off x="11463772" y="0"/>
            <a:ext cx="580554" cy="1066800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603" y="92586"/>
            <a:ext cx="10733083" cy="720000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345441"/>
            <a:ext cx="4396338" cy="65736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1955041"/>
            <a:ext cx="4396339" cy="42683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63935" y="1345441"/>
            <a:ext cx="4396339" cy="65736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63935" y="1955041"/>
            <a:ext cx="4396339" cy="42683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0315" y="6438899"/>
            <a:ext cx="3859795" cy="304801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>
                <a:latin typeface="+mj-lt"/>
              </a:rPr>
              <a:t>Evaluation</a:t>
            </a:r>
            <a:r>
              <a:rPr lang="en-US"/>
              <a:t> HCERES 27-28 </a:t>
            </a:r>
            <a:r>
              <a:rPr lang="en-US" err="1"/>
              <a:t>nov.</a:t>
            </a:r>
            <a:r>
              <a:rPr lang="en-US"/>
              <a:t> 17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875541-8164-4CC7-9F2F-6F0C49BB858D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 hasCustomPrompt="1"/>
          </p:nvPr>
        </p:nvSpPr>
        <p:spPr>
          <a:xfrm>
            <a:off x="2396900" y="5695059"/>
            <a:ext cx="3401063" cy="678445"/>
          </a:xfrm>
        </p:spPr>
        <p:txBody>
          <a:bodyPr/>
          <a:lstStyle>
            <a:lvl1pPr marL="0" indent="0">
              <a:buNone/>
              <a:defRPr sz="14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dirty="0"/>
              <a:t>Modifiez les styles de légende d’image/tableau…</a:t>
            </a:r>
          </a:p>
        </p:txBody>
      </p:sp>
      <p:pic>
        <p:nvPicPr>
          <p:cNvPr id="18" name="Imag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8328" y="6198880"/>
            <a:ext cx="696588" cy="622225"/>
          </a:xfrm>
          <a:prstGeom prst="rect">
            <a:avLst/>
          </a:prstGeom>
        </p:spPr>
      </p:pic>
      <p:pic>
        <p:nvPicPr>
          <p:cNvPr id="19" name="Picture 100" descr="logo_ceme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2817" y="6438986"/>
            <a:ext cx="713921" cy="2601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Image 1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4908" y="6438986"/>
            <a:ext cx="420140" cy="255903"/>
          </a:xfrm>
          <a:prstGeom prst="rect">
            <a:avLst/>
          </a:prstGeom>
        </p:spPr>
      </p:pic>
      <p:pic>
        <p:nvPicPr>
          <p:cNvPr id="21" name="Image 20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4343" y="6418610"/>
            <a:ext cx="280565" cy="28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202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A2624F-46B2-431A-972F-D85A41839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7F6B8F-EF10-4F05-90BA-B60477F044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CF86224-B22A-4D36-882B-FE348B820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9BEE3-29A4-4EA5-B7E0-2782E93A2E27}" type="datetimeFigureOut">
              <a:rPr lang="fr-FR" smtClean="0"/>
              <a:t>15/01/2026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F6EE799-38FB-462E-A965-AF2C41BC6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BA9D637-78E9-48CC-A48C-28C1DD3B0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1E2AE-B33C-4D1E-926E-C917040061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4372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0603" y="206886"/>
            <a:ext cx="10733083" cy="87896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1" y="1187355"/>
            <a:ext cx="11176072" cy="4958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0962" y="362404"/>
            <a:ext cx="838199" cy="41547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0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875541-8164-4CC7-9F2F-6F0C49BB858D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3793315" y="6438899"/>
            <a:ext cx="4639485" cy="343305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5"/>
                </a:solidFill>
              </a:defRPr>
            </a:lvl1pPr>
          </a:lstStyle>
          <a:p>
            <a:r>
              <a:rPr lang="en-US"/>
              <a:t>Evaluation HCERES 27-28 </a:t>
            </a:r>
            <a:r>
              <a:rPr lang="en-US" err="1"/>
              <a:t>nov.</a:t>
            </a:r>
            <a:r>
              <a:rPr lang="en-US"/>
              <a:t> 17</a:t>
            </a:r>
          </a:p>
        </p:txBody>
      </p:sp>
    </p:spTree>
    <p:extLst>
      <p:ext uri="{BB962C8B-B14F-4D97-AF65-F5344CB8AC3E}">
        <p14:creationId xmlns:p14="http://schemas.microsoft.com/office/powerpoint/2010/main" val="1563467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2" r:id="rId2"/>
    <p:sldLayoutId id="2147483701" r:id="rId3"/>
    <p:sldLayoutId id="2147483684" r:id="rId4"/>
    <p:sldLayoutId id="2147483685" r:id="rId5"/>
    <p:sldLayoutId id="2147483703" r:id="rId6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80000"/>
        <a:buFont typeface="Wingdings 3" charset="2"/>
        <a:buChar char=""/>
        <a:defRPr sz="2200" b="0" i="0" kern="1200" baseline="0">
          <a:solidFill>
            <a:schemeClr val="tx1"/>
          </a:solidFill>
          <a:latin typeface="+mn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n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n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n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n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1">
            <a:extLst>
              <a:ext uri="{FF2B5EF4-FFF2-40B4-BE49-F238E27FC236}">
                <a16:creationId xmlns:a16="http://schemas.microsoft.com/office/drawing/2014/main" id="{85DE1660-F557-4E55-BC7F-D55E2C9A069D}"/>
              </a:ext>
            </a:extLst>
          </p:cNvPr>
          <p:cNvSpPr txBox="1"/>
          <p:nvPr/>
        </p:nvSpPr>
        <p:spPr>
          <a:xfrm>
            <a:off x="1" y="192919"/>
            <a:ext cx="5364480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endParaRPr lang="en-US" sz="20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FD59C94B-C711-4C10-9C7A-2B58CC57BF5E}"/>
              </a:ext>
            </a:extLst>
          </p:cNvPr>
          <p:cNvSpPr/>
          <p:nvPr/>
        </p:nvSpPr>
        <p:spPr>
          <a:xfrm>
            <a:off x="1" y="200515"/>
            <a:ext cx="53644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résine 6101 chargée en particules d’or (25°C)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6" name="Espace réservé du numéro de diapositive 4">
            <a:extLst>
              <a:ext uri="{FF2B5EF4-FFF2-40B4-BE49-F238E27FC236}">
                <a16:creationId xmlns:a16="http://schemas.microsoft.com/office/drawing/2014/main" id="{AE86864D-DD06-45A1-B4F7-DEAD41406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8750" y="-135436"/>
            <a:ext cx="411531" cy="415471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fld id="{2411E2AE-B33C-4D1E-926E-C917040061CB}" type="slidenum">
              <a:rPr lang="fr-FR" sz="1500" smtClean="0">
                <a:solidFill>
                  <a:schemeClr val="tx2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</a:t>
            </a:fld>
            <a:endParaRPr lang="fr-FR" sz="1500" dirty="0">
              <a:solidFill>
                <a:schemeClr val="tx2">
                  <a:lumMod val="65000"/>
                  <a:lumOff val="3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aphicFrame>
        <p:nvGraphicFramePr>
          <p:cNvPr id="121" name="Graphique 120">
            <a:extLst>
              <a:ext uri="{FF2B5EF4-FFF2-40B4-BE49-F238E27FC236}">
                <a16:creationId xmlns:a16="http://schemas.microsoft.com/office/drawing/2014/main" id="{3C533B32-84F4-40E2-B3BC-2FA6C72E53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01084047"/>
              </p:ext>
            </p:extLst>
          </p:nvPr>
        </p:nvGraphicFramePr>
        <p:xfrm>
          <a:off x="312827" y="1354694"/>
          <a:ext cx="8538210" cy="50372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3" name="ZoneTexte 122">
            <a:extLst>
              <a:ext uri="{FF2B5EF4-FFF2-40B4-BE49-F238E27FC236}">
                <a16:creationId xmlns:a16="http://schemas.microsoft.com/office/drawing/2014/main" id="{23E26739-C23A-4BF0-81F0-5FF6A91C45D1}"/>
              </a:ext>
            </a:extLst>
          </p:cNvPr>
          <p:cNvSpPr txBox="1"/>
          <p:nvPr/>
        </p:nvSpPr>
        <p:spPr>
          <a:xfrm>
            <a:off x="8761814" y="3679072"/>
            <a:ext cx="9955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k</a:t>
            </a:r>
            <a:r>
              <a:rPr lang="fr-FR" sz="1200" dirty="0">
                <a:latin typeface="Calibri Light" panose="020F0302020204030204" pitchFamily="34" charset="0"/>
                <a:cs typeface="Calibri Light" panose="020F0302020204030204" pitchFamily="34" charset="0"/>
              </a:rPr>
              <a:t> = 170 Pa.s</a:t>
            </a:r>
            <a:r>
              <a:rPr lang="fr-FR" sz="1200" baseline="30000" dirty="0">
                <a:latin typeface="Calibri Light" panose="020F0302020204030204" pitchFamily="34" charset="0"/>
                <a:cs typeface="Calibri Light" panose="020F0302020204030204" pitchFamily="34" charset="0"/>
              </a:rPr>
              <a:t>m</a:t>
            </a:r>
          </a:p>
          <a:p>
            <a:r>
              <a:rPr lang="fr-FR" sz="12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m</a:t>
            </a:r>
            <a:r>
              <a:rPr lang="fr-FR" sz="1200" dirty="0">
                <a:latin typeface="Calibri Light" panose="020F0302020204030204" pitchFamily="34" charset="0"/>
                <a:cs typeface="Calibri Light" panose="020F0302020204030204" pitchFamily="34" charset="0"/>
              </a:rPr>
              <a:t> = 0.45</a:t>
            </a:r>
          </a:p>
          <a:p>
            <a:r>
              <a:rPr lang="fr-FR" sz="1200" i="1" dirty="0">
                <a:latin typeface="Symbol" panose="05050102010706020507" pitchFamily="18" charset="2"/>
                <a:cs typeface="Calibri Light" panose="020F0302020204030204" pitchFamily="34" charset="0"/>
              </a:rPr>
              <a:t>t</a:t>
            </a:r>
            <a:r>
              <a:rPr lang="fr-FR" sz="1200" baseline="-25000" dirty="0">
                <a:latin typeface="Calibri Light" panose="020F0302020204030204" pitchFamily="34" charset="0"/>
                <a:cs typeface="Calibri Light" panose="020F0302020204030204" pitchFamily="34" charset="0"/>
              </a:rPr>
              <a:t>0</a:t>
            </a:r>
            <a:r>
              <a:rPr lang="fr-FR" sz="1200" dirty="0">
                <a:latin typeface="Calibri Light" panose="020F0302020204030204" pitchFamily="34" charset="0"/>
                <a:cs typeface="Calibri Light" panose="020F0302020204030204" pitchFamily="34" charset="0"/>
              </a:rPr>
              <a:t> = 62 Pa</a:t>
            </a:r>
          </a:p>
        </p:txBody>
      </p:sp>
      <p:sp>
        <p:nvSpPr>
          <p:cNvPr id="9" name="Accolade ouvrante 8">
            <a:extLst>
              <a:ext uri="{FF2B5EF4-FFF2-40B4-BE49-F238E27FC236}">
                <a16:creationId xmlns:a16="http://schemas.microsoft.com/office/drawing/2014/main" id="{688F296C-0E30-4157-9203-F8FD286254B2}"/>
              </a:ext>
            </a:extLst>
          </p:cNvPr>
          <p:cNvSpPr/>
          <p:nvPr/>
        </p:nvSpPr>
        <p:spPr>
          <a:xfrm>
            <a:off x="8761814" y="3687875"/>
            <a:ext cx="62144" cy="637528"/>
          </a:xfrm>
          <a:prstGeom prst="leftBrac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ZoneTexte 125">
                <a:extLst>
                  <a:ext uri="{FF2B5EF4-FFF2-40B4-BE49-F238E27FC236}">
                    <a16:creationId xmlns:a16="http://schemas.microsoft.com/office/drawing/2014/main" id="{29B3BE2D-ECD2-467C-BA13-C4F72B8936BD}"/>
                  </a:ext>
                </a:extLst>
              </p:cNvPr>
              <p:cNvSpPr txBox="1"/>
              <p:nvPr/>
            </p:nvSpPr>
            <p:spPr>
              <a:xfrm>
                <a:off x="7093346" y="4073698"/>
                <a:ext cx="1589102" cy="3203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4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sz="14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fr-FR" sz="1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𝝉</m:t>
                    </m:r>
                    <m:r>
                      <a:rPr lang="fr-FR" sz="14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fr-FR" sz="1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fr-FR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sSup>
                      <m:sSupPr>
                        <m:ctrlPr>
                          <a:rPr lang="pt-B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̇"/>
                            <m:ctrlPr>
                              <a:rPr lang="pt-BR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GB" sz="1400" b="1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𝜸</m:t>
                            </m:r>
                            <m:r>
                              <a:rPr lang="fr-FR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</m:acc>
                      </m:e>
                      <m:sup>
                        <m: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fr-FR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fr-FR" sz="1500" dirty="0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</mc:Choice>
        <mc:Fallback xmlns="">
          <p:sp>
            <p:nvSpPr>
              <p:cNvPr id="126" name="ZoneTexte 125">
                <a:extLst>
                  <a:ext uri="{FF2B5EF4-FFF2-40B4-BE49-F238E27FC236}">
                    <a16:creationId xmlns:a16="http://schemas.microsoft.com/office/drawing/2014/main" id="{29B3BE2D-ECD2-467C-BA13-C4F72B8936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3346" y="4073698"/>
                <a:ext cx="1589102" cy="320344"/>
              </a:xfrm>
              <a:prstGeom prst="rect">
                <a:avLst/>
              </a:prstGeom>
              <a:blipFill>
                <a:blip r:embed="rId3"/>
                <a:stretch>
                  <a:fillRect b="-754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AE2DF2A3-846D-0E32-E083-D73112591AEA}"/>
              </a:ext>
            </a:extLst>
          </p:cNvPr>
          <p:cNvSpPr/>
          <p:nvPr/>
        </p:nvSpPr>
        <p:spPr>
          <a:xfrm>
            <a:off x="1171388" y="1523999"/>
            <a:ext cx="1786965" cy="4113791"/>
          </a:xfrm>
          <a:prstGeom prst="rect">
            <a:avLst/>
          </a:prstGeom>
          <a:solidFill>
            <a:srgbClr val="007AD6">
              <a:alpha val="20000"/>
            </a:srgbClr>
          </a:solidFill>
          <a:ln>
            <a:solidFill>
              <a:schemeClr val="accent1">
                <a:shade val="15000"/>
                <a:alpha val="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F542A5B-6B92-E1D2-4FA3-A0822E3C4478}"/>
              </a:ext>
            </a:extLst>
          </p:cNvPr>
          <p:cNvSpPr txBox="1"/>
          <p:nvPr/>
        </p:nvSpPr>
        <p:spPr>
          <a:xfrm>
            <a:off x="1753727" y="2380591"/>
            <a:ext cx="622286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5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???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D2485B4-2380-7C21-34B0-726BB1672D73}"/>
              </a:ext>
            </a:extLst>
          </p:cNvPr>
          <p:cNvSpPr txBox="1"/>
          <p:nvPr/>
        </p:nvSpPr>
        <p:spPr>
          <a:xfrm>
            <a:off x="1300443" y="3203811"/>
            <a:ext cx="1528853" cy="830997"/>
          </a:xfrm>
          <a:prstGeom prst="rect">
            <a:avLst/>
          </a:prstGeom>
          <a:solidFill>
            <a:srgbClr val="C9E8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800" dirty="0">
                <a:latin typeface="Calibri Light" panose="020F0302020204030204" pitchFamily="34" charset="0"/>
                <a:cs typeface="Calibri Light" panose="020F0302020204030204" pitchFamily="34" charset="0"/>
              </a:rPr>
              <a:t>Comment ce matériau se comporte en cisaillement à des faibles vitesses de déformation</a:t>
            </a:r>
          </a:p>
          <a:p>
            <a:pPr algn="ctr"/>
            <a:r>
              <a:rPr lang="fr-FR" sz="800" dirty="0">
                <a:latin typeface="Calibri Light" panose="020F0302020204030204" pitchFamily="34" charset="0"/>
                <a:cs typeface="Calibri Light" panose="020F0302020204030204" pitchFamily="34" charset="0"/>
              </a:rPr>
              <a:t>(similaires aux vitesses de déformation associées à la compression, par exemple) ?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14CCF1C-DF68-C5A3-44E4-C3E817F850BD}"/>
              </a:ext>
            </a:extLst>
          </p:cNvPr>
          <p:cNvSpPr txBox="1"/>
          <p:nvPr/>
        </p:nvSpPr>
        <p:spPr>
          <a:xfrm>
            <a:off x="7034920" y="280035"/>
            <a:ext cx="4695403" cy="280076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fr-FR" sz="8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Questions importantes :</a:t>
            </a:r>
          </a:p>
          <a:p>
            <a:pPr algn="just"/>
            <a:endParaRPr lang="fr-FR" sz="8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fr-FR" sz="800" dirty="0">
                <a:latin typeface="Calibri Light" panose="020F0302020204030204" pitchFamily="34" charset="0"/>
                <a:cs typeface="Calibri Light" panose="020F0302020204030204" pitchFamily="34" charset="0"/>
              </a:rPr>
              <a:t>Manque d’information sur le comportement du matériau à des vitesse de déformation &lt; 0,01 s</a:t>
            </a:r>
            <a:r>
              <a:rPr lang="fr-FR" sz="800" baseline="30000" dirty="0">
                <a:latin typeface="Calibri Light" panose="020F0302020204030204" pitchFamily="34" charset="0"/>
                <a:cs typeface="Calibri Light" panose="020F0302020204030204" pitchFamily="34" charset="0"/>
              </a:rPr>
              <a:t>-1</a:t>
            </a:r>
            <a:r>
              <a:rPr lang="fr-FR" sz="800" dirty="0">
                <a:latin typeface="Calibri Light" panose="020F0302020204030204" pitchFamily="34" charset="0"/>
                <a:cs typeface="Calibri Light" panose="020F0302020204030204" pitchFamily="34" charset="0"/>
              </a:rPr>
              <a:t> (important pour la compression) et &gt; 10 s</a:t>
            </a:r>
            <a:r>
              <a:rPr lang="fr-FR" sz="800" baseline="30000" dirty="0">
                <a:latin typeface="Calibri Light" panose="020F0302020204030204" pitchFamily="34" charset="0"/>
                <a:cs typeface="Calibri Light" panose="020F0302020204030204" pitchFamily="34" charset="0"/>
              </a:rPr>
              <a:t>-1</a:t>
            </a:r>
            <a:r>
              <a:rPr lang="fr-FR" sz="800" dirty="0">
                <a:latin typeface="Calibri Light" panose="020F0302020204030204" pitchFamily="34" charset="0"/>
                <a:cs typeface="Calibri Light" panose="020F0302020204030204" pitchFamily="34" charset="0"/>
              </a:rPr>
              <a:t> (important pour la rupture des filaments lors de déposition et impression). Il nous faut donc compléter l’analyse rhéologique avant de passer aux simulations numériques ;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fr-FR" sz="8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fr-FR" sz="800" dirty="0">
                <a:latin typeface="Calibri Light" panose="020F0302020204030204" pitchFamily="34" charset="0"/>
                <a:cs typeface="Calibri Light" panose="020F0302020204030204" pitchFamily="34" charset="0"/>
              </a:rPr>
              <a:t>La courbe à gauche suggère que la résine 6101 chargée en particule d’or est </a:t>
            </a:r>
            <a:r>
              <a:rPr lang="fr-FR" sz="8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élasto</a:t>
            </a:r>
            <a:r>
              <a:rPr lang="fr-FR" sz="800" dirty="0">
                <a:latin typeface="Calibri Light" panose="020F0302020204030204" pitchFamily="34" charset="0"/>
                <a:cs typeface="Calibri Light" panose="020F0302020204030204" pitchFamily="34" charset="0"/>
              </a:rPr>
              <a:t>-viscoplastique qui pourrait être caractérisé par 4 paramètres rhéologiques : </a:t>
            </a:r>
          </a:p>
          <a:p>
            <a:pPr algn="just"/>
            <a:r>
              <a:rPr lang="fr-FR" sz="8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	k </a:t>
            </a:r>
            <a:r>
              <a:rPr lang="fr-FR" sz="800" dirty="0">
                <a:latin typeface="Calibri Light" panose="020F0302020204030204" pitchFamily="34" charset="0"/>
                <a:cs typeface="Calibri Light" panose="020F0302020204030204" pitchFamily="34" charset="0"/>
              </a:rPr>
              <a:t>(consistance de l’équation de </a:t>
            </a:r>
            <a:r>
              <a:rPr lang="fr-FR" sz="8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Hershel-Bulckley</a:t>
            </a:r>
            <a:r>
              <a:rPr lang="fr-FR" sz="800" dirty="0">
                <a:latin typeface="Calibri Light" panose="020F0302020204030204" pitchFamily="34" charset="0"/>
                <a:cs typeface="Calibri Light" panose="020F0302020204030204" pitchFamily="34" charset="0"/>
              </a:rPr>
              <a:t> ; paramètre visqueux), </a:t>
            </a:r>
          </a:p>
          <a:p>
            <a:pPr algn="just"/>
            <a:r>
              <a:rPr lang="fr-FR" sz="8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	m </a:t>
            </a:r>
            <a:r>
              <a:rPr lang="fr-FR" sz="800" dirty="0">
                <a:latin typeface="Calibri Light" panose="020F0302020204030204" pitchFamily="34" charset="0"/>
                <a:cs typeface="Calibri Light" panose="020F0302020204030204" pitchFamily="34" charset="0"/>
              </a:rPr>
              <a:t>(exposant de l’équation de </a:t>
            </a:r>
            <a:r>
              <a:rPr lang="fr-FR" sz="8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Hershel-Bulckley</a:t>
            </a:r>
            <a:r>
              <a:rPr lang="fr-FR" sz="800" dirty="0">
                <a:latin typeface="Calibri Light" panose="020F0302020204030204" pitchFamily="34" charset="0"/>
                <a:cs typeface="Calibri Light" panose="020F0302020204030204" pitchFamily="34" charset="0"/>
              </a:rPr>
              <a:t> ; paramètre visqueux), </a:t>
            </a:r>
          </a:p>
          <a:p>
            <a:pPr algn="just"/>
            <a:r>
              <a:rPr lang="fr-FR" sz="800" dirty="0">
                <a:latin typeface="Calibri Light" panose="020F0302020204030204" pitchFamily="34" charset="0"/>
                <a:cs typeface="Calibri Light" panose="020F0302020204030204" pitchFamily="34" charset="0"/>
              </a:rPr>
              <a:t>	</a:t>
            </a:r>
            <a:r>
              <a:rPr lang="fr-FR" sz="800" dirty="0">
                <a:latin typeface="Symbol" panose="05050102010706020507" pitchFamily="18" charset="2"/>
                <a:cs typeface="Calibri Light" panose="020F0302020204030204" pitchFamily="34" charset="0"/>
              </a:rPr>
              <a:t>t</a:t>
            </a:r>
            <a:r>
              <a:rPr lang="fr-FR" sz="800" baseline="-25000" dirty="0">
                <a:latin typeface="Calibri Light" panose="020F0302020204030204" pitchFamily="34" charset="0"/>
                <a:cs typeface="Calibri Light" panose="020F0302020204030204" pitchFamily="34" charset="0"/>
              </a:rPr>
              <a:t>0</a:t>
            </a:r>
            <a:r>
              <a:rPr lang="fr-FR" sz="800" dirty="0">
                <a:latin typeface="Calibri Light" panose="020F0302020204030204" pitchFamily="34" charset="0"/>
                <a:cs typeface="Calibri Light" panose="020F0302020204030204" pitchFamily="34" charset="0"/>
              </a:rPr>
              <a:t> (contrainte seuil ; paramètre plastique) et</a:t>
            </a:r>
          </a:p>
          <a:p>
            <a:pPr algn="just"/>
            <a:r>
              <a:rPr lang="fr-FR" sz="800" dirty="0">
                <a:latin typeface="Symbol" panose="05050102010706020507" pitchFamily="18" charset="2"/>
                <a:cs typeface="Calibri Light" panose="020F0302020204030204" pitchFamily="34" charset="0"/>
              </a:rPr>
              <a:t>	l</a:t>
            </a:r>
            <a:r>
              <a:rPr lang="fr-FR" sz="800" dirty="0">
                <a:latin typeface="Calibri Light" panose="020F0302020204030204" pitchFamily="34" charset="0"/>
                <a:cs typeface="Calibri Light" panose="020F0302020204030204" pitchFamily="34" charset="0"/>
              </a:rPr>
              <a:t> (temp de relaxation; paramètre élastique). </a:t>
            </a:r>
          </a:p>
          <a:p>
            <a:pPr algn="just"/>
            <a:endParaRPr lang="fr-FR" sz="8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fr-FR" sz="800" dirty="0">
                <a:latin typeface="Calibri Light" panose="020F0302020204030204" pitchFamily="34" charset="0"/>
                <a:cs typeface="Calibri Light" panose="020F0302020204030204" pitchFamily="34" charset="0"/>
              </a:rPr>
              <a:t>Il nous faut donc remonter à ceux paramètres car ils pourraient tous jouer un rôle important lors des sollicitations ;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fr-FR" sz="8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fr-FR" sz="800" dirty="0">
                <a:latin typeface="Calibri Light" panose="020F0302020204030204" pitchFamily="34" charset="0"/>
                <a:cs typeface="Calibri Light" panose="020F0302020204030204" pitchFamily="34" charset="0"/>
              </a:rPr>
              <a:t>Les paramètres ci-dessus doivent être estimés sous différentes sollicitations (cisaillement et étirement/compression) car le matériau en question est non-Newtonien ;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fr-FR" sz="8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fr-FR" sz="800" dirty="0">
                <a:latin typeface="Calibri Light" panose="020F0302020204030204" pitchFamily="34" charset="0"/>
                <a:cs typeface="Calibri Light" panose="020F0302020204030204" pitchFamily="34" charset="0"/>
              </a:rPr>
              <a:t>Une fois qu’on aura ces paramètres, on pourra nourrir des simulations numériques avec les éléments physiques représentatifs du matériau en question.  </a:t>
            </a:r>
          </a:p>
        </p:txBody>
      </p:sp>
    </p:spTree>
    <p:extLst>
      <p:ext uri="{BB962C8B-B14F-4D97-AF65-F5344CB8AC3E}">
        <p14:creationId xmlns:p14="http://schemas.microsoft.com/office/powerpoint/2010/main" val="13914521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MEF template red">
  <a:themeElements>
    <a:clrScheme name="Nuances de gris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EMEF">
      <a:majorFont>
        <a:latin typeface="Kozuka Gothic Pro EL"/>
        <a:ea typeface=""/>
        <a:cs typeface=""/>
      </a:majorFont>
      <a:minorFont>
        <a:latin typeface="Century Gothic"/>
        <a:ea typeface=""/>
        <a:cs typeface="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Ion" id="{B8441ADB-2E43-4AF7-B97A-BD870242C6A8}" vid="{5A2F9111-B2DB-470C-BA56-608F9B6588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6d93d202-47fc-4405-873a-cab67cc5f1b2" xsi:nil="true"/>
    <AssetExpire xmlns="6d93d202-47fc-4405-873a-cab67cc5f1b2">2029-01-01T08:00:00+00:00</AssetExpire>
    <CampaignTagsTaxHTField0 xmlns="6d93d202-47fc-4405-873a-cab67cc5f1b2">
      <Terms xmlns="http://schemas.microsoft.com/office/infopath/2007/PartnerControls"/>
    </CampaignTagsTaxHTField0>
    <IntlLangReviewDate xmlns="6d93d202-47fc-4405-873a-cab67cc5f1b2" xsi:nil="true"/>
    <TPFriendlyName xmlns="6d93d202-47fc-4405-873a-cab67cc5f1b2" xsi:nil="true"/>
    <IntlLangReview xmlns="6d93d202-47fc-4405-873a-cab67cc5f1b2">false</IntlLangReview>
    <LocLastLocAttemptVersionLookup xmlns="6d93d202-47fc-4405-873a-cab67cc5f1b2">847778</LocLastLocAttemptVersionLookup>
    <PolicheckWords xmlns="6d93d202-47fc-4405-873a-cab67cc5f1b2" xsi:nil="true"/>
    <SubmitterId xmlns="6d93d202-47fc-4405-873a-cab67cc5f1b2" xsi:nil="true"/>
    <AcquiredFrom xmlns="6d93d202-47fc-4405-873a-cab67cc5f1b2">Internal MS</AcquiredFrom>
    <EditorialStatus xmlns="6d93d202-47fc-4405-873a-cab67cc5f1b2">Complete</EditorialStatus>
    <Markets xmlns="6d93d202-47fc-4405-873a-cab67cc5f1b2"/>
    <OriginAsset xmlns="6d93d202-47fc-4405-873a-cab67cc5f1b2" xsi:nil="true"/>
    <AssetStart xmlns="6d93d202-47fc-4405-873a-cab67cc5f1b2">2012-07-18T23:36:00+00:00</AssetStart>
    <FriendlyTitle xmlns="6d93d202-47fc-4405-873a-cab67cc5f1b2" xsi:nil="true"/>
    <MarketSpecific xmlns="6d93d202-47fc-4405-873a-cab67cc5f1b2">false</MarketSpecific>
    <TPNamespace xmlns="6d93d202-47fc-4405-873a-cab67cc5f1b2" xsi:nil="true"/>
    <PublishStatusLookup xmlns="6d93d202-47fc-4405-873a-cab67cc5f1b2">
      <Value>497326</Value>
    </PublishStatusLookup>
    <APAuthor xmlns="6d93d202-47fc-4405-873a-cab67cc5f1b2">
      <UserInfo>
        <DisplayName>REDMOND\v-alekha</DisplayName>
        <AccountId>2912</AccountId>
        <AccountType/>
      </UserInfo>
    </APAuthor>
    <TPCommandLine xmlns="6d93d202-47fc-4405-873a-cab67cc5f1b2" xsi:nil="true"/>
    <IntlLangReviewer xmlns="6d93d202-47fc-4405-873a-cab67cc5f1b2" xsi:nil="true"/>
    <OpenTemplate xmlns="6d93d202-47fc-4405-873a-cab67cc5f1b2">true</OpenTemplate>
    <CSXSubmissionDate xmlns="6d93d202-47fc-4405-873a-cab67cc5f1b2" xsi:nil="true"/>
    <TaxCatchAll xmlns="6d93d202-47fc-4405-873a-cab67cc5f1b2"/>
    <Manager xmlns="6d93d202-47fc-4405-873a-cab67cc5f1b2" xsi:nil="true"/>
    <NumericId xmlns="6d93d202-47fc-4405-873a-cab67cc5f1b2" xsi:nil="true"/>
    <ParentAssetId xmlns="6d93d202-47fc-4405-873a-cab67cc5f1b2" xsi:nil="true"/>
    <OriginalSourceMarket xmlns="6d93d202-47fc-4405-873a-cab67cc5f1b2">english</OriginalSourceMarket>
    <ApprovalStatus xmlns="6d93d202-47fc-4405-873a-cab67cc5f1b2">InProgress</ApprovalStatus>
    <TPComponent xmlns="6d93d202-47fc-4405-873a-cab67cc5f1b2" xsi:nil="true"/>
    <EditorialTags xmlns="6d93d202-47fc-4405-873a-cab67cc5f1b2" xsi:nil="true"/>
    <TPExecutable xmlns="6d93d202-47fc-4405-873a-cab67cc5f1b2" xsi:nil="true"/>
    <TPLaunchHelpLink xmlns="6d93d202-47fc-4405-873a-cab67cc5f1b2" xsi:nil="true"/>
    <LocComments xmlns="6d93d202-47fc-4405-873a-cab67cc5f1b2" xsi:nil="true"/>
    <LocRecommendedHandoff xmlns="6d93d202-47fc-4405-873a-cab67cc5f1b2" xsi:nil="true"/>
    <SourceTitle xmlns="6d93d202-47fc-4405-873a-cab67cc5f1b2" xsi:nil="true"/>
    <CSXUpdate xmlns="6d93d202-47fc-4405-873a-cab67cc5f1b2">false</CSXUpdate>
    <IntlLocPriority xmlns="6d93d202-47fc-4405-873a-cab67cc5f1b2" xsi:nil="true"/>
    <UAProjectedTotalWords xmlns="6d93d202-47fc-4405-873a-cab67cc5f1b2" xsi:nil="true"/>
    <AssetType xmlns="6d93d202-47fc-4405-873a-cab67cc5f1b2">TP</AssetType>
    <MachineTranslated xmlns="6d93d202-47fc-4405-873a-cab67cc5f1b2">false</MachineTranslated>
    <OutputCachingOn xmlns="6d93d202-47fc-4405-873a-cab67cc5f1b2">false</OutputCachingOn>
    <TemplateStatus xmlns="6d93d202-47fc-4405-873a-cab67cc5f1b2">Complete</TemplateStatus>
    <IsSearchable xmlns="6d93d202-47fc-4405-873a-cab67cc5f1b2">true</IsSearchable>
    <ContentItem xmlns="6d93d202-47fc-4405-873a-cab67cc5f1b2" xsi:nil="true"/>
    <HandoffToMSDN xmlns="6d93d202-47fc-4405-873a-cab67cc5f1b2" xsi:nil="true"/>
    <ShowIn xmlns="6d93d202-47fc-4405-873a-cab67cc5f1b2">Show everywhere</ShowIn>
    <ThumbnailAssetId xmlns="6d93d202-47fc-4405-873a-cab67cc5f1b2" xsi:nil="true"/>
    <UALocComments xmlns="6d93d202-47fc-4405-873a-cab67cc5f1b2" xsi:nil="true"/>
    <UALocRecommendation xmlns="6d93d202-47fc-4405-873a-cab67cc5f1b2">Localize</UALocRecommendation>
    <LastModifiedDateTime xmlns="6d93d202-47fc-4405-873a-cab67cc5f1b2" xsi:nil="true"/>
    <LegacyData xmlns="6d93d202-47fc-4405-873a-cab67cc5f1b2" xsi:nil="true"/>
    <LocManualTestRequired xmlns="6d93d202-47fc-4405-873a-cab67cc5f1b2">false</LocManualTestRequired>
    <LocMarketGroupTiers2 xmlns="6d93d202-47fc-4405-873a-cab67cc5f1b2" xsi:nil="true"/>
    <ClipArtFilename xmlns="6d93d202-47fc-4405-873a-cab67cc5f1b2" xsi:nil="true"/>
    <TPApplication xmlns="6d93d202-47fc-4405-873a-cab67cc5f1b2" xsi:nil="true"/>
    <CSXHash xmlns="6d93d202-47fc-4405-873a-cab67cc5f1b2" xsi:nil="true"/>
    <DirectSourceMarket xmlns="6d93d202-47fc-4405-873a-cab67cc5f1b2">english</DirectSourceMarket>
    <PrimaryImageGen xmlns="6d93d202-47fc-4405-873a-cab67cc5f1b2">true</PrimaryImageGen>
    <PlannedPubDate xmlns="6d93d202-47fc-4405-873a-cab67cc5f1b2" xsi:nil="true"/>
    <CSXSubmissionMarket xmlns="6d93d202-47fc-4405-873a-cab67cc5f1b2" xsi:nil="true"/>
    <Downloads xmlns="6d93d202-47fc-4405-873a-cab67cc5f1b2">0</Downloads>
    <ArtSampleDocs xmlns="6d93d202-47fc-4405-873a-cab67cc5f1b2" xsi:nil="true"/>
    <TrustLevel xmlns="6d93d202-47fc-4405-873a-cab67cc5f1b2">1 Microsoft Managed Content</TrustLevel>
    <BlockPublish xmlns="6d93d202-47fc-4405-873a-cab67cc5f1b2">false</BlockPublish>
    <TPLaunchHelpLinkType xmlns="6d93d202-47fc-4405-873a-cab67cc5f1b2">Template</TPLaunchHelpLinkType>
    <LocalizationTagsTaxHTField0 xmlns="6d93d202-47fc-4405-873a-cab67cc5f1b2">
      <Terms xmlns="http://schemas.microsoft.com/office/infopath/2007/PartnerControls"/>
    </LocalizationTagsTaxHTField0>
    <BusinessGroup xmlns="6d93d202-47fc-4405-873a-cab67cc5f1b2" xsi:nil="true"/>
    <Providers xmlns="6d93d202-47fc-4405-873a-cab67cc5f1b2" xsi:nil="true"/>
    <TemplateTemplateType xmlns="6d93d202-47fc-4405-873a-cab67cc5f1b2">PowerPoint Presentation Template</TemplateTemplateType>
    <TimesCloned xmlns="6d93d202-47fc-4405-873a-cab67cc5f1b2" xsi:nil="true"/>
    <TPAppVersion xmlns="6d93d202-47fc-4405-873a-cab67cc5f1b2" xsi:nil="true"/>
    <VoteCount xmlns="6d93d202-47fc-4405-873a-cab67cc5f1b2" xsi:nil="true"/>
    <AverageRating xmlns="6d93d202-47fc-4405-873a-cab67cc5f1b2" xsi:nil="true"/>
    <FeatureTagsTaxHTField0 xmlns="6d93d202-47fc-4405-873a-cab67cc5f1b2">
      <Terms xmlns="http://schemas.microsoft.com/office/infopath/2007/PartnerControls"/>
    </FeatureTagsTaxHTField0>
    <Provider xmlns="6d93d202-47fc-4405-873a-cab67cc5f1b2" xsi:nil="true"/>
    <UACurrentWords xmlns="6d93d202-47fc-4405-873a-cab67cc5f1b2" xsi:nil="true"/>
    <AssetId xmlns="6d93d202-47fc-4405-873a-cab67cc5f1b2">TP103039515</AssetId>
    <TPClientViewer xmlns="6d93d202-47fc-4405-873a-cab67cc5f1b2" xsi:nil="true"/>
    <DSATActionTaken xmlns="6d93d202-47fc-4405-873a-cab67cc5f1b2" xsi:nil="true"/>
    <APEditor xmlns="6d93d202-47fc-4405-873a-cab67cc5f1b2">
      <UserInfo>
        <DisplayName/>
        <AccountId xsi:nil="true"/>
        <AccountType/>
      </UserInfo>
    </APEditor>
    <TPInstallLocation xmlns="6d93d202-47fc-4405-873a-cab67cc5f1b2" xsi:nil="true"/>
    <OOCacheId xmlns="6d93d202-47fc-4405-873a-cab67cc5f1b2" xsi:nil="true"/>
    <IsDeleted xmlns="6d93d202-47fc-4405-873a-cab67cc5f1b2">false</IsDeleted>
    <PublishTargets xmlns="6d93d202-47fc-4405-873a-cab67cc5f1b2">OfficeOnlineVNext</PublishTargets>
    <ApprovalLog xmlns="6d93d202-47fc-4405-873a-cab67cc5f1b2" xsi:nil="true"/>
    <BugNumber xmlns="6d93d202-47fc-4405-873a-cab67cc5f1b2" xsi:nil="true"/>
    <CrawlForDependencies xmlns="6d93d202-47fc-4405-873a-cab67cc5f1b2">false</CrawlForDependencies>
    <InternalTagsTaxHTField0 xmlns="6d93d202-47fc-4405-873a-cab67cc5f1b2">
      <Terms xmlns="http://schemas.microsoft.com/office/infopath/2007/PartnerControls"/>
    </InternalTagsTaxHTField0>
    <LastHandOff xmlns="6d93d202-47fc-4405-873a-cab67cc5f1b2" xsi:nil="true"/>
    <Milestone xmlns="6d93d202-47fc-4405-873a-cab67cc5f1b2" xsi:nil="true"/>
    <OriginalRelease xmlns="6d93d202-47fc-4405-873a-cab67cc5f1b2">15</OriginalRelease>
    <RecommendationsModifier xmlns="6d93d202-47fc-4405-873a-cab67cc5f1b2" xsi:nil="true"/>
    <ScenarioTagsTaxHTField0 xmlns="6d93d202-47fc-4405-873a-cab67cc5f1b2">
      <Terms xmlns="http://schemas.microsoft.com/office/infopath/2007/PartnerControls"/>
    </ScenarioTagsTaxHTField0>
    <UANotes xmlns="6d93d202-47fc-4405-873a-cab67cc5f1b2" xsi:nil="true"/>
    <Component xmlns="64acb2c5-0a2b-4bda-bd34-58e36cbb80d2" xsi:nil="true"/>
    <Description0 xmlns="64acb2c5-0a2b-4bda-bd34-58e36cbb80d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9924D1ECC420D47A2456556BC94F7370400BDF4491DEA4973499845289601F88B9F" ma:contentTypeVersion="55" ma:contentTypeDescription="Create a new document." ma:contentTypeScope="" ma:versionID="41eb558a2b826e6e4f9defd990175bec">
  <xsd:schema xmlns:xsd="http://www.w3.org/2001/XMLSchema" xmlns:xs="http://www.w3.org/2001/XMLSchema" xmlns:p="http://schemas.microsoft.com/office/2006/metadata/properties" xmlns:ns2="6d93d202-47fc-4405-873a-cab67cc5f1b2" xmlns:ns3="64acb2c5-0a2b-4bda-bd34-58e36cbb80d2" targetNamespace="http://schemas.microsoft.com/office/2006/metadata/properties" ma:root="true" ma:fieldsID="19deea0185cf7bc57eee9b90b1ba2ace" ns2:_="" ns3:_="">
    <xsd:import namespace="6d93d202-47fc-4405-873a-cab67cc5f1b2"/>
    <xsd:import namespace="64acb2c5-0a2b-4bda-bd34-58e36cbb80d2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  <xsd:element ref="ns3:Description0" minOccurs="0"/>
                <xsd:element ref="ns3:Compon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93d202-47fc-4405-873a-cab67cc5f1b2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0:00:00Z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dc79c007-7f28-4db9-9ba1-525d19a3279b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80C6DD30-196A-4C6B-B1BF-A43F3B8ACD4F}" ma:internalName="CSXSubmissionMarket" ma:readOnly="false" ma:showField="MarketName" ma:web="6d93d202-47fc-4405-873a-cab67cc5f1b2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bb16b974-ed24-4278-8820-8e232d38904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7E2D4CA2-442A-4FDA-AA57-71B8C7B2C53C}" ma:internalName="InProjectListLookup" ma:readOnly="true" ma:showField="InProjectList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fd9a49dc-3dbf-4047-b62d-1d587abe7b40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7E2D4CA2-442A-4FDA-AA57-71B8C7B2C53C}" ma:internalName="LastCompleteVersionLookup" ma:readOnly="true" ma:showField="LastCompleteVersion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7E2D4CA2-442A-4FDA-AA57-71B8C7B2C53C}" ma:internalName="LastPreviewErrorLookup" ma:readOnly="true" ma:showField="LastPreviewError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7E2D4CA2-442A-4FDA-AA57-71B8C7B2C53C}" ma:internalName="LastPreviewResultLookup" ma:readOnly="true" ma:showField="LastPreviewResult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7E2D4CA2-442A-4FDA-AA57-71B8C7B2C53C}" ma:internalName="LastPreviewAttemptDateLookup" ma:readOnly="true" ma:showField="LastPreviewAttemptDat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7E2D4CA2-442A-4FDA-AA57-71B8C7B2C53C}" ma:internalName="LastPreviewedByLookup" ma:readOnly="true" ma:showField="LastPreviewedBy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7E2D4CA2-442A-4FDA-AA57-71B8C7B2C53C}" ma:internalName="LastPreviewTimeLookup" ma:readOnly="true" ma:showField="LastPreviewTim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7E2D4CA2-442A-4FDA-AA57-71B8C7B2C53C}" ma:internalName="LastPreviewVersionLookup" ma:readOnly="true" ma:showField="LastPreviewVersion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7E2D4CA2-442A-4FDA-AA57-71B8C7B2C53C}" ma:internalName="LastPublishErrorLookup" ma:readOnly="true" ma:showField="LastPublishError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7E2D4CA2-442A-4FDA-AA57-71B8C7B2C53C}" ma:internalName="LastPublishResultLookup" ma:readOnly="true" ma:showField="LastPublishResult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7E2D4CA2-442A-4FDA-AA57-71B8C7B2C53C}" ma:internalName="LastPublishAttemptDateLookup" ma:readOnly="true" ma:showField="LastPublishAttemptDat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7E2D4CA2-442A-4FDA-AA57-71B8C7B2C53C}" ma:internalName="LastPublishedByLookup" ma:readOnly="true" ma:showField="LastPublishedBy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7E2D4CA2-442A-4FDA-AA57-71B8C7B2C53C}" ma:internalName="LastPublishTimeLookup" ma:readOnly="true" ma:showField="LastPublishTim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7E2D4CA2-442A-4FDA-AA57-71B8C7B2C53C}" ma:internalName="LastPublishVersionLookup" ma:readOnly="true" ma:showField="LastPublishVersion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4CDE398E-75A7-4993-8C61-2BFD31F64754}" ma:internalName="LocLastLocAttemptVersionLookup" ma:readOnly="false" ma:showField="LastLocAttemptVersion" ma:web="6d93d202-47fc-4405-873a-cab67cc5f1b2">
      <xsd:simpleType>
        <xsd:restriction base="dms:Lookup"/>
      </xsd:simpleType>
    </xsd:element>
    <xsd:element name="LocLastLocAttemptVersionTypeLookup" ma:index="72" nillable="true" ma:displayName="Loc Last Loc Attempt Version Type" ma:default="" ma:list="{4CDE398E-75A7-4993-8C61-2BFD31F64754}" ma:internalName="LocLastLocAttemptVersionTypeLookup" ma:readOnly="true" ma:showField="LastLocAttemptVersionType" ma:web="6d93d202-47fc-4405-873a-cab67cc5f1b2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4CDE398E-75A7-4993-8C61-2BFD31F64754}" ma:internalName="LocNewPublishedVersionLookup" ma:readOnly="true" ma:showField="NewPublishedVersion" ma:web="6d93d202-47fc-4405-873a-cab67cc5f1b2">
      <xsd:simpleType>
        <xsd:restriction base="dms:Lookup"/>
      </xsd:simpleType>
    </xsd:element>
    <xsd:element name="LocOverallHandbackStatusLookup" ma:index="76" nillable="true" ma:displayName="Loc Overall Handback Status" ma:default="" ma:list="{4CDE398E-75A7-4993-8C61-2BFD31F64754}" ma:internalName="LocOverallHandbackStatusLookup" ma:readOnly="true" ma:showField="OverallHandbackStatus" ma:web="6d93d202-47fc-4405-873a-cab67cc5f1b2">
      <xsd:simpleType>
        <xsd:restriction base="dms:Lookup"/>
      </xsd:simpleType>
    </xsd:element>
    <xsd:element name="LocOverallLocStatusLookup" ma:index="77" nillable="true" ma:displayName="Loc Overall Localize Status" ma:default="" ma:list="{4CDE398E-75A7-4993-8C61-2BFD31F64754}" ma:internalName="LocOverallLocStatusLookup" ma:readOnly="true" ma:showField="OverallLocStatus" ma:web="6d93d202-47fc-4405-873a-cab67cc5f1b2">
      <xsd:simpleType>
        <xsd:restriction base="dms:Lookup"/>
      </xsd:simpleType>
    </xsd:element>
    <xsd:element name="LocOverallPreviewStatusLookup" ma:index="78" nillable="true" ma:displayName="Loc Overall Preview Status" ma:default="" ma:list="{4CDE398E-75A7-4993-8C61-2BFD31F64754}" ma:internalName="LocOverallPreviewStatusLookup" ma:readOnly="true" ma:showField="OverallPreviewStatus" ma:web="6d93d202-47fc-4405-873a-cab67cc5f1b2">
      <xsd:simpleType>
        <xsd:restriction base="dms:Lookup"/>
      </xsd:simpleType>
    </xsd:element>
    <xsd:element name="LocOverallPublishStatusLookup" ma:index="79" nillable="true" ma:displayName="Loc Overall Publish Status" ma:default="" ma:list="{4CDE398E-75A7-4993-8C61-2BFD31F64754}" ma:internalName="LocOverallPublishStatusLookup" ma:readOnly="true" ma:showField="OverallPublishStatus" ma:web="6d93d202-47fc-4405-873a-cab67cc5f1b2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4CDE398E-75A7-4993-8C61-2BFD31F64754}" ma:internalName="LocProcessedForHandoffsLookup" ma:readOnly="true" ma:showField="ProcessedForHandoffs" ma:web="6d93d202-47fc-4405-873a-cab67cc5f1b2">
      <xsd:simpleType>
        <xsd:restriction base="dms:Lookup"/>
      </xsd:simpleType>
    </xsd:element>
    <xsd:element name="LocProcessedForMarketsLookup" ma:index="82" nillable="true" ma:displayName="Loc Processed For Markets" ma:default="" ma:list="{4CDE398E-75A7-4993-8C61-2BFD31F64754}" ma:internalName="LocProcessedForMarketsLookup" ma:readOnly="true" ma:showField="ProcessedForMarkets" ma:web="6d93d202-47fc-4405-873a-cab67cc5f1b2">
      <xsd:simpleType>
        <xsd:restriction base="dms:Lookup"/>
      </xsd:simpleType>
    </xsd:element>
    <xsd:element name="LocPublishedDependentAssetsLookup" ma:index="83" nillable="true" ma:displayName="Loc Published Dependent Assets" ma:default="" ma:list="{4CDE398E-75A7-4993-8C61-2BFD31F64754}" ma:internalName="LocPublishedDependentAssetsLookup" ma:readOnly="true" ma:showField="PublishedDependentAssets" ma:web="6d93d202-47fc-4405-873a-cab67cc5f1b2">
      <xsd:simpleType>
        <xsd:restriction base="dms:Lookup"/>
      </xsd:simpleType>
    </xsd:element>
    <xsd:element name="LocPublishedLinkedAssetsLookup" ma:index="84" nillable="true" ma:displayName="Loc Published Linked Assets" ma:default="" ma:list="{4CDE398E-75A7-4993-8C61-2BFD31F64754}" ma:internalName="LocPublishedLinkedAssetsLookup" ma:readOnly="true" ma:showField="PublishedLinkedAssets" ma:web="6d93d202-47fc-4405-873a-cab67cc5f1b2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db560eb5-700a-4f94-8fda-b57de4261f12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80C6DD30-196A-4C6B-B1BF-A43F3B8ACD4F}" ma:internalName="Markets" ma:readOnly="false" ma:showField="MarketNam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7E2D4CA2-442A-4FDA-AA57-71B8C7B2C53C}" ma:internalName="NumOfRatingsLookup" ma:readOnly="true" ma:showField="NumOfRatings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7E2D4CA2-442A-4FDA-AA57-71B8C7B2C53C}" ma:internalName="PublishStatusLookup" ma:readOnly="false" ma:showField="PublishStatus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6e3f7319-fb8f-4449-8902-000ab73a8566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11d213f5-ec09-44b6-a8be-9da225be7a8d}" ma:internalName="TaxCatchAll" ma:showField="CatchAllData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11d213f5-ec09-44b6-a8be-9da225be7a8d}" ma:internalName="TaxCatchAllLabel" ma:readOnly="true" ma:showField="CatchAllDataLabel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acb2c5-0a2b-4bda-bd34-58e36cbb80d2" elementFormDefault="qualified">
    <xsd:import namespace="http://schemas.microsoft.com/office/2006/documentManagement/types"/>
    <xsd:import namespace="http://schemas.microsoft.com/office/infopath/2007/PartnerControls"/>
    <xsd:element name="Description0" ma:index="134" nillable="true" ma:displayName="Description" ma:internalName="Description0">
      <xsd:simpleType>
        <xsd:restriction base="dms:Note"/>
      </xsd:simpleType>
    </xsd:element>
    <xsd:element name="Component" ma:index="135" nillable="true" ma:displayName="Component" ma:internalName="Component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E901BC-D190-49E6-8B33-2F32A0F2BF0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EAE737A-72D2-4F07-84A4-D46333E273A5}">
  <ds:schemaRefs>
    <ds:schemaRef ds:uri="6d93d202-47fc-4405-873a-cab67cc5f1b2"/>
    <ds:schemaRef ds:uri="http://purl.org/dc/terms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64acb2c5-0a2b-4bda-bd34-58e36cbb80d2"/>
    <ds:schemaRef ds:uri="http://schemas.microsoft.com/office/2006/metadata/properties"/>
    <ds:schemaRef ds:uri="http://schemas.openxmlformats.org/package/2006/metadata/core-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B352BFCB-2CC8-4BA2-97C8-FEA5C605A5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d93d202-47fc-4405-873a-cab67cc5f1b2"/>
    <ds:schemaRef ds:uri="64acb2c5-0a2b-4bda-bd34-58e36cbb80d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</TotalTime>
  <Words>264</Words>
  <Application>Microsoft Office PowerPoint</Application>
  <PresentationFormat>Grand écran</PresentationFormat>
  <Paragraphs>26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Century Gothic</vt:lpstr>
      <vt:lpstr>Kozuka Gothic Pro EL</vt:lpstr>
      <vt:lpstr>Symbol</vt:lpstr>
      <vt:lpstr>Wingdings 3</vt:lpstr>
      <vt:lpstr>CEMEF template red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>Anselmo SOEIRO PEREIRA</cp:lastModifiedBy>
  <cp:revision>8</cp:revision>
  <dcterms:created xsi:type="dcterms:W3CDTF">2017-10-12T11:51:05Z</dcterms:created>
  <dcterms:modified xsi:type="dcterms:W3CDTF">2026-01-15T11:39:35Z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0x01010069924D1ECC420D47A2456556BC94F7370400BDF4491DEA4973499845289601F88B9F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  <property fmtid="{D5CDD505-2E9C-101B-9397-08002B2CF9AE}" pid="8" name="HiddenCategoryTags">
    <vt:lpwstr/>
  </property>
  <property fmtid="{D5CDD505-2E9C-101B-9397-08002B2CF9AE}" pid="9" name="CategoryTags">
    <vt:lpwstr/>
  </property>
  <property fmtid="{D5CDD505-2E9C-101B-9397-08002B2CF9AE}" pid="10" name="LocMarketGroupTiers">
    <vt:lpwstr/>
  </property>
  <property fmtid="{D5CDD505-2E9C-101B-9397-08002B2CF9AE}" pid="11" name="CategoryTagsTaxHTField0">
    <vt:lpwstr/>
  </property>
  <property fmtid="{D5CDD505-2E9C-101B-9397-08002B2CF9AE}" pid="12" name="HiddenCategoryTagsTaxHTField0">
    <vt:lpwstr/>
  </property>
</Properties>
</file>