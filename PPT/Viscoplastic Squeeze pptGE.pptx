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281" r:id="rId5"/>
    <p:sldId id="323" r:id="rId6"/>
    <p:sldId id="325" r:id="rId7"/>
    <p:sldId id="322" r:id="rId8"/>
    <p:sldId id="326" r:id="rId9"/>
    <p:sldId id="328" r:id="rId10"/>
    <p:sldId id="324" r:id="rId11"/>
    <p:sldId id="327" r:id="rId12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4E9"/>
    <a:srgbClr val="F5CDCE"/>
    <a:srgbClr val="202C8F"/>
    <a:srgbClr val="FDFAF6"/>
    <a:srgbClr val="DF8C8C"/>
    <a:srgbClr val="FDFBF6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33" d="100"/>
          <a:sy n="33" d="100"/>
        </p:scale>
        <p:origin x="1948" y="6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B9CE-77E4-E71B-3033-FC713A25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F788574-BEA4-05A8-085A-179AD551C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E45BCB8-BAE5-7ED0-CC23-20EA60D35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521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D47E-9E7F-B82D-4791-876AF65F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A31ED92-6A69-745E-44B9-AE39E1A9E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995F080-C548-5E6D-485E-E903210E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5459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EB11-14CB-8B84-0C01-AC932E70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70A2E57-BFFE-FE17-20FA-8B4669729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02B92E3-4D58-6F65-8641-14F8BF65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522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47FA418-670C-5849-7D58-E3DE4DD77DBD}"/>
              </a:ext>
            </a:extLst>
          </p:cNvPr>
          <p:cNvSpPr/>
          <p:nvPr/>
        </p:nvSpPr>
        <p:spPr>
          <a:xfrm>
            <a:off x="4844716" y="3388895"/>
            <a:ext cx="4219073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186" y="206838"/>
            <a:ext cx="5157628" cy="848396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système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463" y="5297280"/>
            <a:ext cx="9365074" cy="131373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ctr" rtl="0"/>
            <a:r>
              <a:rPr lang="fr-FR" sz="2600" dirty="0"/>
              <a:t>Cylindre de fluide visqueux, plastique, élastique, soumis à une compression par une masse totale M</a:t>
            </a:r>
          </a:p>
          <a:p>
            <a:endParaRPr lang="fr-FR" sz="2800" dirty="0"/>
          </a:p>
          <a:p>
            <a:pPr rtl="0"/>
            <a:endParaRPr lang="fr-FR" sz="2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2100C0-2074-EC8E-65F8-FB679352F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158" y="1384767"/>
            <a:ext cx="7485684" cy="3659844"/>
          </a:xfrm>
          <a:prstGeom prst="rect">
            <a:avLst/>
          </a:prstGeom>
          <a:ln w="57150">
            <a:solidFill>
              <a:srgbClr val="AAC4E9"/>
            </a:solidFill>
          </a:ln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FE51-6780-42FD-384E-7EEDE5AA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7D17B-11D9-1D63-A058-8CB457A232B9}"/>
              </a:ext>
            </a:extLst>
          </p:cNvPr>
          <p:cNvSpPr/>
          <p:nvPr/>
        </p:nvSpPr>
        <p:spPr>
          <a:xfrm>
            <a:off x="4844716" y="3388895"/>
            <a:ext cx="4219073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316BFA-81E5-1476-7833-6CF1FFF0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186" y="206838"/>
            <a:ext cx="5157628" cy="8483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Modèle physique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33FBCD3A-9804-E584-9E02-CB447E489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9486" y="1805540"/>
                <a:ext cx="4719713" cy="1679989"/>
              </a:xfrm>
            </p:spPr>
            <p:txBody>
              <a:bodyPr rtlCol="0">
                <a:normAutofit/>
              </a:bodyPr>
              <a:lstStyle>
                <a:defPPr>
                  <a:defRPr lang="fr-FR"/>
                </a:defPPr>
              </a:lstStyle>
              <a:p>
                <a:pPr rtl="0"/>
                <a:r>
                  <a:rPr lang="fr-FR" sz="2000" b="1" dirty="0"/>
                  <a:t>Herschel-</a:t>
                </a:r>
                <a:r>
                  <a:rPr lang="fr-FR" sz="2000" b="1" dirty="0" err="1"/>
                  <a:t>Bulkley</a:t>
                </a:r>
                <a:r>
                  <a:rPr lang="fr-FR" sz="2000" b="1" dirty="0"/>
                  <a:t> :</a:t>
                </a:r>
              </a:p>
              <a:p>
                <a:r>
                  <a:rPr lang="fr-FR" sz="2000" dirty="0"/>
                  <a:t>Donne l’équation constitutive d’un fluide </a:t>
                </a:r>
                <a:r>
                  <a:rPr lang="fr-FR" sz="2000" dirty="0" err="1"/>
                  <a:t>visco-plastique</a:t>
                </a:r>
                <a:r>
                  <a:rPr lang="fr-FR" sz="2000" dirty="0"/>
                  <a:t>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fr-FR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fr-FR" sz="200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p>
                          <m:r>
                            <a:rPr lang="fr-FR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fr-FR" sz="200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200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𝑠𝑖𝑛𝑜𝑛</m:t>
                      </m:r>
                      <m:acc>
                        <m:accPr>
                          <m:chr m:val="̇"/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33FBCD3A-9804-E584-9E02-CB447E489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9486" y="1805540"/>
                <a:ext cx="4719713" cy="1679989"/>
              </a:xfrm>
              <a:blipFill>
                <a:blip r:embed="rId3"/>
                <a:stretch>
                  <a:fillRect l="-1292" t="-4710" r="-3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65F10EB9-8358-3DF4-5FF2-FAFBE7CF9E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9486" y="3645649"/>
                <a:ext cx="4370391" cy="1372818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2000" b="1" dirty="0"/>
                  <a:t>Hooke :</a:t>
                </a:r>
              </a:p>
              <a:p>
                <a:r>
                  <a:rPr lang="fr-FR" sz="2000" dirty="0"/>
                  <a:t>Donne l’expression de la contrainte résultante d’un fluide élastique 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ar-AE" sz="20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ar-AE" sz="2000" dirty="0"/>
              </a:p>
              <a:p>
                <a:endParaRPr lang="ar-AE" sz="2000" dirty="0"/>
              </a:p>
            </p:txBody>
          </p:sp>
        </mc:Choice>
        <mc:Fallback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65F10EB9-8358-3DF4-5FF2-FAFBE7CF9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86" y="3645649"/>
                <a:ext cx="4370391" cy="1372818"/>
              </a:xfrm>
              <a:prstGeom prst="rect">
                <a:avLst/>
              </a:prstGeom>
              <a:blipFill>
                <a:blip r:embed="rId4"/>
                <a:stretch>
                  <a:fillRect l="-1395" t="-5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2C94D156-8166-AF11-E939-C3D496469A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4855" y="5338722"/>
                <a:ext cx="7482290" cy="1184517"/>
              </a:xfrm>
              <a:prstGeom prst="rect">
                <a:avLst/>
              </a:prstGeom>
              <a:noFill/>
              <a:ln w="76200">
                <a:solidFill>
                  <a:srgbClr val="F5CDCE"/>
                </a:solidFill>
              </a:ln>
            </p:spPr>
            <p:txBody>
              <a:bodyPr vert="horz" lIns="91440" tIns="0" rIns="91440" bIns="0" rtlCol="0">
                <a:normAutofit fontScale="92500"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26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fr-FR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600" b="0" i="1" smtClean="0">
                              <a:latin typeface="Cambria Math" panose="02040503050406030204" pitchFamily="18" charset="0"/>
                            </a:rPr>
                            <m:t>𝑀𝑔</m:t>
                          </m:r>
                        </m:num>
                        <m:den>
                          <m:r>
                            <a:rPr lang="fr-FR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fr-F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fr-FR" sz="26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ar-AE" sz="2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fr-FR" sz="2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6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fr-FR" sz="2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fr-FR" sz="2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6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p>
                          <m:r>
                            <a:rPr lang="fr-FR" sz="2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fr-FR" sz="2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6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6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2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sz="2600" dirty="0"/>
              </a:p>
              <a:p>
                <a:endParaRPr lang="ar-AE" sz="2800" dirty="0"/>
              </a:p>
              <a:p>
                <a:endParaRPr lang="ar-AE" sz="2800" dirty="0"/>
              </a:p>
            </p:txBody>
          </p:sp>
        </mc:Choice>
        <mc:Fallback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2C94D156-8166-AF11-E939-C3D496469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855" y="5338722"/>
                <a:ext cx="7482290" cy="11845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rgbClr val="F5CDCE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C826C115-28C1-D89D-91C6-BA7E959850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52" t="2686" r="3555" b="4300"/>
          <a:stretch>
            <a:fillRect/>
          </a:stretch>
        </p:blipFill>
        <p:spPr>
          <a:xfrm>
            <a:off x="6271799" y="1535702"/>
            <a:ext cx="4806029" cy="3474792"/>
          </a:xfrm>
          <a:prstGeom prst="rect">
            <a:avLst/>
          </a:prstGeom>
          <a:ln w="38100">
            <a:solidFill>
              <a:srgbClr val="AAC4E9"/>
            </a:solidFill>
          </a:ln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E0B5800F-8133-05A4-F243-73EF1E725250}"/>
              </a:ext>
            </a:extLst>
          </p:cNvPr>
          <p:cNvSpPr txBox="1">
            <a:spLocks/>
          </p:cNvSpPr>
          <p:nvPr/>
        </p:nvSpPr>
        <p:spPr>
          <a:xfrm>
            <a:off x="4654550" y="1039110"/>
            <a:ext cx="2882900" cy="496592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/>
              <a:t>Calcul des contraintes</a:t>
            </a:r>
            <a:endParaRPr lang="ar-AE" sz="2000" b="1" dirty="0"/>
          </a:p>
        </p:txBody>
      </p:sp>
    </p:spTree>
    <p:extLst>
      <p:ext uri="{BB962C8B-B14F-4D97-AF65-F5344CB8AC3E}">
        <p14:creationId xmlns:p14="http://schemas.microsoft.com/office/powerpoint/2010/main" val="300282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C4FE-272E-837C-3D07-3756B9CB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40907C-ACA7-0A2B-6631-6E7D5E2F3111}"/>
              </a:ext>
            </a:extLst>
          </p:cNvPr>
          <p:cNvSpPr/>
          <p:nvPr/>
        </p:nvSpPr>
        <p:spPr>
          <a:xfrm>
            <a:off x="4844716" y="3388895"/>
            <a:ext cx="4219073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6557C9A-2890-D2FC-4EA8-113C1F76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150" y="235876"/>
            <a:ext cx="6997700" cy="848396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Système d’équations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F2BCD148-3B17-9BCE-231C-7AADD3F51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7293" y="1640721"/>
                <a:ext cx="8293170" cy="84839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1" dirty="0"/>
                  <a:t>Conservation de la masse :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/>
                  <a:t> et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F2BCD148-3B17-9BCE-231C-7AADD3F51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93" y="1640721"/>
                <a:ext cx="8293170" cy="848396"/>
              </a:xfrm>
              <a:prstGeom prst="rect">
                <a:avLst/>
              </a:prstGeom>
              <a:blipFill>
                <a:blip r:embed="rId3"/>
                <a:stretch>
                  <a:fillRect l="-1176" t="-7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EC359F0F-A405-274C-749F-975BAF337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043" y="3383723"/>
                <a:ext cx="9095873" cy="1234394"/>
              </a:xfrm>
              <a:prstGeom prst="rect">
                <a:avLst/>
              </a:prstGeom>
              <a:noFill/>
              <a:ln w="76200">
                <a:noFill/>
              </a:ln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lang="fr-FR" dirty="0"/>
                  <a:t>Avec la </a:t>
                </a:r>
                <a:r>
                  <a:rPr lang="fr-FR" b="1" dirty="0"/>
                  <a:t>contrainte totale </a:t>
                </a:r>
                <a:r>
                  <a:rPr lang="fr-FR" dirty="0"/>
                  <a:t>:</a:t>
                </a:r>
                <a:endParaRPr lang="fr-FR" b="0" i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𝑀𝑔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fr-FR" b="0" i="1" smtClean="0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smtClean="0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ar-AE" i="1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fr-FR" b="0" i="1" smtClean="0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fr-FR" i="1">
                              <a:solidFill>
                                <a:srgbClr val="202C8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fr-FR" i="1">
                                  <a:solidFill>
                                    <a:srgbClr val="202C8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srgbClr val="202C8F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p>
                          <m:r>
                            <a:rPr lang="fr-FR" i="1">
                              <a:solidFill>
                                <a:srgbClr val="202C8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fr-FR" dirty="0">
                          <a:solidFill>
                            <a:srgbClr val="202C8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 dirty="0">
                              <a:solidFill>
                                <a:srgbClr val="202C8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solidFill>
                                <a:srgbClr val="202C8F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dirty="0">
                              <a:solidFill>
                                <a:srgbClr val="202C8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EC359F0F-A405-274C-749F-975BAF337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043" y="3383723"/>
                <a:ext cx="9095873" cy="1234394"/>
              </a:xfrm>
              <a:prstGeom prst="rect">
                <a:avLst/>
              </a:prstGeom>
              <a:blipFill>
                <a:blip r:embed="rId4"/>
                <a:stretch>
                  <a:fillRect l="-1072" t="-7389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ce réservé du texte 2">
                <a:extLst>
                  <a:ext uri="{FF2B5EF4-FFF2-40B4-BE49-F238E27FC236}">
                    <a16:creationId xmlns:a16="http://schemas.microsoft.com/office/drawing/2014/main" id="{0F3BD725-D521-EE11-5419-4768C6283A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7293" y="2621368"/>
                <a:ext cx="8293170" cy="84839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1" dirty="0"/>
                  <a:t>Conservation de quantité de mouvement :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8" name="Espace réservé du texte 2">
                <a:extLst>
                  <a:ext uri="{FF2B5EF4-FFF2-40B4-BE49-F238E27FC236}">
                    <a16:creationId xmlns:a16="http://schemas.microsoft.com/office/drawing/2014/main" id="{0F3BD725-D521-EE11-5419-4768C6283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93" y="2621368"/>
                <a:ext cx="8293170" cy="848396"/>
              </a:xfrm>
              <a:prstGeom prst="rect">
                <a:avLst/>
              </a:prstGeom>
              <a:blipFill>
                <a:blip r:embed="rId5"/>
                <a:stretch>
                  <a:fillRect l="-1176" t="-7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space réservé du texte 2">
                <a:extLst>
                  <a:ext uri="{FF2B5EF4-FFF2-40B4-BE49-F238E27FC236}">
                    <a16:creationId xmlns:a16="http://schemas.microsoft.com/office/drawing/2014/main" id="{3133DA29-469D-6B0F-19E9-C077F4052F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043" y="4788568"/>
                <a:ext cx="10443410" cy="1234394"/>
              </a:xfrm>
              <a:prstGeom prst="rect">
                <a:avLst/>
              </a:prstGeom>
              <a:noFill/>
              <a:ln w="76200">
                <a:noFill/>
              </a:ln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fr-FR" dirty="0"/>
                  <a:t>Avec le </a:t>
                </a:r>
                <a:r>
                  <a:rPr lang="fr-FR" b="1" dirty="0"/>
                  <a:t>taux de déformation </a:t>
                </a:r>
                <a:r>
                  <a:rPr lang="fr-FR" dirty="0"/>
                  <a:t>:</a:t>
                </a:r>
                <a:endParaRPr lang="fr-FR" b="0" i="0" dirty="0"/>
              </a:p>
              <a:p>
                <a:pPr algn="ctr">
                  <a:lnSpc>
                    <a:spcPts val="3600"/>
                  </a:lnSpc>
                </a:pP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fr-FR" dirty="0"/>
                  <a:t> pour le cas en adhérence,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fr-FR" dirty="0"/>
                  <a:t> pour le cas en glissement </a:t>
                </a:r>
                <a:endParaRPr lang="ar-AE" dirty="0"/>
              </a:p>
            </p:txBody>
          </p:sp>
        </mc:Choice>
        <mc:Fallback>
          <p:sp>
            <p:nvSpPr>
              <p:cNvPr id="9" name="Espace réservé du texte 2">
                <a:extLst>
                  <a:ext uri="{FF2B5EF4-FFF2-40B4-BE49-F238E27FC236}">
                    <a16:creationId xmlns:a16="http://schemas.microsoft.com/office/drawing/2014/main" id="{3133DA29-469D-6B0F-19E9-C077F405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043" y="4788568"/>
                <a:ext cx="10443410" cy="1234394"/>
              </a:xfrm>
              <a:prstGeom prst="rect">
                <a:avLst/>
              </a:prstGeom>
              <a:blipFill>
                <a:blip r:embed="rId6"/>
                <a:stretch>
                  <a:fillRect l="-934" t="-3465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55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366454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Etalement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C8E859B9-9F35-2E24-9143-626F8B0AE814}"/>
              </a:ext>
            </a:extLst>
          </p:cNvPr>
          <p:cNvSpPr txBox="1">
            <a:spLocks/>
          </p:cNvSpPr>
          <p:nvPr/>
        </p:nvSpPr>
        <p:spPr>
          <a:xfrm>
            <a:off x="3884375" y="5797818"/>
            <a:ext cx="6995171" cy="1012785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Rayon et hauteur du cylindre de fluide au cours de la compression sous une masse de 100g.</a:t>
            </a:r>
            <a:endParaRPr lang="ar-AE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D15995-69B0-6746-6AF8-2BFBBB94E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193" y="1409823"/>
            <a:ext cx="6541536" cy="4115027"/>
          </a:xfrm>
          <a:prstGeom prst="rect">
            <a:avLst/>
          </a:prstGeom>
          <a:ln w="57150">
            <a:solidFill>
              <a:srgbClr val="F5CDCE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642B383E-03B4-F061-D542-B7BCD189D7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8570" y="1538630"/>
                <a:ext cx="2704399" cy="4944362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fr-FR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:endParaRPr lang="fr-FR" sz="1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28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fr-F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072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 /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:endParaRPr lang="fr-FR" sz="11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𝑃𝑎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𝟗𝟎𝟕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642B383E-03B4-F061-D542-B7BCD189D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70" y="1538630"/>
                <a:ext cx="2704399" cy="49443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8BE0CC3-4269-6CEB-0DB1-2542A616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3" y="1094975"/>
            <a:ext cx="6200074" cy="3706159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519FC911-B328-A0E9-F524-9E4307FC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366454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Etalement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991C441-A0A1-6A58-1F96-7B09A1CA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"/>
          <a:stretch>
            <a:fillRect/>
          </a:stretch>
        </p:blipFill>
        <p:spPr>
          <a:xfrm>
            <a:off x="5948737" y="3289463"/>
            <a:ext cx="6109700" cy="34349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space réservé du texte 2">
                <a:extLst>
                  <a:ext uri="{FF2B5EF4-FFF2-40B4-BE49-F238E27FC236}">
                    <a16:creationId xmlns:a16="http://schemas.microsoft.com/office/drawing/2014/main" id="{C5930DD3-6DA0-4D04-6D55-C0C6853E9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7289" y="4772726"/>
                <a:ext cx="2704399" cy="70113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𝟐𝟐𝟎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>
          <p:sp>
            <p:nvSpPr>
              <p:cNvPr id="15" name="Espace réservé du texte 2">
                <a:extLst>
                  <a:ext uri="{FF2B5EF4-FFF2-40B4-BE49-F238E27FC236}">
                    <a16:creationId xmlns:a16="http://schemas.microsoft.com/office/drawing/2014/main" id="{C5930DD3-6DA0-4D04-6D55-C0C6853E9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89" y="4772726"/>
                <a:ext cx="2704399" cy="701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F923FE4F-E68C-2761-F4FF-744969602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39764" y="2813492"/>
                <a:ext cx="2704399" cy="646331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F923FE4F-E68C-2761-F4FF-74496960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764" y="2813492"/>
                <a:ext cx="270439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12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3553A97C-6CB9-5122-5F65-CBA2B304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366454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Etalement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764B89-76E2-5F33-9892-594CAC0AB0CE}"/>
              </a:ext>
            </a:extLst>
          </p:cNvPr>
          <p:cNvSpPr txBox="1">
            <a:spLocks/>
          </p:cNvSpPr>
          <p:nvPr/>
        </p:nvSpPr>
        <p:spPr>
          <a:xfrm>
            <a:off x="2598414" y="5998023"/>
            <a:ext cx="6995171" cy="49352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Pour différentes masses M</a:t>
            </a:r>
            <a:endParaRPr lang="ar-AE" sz="2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DFFAD79-E9A8-CB3C-A4BB-B4678FC88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83" y="1202335"/>
            <a:ext cx="8800434" cy="4606138"/>
          </a:xfrm>
          <a:prstGeom prst="rect">
            <a:avLst/>
          </a:prstGeom>
          <a:ln w="57150">
            <a:solidFill>
              <a:srgbClr val="F5CDCE"/>
            </a:solidFill>
          </a:ln>
        </p:spPr>
      </p:pic>
    </p:spTree>
    <p:extLst>
      <p:ext uri="{BB962C8B-B14F-4D97-AF65-F5344CB8AC3E}">
        <p14:creationId xmlns:p14="http://schemas.microsoft.com/office/powerpoint/2010/main" val="425363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52C4-C2F6-54F1-9878-D5C32908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74827-A678-007C-9C41-A1B93FE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0"/>
            <a:ext cx="10511627" cy="10127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Contribution des contraintes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9270BBE5-1A36-521D-F545-C202929F1CFC}"/>
              </a:ext>
            </a:extLst>
          </p:cNvPr>
          <p:cNvSpPr txBox="1">
            <a:spLocks/>
          </p:cNvSpPr>
          <p:nvPr/>
        </p:nvSpPr>
        <p:spPr>
          <a:xfrm>
            <a:off x="8785076" y="2078148"/>
            <a:ext cx="2566737" cy="3726033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600" dirty="0"/>
              <a:t>Contraintes normalisées par la compression et le poids, au cours de la compression sous une masse de 100g.</a:t>
            </a:r>
            <a:endParaRPr lang="ar-AE" sz="2600" dirty="0"/>
          </a:p>
          <a:p>
            <a:endParaRPr lang="ar-AE" sz="2600" dirty="0"/>
          </a:p>
          <a:p>
            <a:endParaRPr lang="ar-AE" sz="26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3DA697-DB72-9C72-2D4F-25EBBEE14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7" y="1448473"/>
            <a:ext cx="7410169" cy="4540643"/>
          </a:xfrm>
          <a:prstGeom prst="rect">
            <a:avLst/>
          </a:prstGeom>
          <a:ln w="57150">
            <a:solidFill>
              <a:srgbClr val="F5CDCE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71C725C3-B485-CFB0-98E0-D67571FB3B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32156" y="5200867"/>
                <a:ext cx="2704399" cy="70113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907</m:t>
                      </m:r>
                      <m:r>
                        <a:rPr lang="fr-FR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fr-FR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71C725C3-B485-CFB0-98E0-D67571FB3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156" y="5200867"/>
                <a:ext cx="2704399" cy="701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70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2EAF08E2-C807-7659-69DF-3A1644B9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02" y="1133149"/>
            <a:ext cx="5702593" cy="432457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215C27B-7F65-4766-826D-AFEE7B2F7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0"/>
            <a:ext cx="10511627" cy="10127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Contribution des contraintes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space réservé du texte 2">
                <a:extLst>
                  <a:ext uri="{FF2B5EF4-FFF2-40B4-BE49-F238E27FC236}">
                    <a16:creationId xmlns:a16="http://schemas.microsoft.com/office/drawing/2014/main" id="{3DA844B5-5EA0-2503-78E9-B494AAF231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1081" y="5457721"/>
                <a:ext cx="2704399" cy="70113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𝟐𝟐𝟎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>
          <p:sp>
            <p:nvSpPr>
              <p:cNvPr id="10" name="Espace réservé du texte 2">
                <a:extLst>
                  <a:ext uri="{FF2B5EF4-FFF2-40B4-BE49-F238E27FC236}">
                    <a16:creationId xmlns:a16="http://schemas.microsoft.com/office/drawing/2014/main" id="{3DA844B5-5EA0-2503-78E9-B494AAF23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81" y="5457721"/>
                <a:ext cx="2704399" cy="701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09F2978D-A346-6B02-52AF-51848B4808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3673" y="1621690"/>
                <a:ext cx="2704399" cy="646331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09F2978D-A346-6B02-52AF-51848B480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673" y="1621690"/>
                <a:ext cx="270439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12">
            <a:extLst>
              <a:ext uri="{FF2B5EF4-FFF2-40B4-BE49-F238E27FC236}">
                <a16:creationId xmlns:a16="http://schemas.microsoft.com/office/drawing/2014/main" id="{33A2789D-7A72-248B-BEE2-0CC449A64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119" y="2173085"/>
            <a:ext cx="5724999" cy="456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9583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62EAC855B9A4AA1EA640DE55D9291" ma:contentTypeVersion="1" ma:contentTypeDescription="Crée un document." ma:contentTypeScope="" ma:versionID="b77c85bbfd0b92efe37df041e558d067">
  <xsd:schema xmlns:xsd="http://www.w3.org/2001/XMLSchema" xmlns:xs="http://www.w3.org/2001/XMLSchema" xmlns:p="http://schemas.microsoft.com/office/2006/metadata/properties" xmlns:ns3="5fe2be53-eead-4083-8773-55ad5d51649a" targetNamespace="http://schemas.microsoft.com/office/2006/metadata/properties" ma:root="true" ma:fieldsID="d116f912760d7d2eb93dc091ad074d5c" ns3:_="">
    <xsd:import namespace="5fe2be53-eead-4083-8773-55ad5d51649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2be53-eead-4083-8773-55ad5d51649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fe2be53-eead-4083-8773-55ad5d51649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95F1B84-5324-45B5-9B4C-63D8886BFB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e2be53-eead-4083-8773-55ad5d5164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{B144AA22-32CD-464F-9B84-C38381DD4068}TF8a9b5915-b8c7-461e-8cdd-693d48b5e32310e906f8_win32-220c37ecc522</Template>
  <TotalTime>5845</TotalTime>
  <Words>272</Words>
  <Application>Microsoft Office PowerPoint</Application>
  <PresentationFormat>Grand écran</PresentationFormat>
  <Paragraphs>43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Cambria Math</vt:lpstr>
      <vt:lpstr>Sabon Next LT</vt:lpstr>
      <vt:lpstr>Personnalisé</vt:lpstr>
      <vt:lpstr>système</vt:lpstr>
      <vt:lpstr>Modèle physique</vt:lpstr>
      <vt:lpstr>Système d’équations</vt:lpstr>
      <vt:lpstr>Etalement</vt:lpstr>
      <vt:lpstr>Etalement</vt:lpstr>
      <vt:lpstr>Etalement</vt:lpstr>
      <vt:lpstr>Contribution des contraintes</vt:lpstr>
      <vt:lpstr>Contribution des contraintes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Joséphine PERONNE</dc:creator>
  <cp:lastModifiedBy>Joséphine PERONNE</cp:lastModifiedBy>
  <cp:revision>8</cp:revision>
  <dcterms:created xsi:type="dcterms:W3CDTF">2026-01-21T13:52:05Z</dcterms:created>
  <dcterms:modified xsi:type="dcterms:W3CDTF">2026-01-26T08:07:07Z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0x0101007A262EAC855B9A4AA1EA640DE55D9291</vt:lpwstr>
  </property>
</Properties>
</file>