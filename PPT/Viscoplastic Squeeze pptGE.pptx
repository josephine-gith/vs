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9"/>
  </p:notesMasterIdLst>
  <p:handoutMasterIdLst>
    <p:handoutMasterId r:id="rId10"/>
  </p:handoutMasterIdLst>
  <p:sldIdLst>
    <p:sldId id="281" r:id="rId5"/>
    <p:sldId id="323" r:id="rId6"/>
    <p:sldId id="322" r:id="rId7"/>
    <p:sldId id="324" r:id="rId8"/>
  </p:sldIdLst>
  <p:sldSz cx="12192000" cy="6858000"/>
  <p:notesSz cx="13716000" cy="24384000"/>
  <p:defaultTextStyle>
    <a:defPPr rtl="0">
      <a:defRPr lang="fr-FR"/>
    </a:defPPr>
    <a:lvl1pPr marL="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C4E9"/>
    <a:srgbClr val="F5CDCE"/>
    <a:srgbClr val="FDFAF6"/>
    <a:srgbClr val="DF8C8C"/>
    <a:srgbClr val="202C8F"/>
    <a:srgbClr val="FDFBF6"/>
    <a:srgbClr val="D4D593"/>
    <a:srgbClr val="E6F0FE"/>
    <a:srgbClr val="CDBE8A"/>
    <a:srgbClr val="FF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388" autoAdjust="0"/>
  </p:normalViewPr>
  <p:slideViewPr>
    <p:cSldViewPr snapToGrid="0" snapToObjects="1">
      <p:cViewPr varScale="1">
        <p:scale>
          <a:sx n="62" d="100"/>
          <a:sy n="62" d="100"/>
        </p:scale>
        <p:origin x="828" y="44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31" d="100"/>
          <a:sy n="31" d="100"/>
        </p:scale>
        <p:origin x="4392" y="1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A7C9947C-0B99-4CC9-AA3C-4A4AC8D4662C}" type="datetimeyyyy">
              <a:rPr lang="fr-FR" smtClean="0"/>
              <a:t>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420BD0AB-C59E-4A46-83D3-F07787446BA0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5B9CE-77E4-E71B-3033-FC713A25E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DF788574-BEA4-05A8-085A-179AD551CF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7E45BCB8-BAE5-7ED0-CC23-20EA60D35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521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FEB11-14CB-8B84-0C01-AC932E70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70A2E57-BFFE-FE17-20FA-8B4669729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02B92E3-4D58-6F65-8641-14F8BF651A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9522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0" name="Freeform: Forme 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8" name="Freeform: Form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orme libre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8" name="Forme libre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orme libre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4" name="Image 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fr-FR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fr-FR" sz="18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Forme 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/>
            </a:p>
          </p:txBody>
        </p:sp>
        <p:sp>
          <p:nvSpPr>
            <p:cNvPr id="15" name="Freeform: Forme 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 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2" name="Titr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’image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36" name="Forme libre 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3" name="Forme libre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lvl="0" algn="ctr" rtl="0"/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Cliquer pour ajouter du texte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52" name="Espace réservé d’image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 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3" name="Freeform: Forme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9" name="Forme libre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31" name="Forme libre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33" name="Image 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fr-FR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u contenu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8" name="Espace réservé du numéro de diapositive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r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13" name="Image 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Forme 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7" name="Image 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19" name="Image 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Espace réservé du numéro de diapositive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 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orme libre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8" name="Forme libre 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4" name="Forme libre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6" name="Forme libre 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0" name="Titr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9" name="Espace réservé du numéro de diapositive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3" name="Espace réservé du contenu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marL="283464" indent="-283464">
              <a:spcBef>
                <a:spcPts val="1000"/>
              </a:spcBef>
              <a:defRPr lang="fr-FR" sz="1800"/>
            </a:lvl2pPr>
            <a:lvl3pPr marL="283464" indent="-283464">
              <a:spcBef>
                <a:spcPts val="1000"/>
              </a:spcBef>
              <a:defRPr lang="fr-FR" sz="1800"/>
            </a:lvl3pPr>
            <a:lvl4pPr marL="283464" indent="-283464">
              <a:spcBef>
                <a:spcPts val="1000"/>
              </a:spcBef>
              <a:defRPr lang="fr-FR" sz="1800"/>
            </a:lvl4pPr>
            <a:lvl5pPr marL="283464"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5" name="Espace réservé du contenu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marL="283464" indent="-283464">
              <a:spcBef>
                <a:spcPts val="1000"/>
              </a:spcBef>
              <a:defRPr lang="fr-FR" sz="1800"/>
            </a:lvl2pPr>
            <a:lvl3pPr marL="283464" indent="-283464">
              <a:spcBef>
                <a:spcPts val="1000"/>
              </a:spcBef>
              <a:defRPr lang="fr-FR" sz="1800"/>
            </a:lvl3pPr>
            <a:lvl4pPr marL="283464" indent="-283464">
              <a:spcBef>
                <a:spcPts val="1000"/>
              </a:spcBef>
              <a:defRPr lang="fr-FR" sz="1800"/>
            </a:lvl4pPr>
            <a:lvl5pPr marL="283464"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fr-FR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fr-FR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fr-FR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fr-FR" sz="1800"/>
            </a:lvl4pPr>
            <a:lvl5pPr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indent="-283464">
              <a:spcBef>
                <a:spcPts val="1000"/>
              </a:spcBef>
              <a:defRPr lang="fr-FR" sz="1800"/>
            </a:lvl2pPr>
            <a:lvl3pPr indent="-283464">
              <a:spcBef>
                <a:spcPts val="1000"/>
              </a:spcBef>
              <a:defRPr lang="fr-FR" sz="1800"/>
            </a:lvl3pPr>
            <a:lvl4pPr indent="-283464">
              <a:spcBef>
                <a:spcPts val="1000"/>
              </a:spcBef>
              <a:defRPr lang="fr-FR" sz="1800"/>
            </a:lvl4pPr>
            <a:lvl5pPr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31" name="Espace réservé d’image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Forme 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/>
            </a:p>
          </p:txBody>
        </p:sp>
        <p:sp>
          <p:nvSpPr>
            <p:cNvPr id="21" name="Forme libre : Forme 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Forme 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 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44" name="Espace réservé du numéro de diapositive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rme libre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6" name="Image 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4" name="Forme libre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21" name="Image 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orme libre 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10" name="Espace réservé d’image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rtl="0"/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e libre 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/>
          </a:p>
        </p:txBody>
      </p:sp>
      <p:sp>
        <p:nvSpPr>
          <p:cNvPr id="10" name="Forme libre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0" name="Image 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" name="Espace réservé du texte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fr-FR" sz="1800"/>
            </a:lvl1pPr>
          </a:lstStyle>
          <a:p>
            <a:pPr rtl="0"/>
            <a:r>
              <a:rPr lang="fr-FR"/>
              <a:t>Cliquez pour ajouter un sous-titre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fr-FR" sz="1800"/>
            </a:lvl1pPr>
            <a:lvl2pPr>
              <a:defRPr lang="fr-FR" sz="1800"/>
            </a:lvl2pPr>
            <a:lvl3pPr>
              <a:defRPr lang="fr-FR" sz="1800"/>
            </a:lvl3pPr>
            <a:lvl4pPr>
              <a:defRPr lang="fr-FR" sz="1800"/>
            </a:lvl4pPr>
            <a:lvl5pPr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sme 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9" name="Forme libre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6" name="Espace réservé du contenu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8" name="Espace réservé du contenu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7" name="Espace réservé du numéro de diapositive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43" name="Graphisme 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sme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 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4" name="Espace réservé du contenu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6" name="Espace réservé du numéro de diapositive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ôtur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Forme 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9" name="Forme libre : Forme 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9" name="Image 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fr-FR" sz="2400"/>
            </a:lvl1pPr>
            <a:lvl2pPr marL="457200" indent="0" algn="ctr">
              <a:buNone/>
              <a:defRPr lang="fr-FR" sz="2000"/>
            </a:lvl2pPr>
            <a:lvl3pPr marL="914400" indent="0" algn="ctr">
              <a:buNone/>
              <a:defRPr lang="fr-FR" sz="1800"/>
            </a:lvl3pPr>
            <a:lvl4pPr marL="1371600" indent="0" algn="ctr">
              <a:buNone/>
              <a:defRPr lang="fr-FR" sz="1600"/>
            </a:lvl4pPr>
            <a:lvl5pPr marL="1828800" indent="0" algn="ctr">
              <a:buNone/>
              <a:defRPr lang="fr-FR" sz="1600"/>
            </a:lvl5pPr>
            <a:lvl6pPr marL="2286000" indent="0" algn="ctr">
              <a:buNone/>
              <a:defRPr lang="fr-FR" sz="1600"/>
            </a:lvl6pPr>
            <a:lvl7pPr marL="2743200" indent="0" algn="ctr">
              <a:buNone/>
              <a:defRPr lang="fr-FR" sz="1600"/>
            </a:lvl7pPr>
            <a:lvl8pPr marL="3200400" indent="0" algn="ctr">
              <a:buNone/>
              <a:defRPr lang="fr-FR" sz="1600"/>
            </a:lvl8pPr>
            <a:lvl9pPr marL="3657600" indent="0" algn="ctr">
              <a:buNone/>
              <a:defRPr lang="fr-FR" sz="1600"/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e libre : Forme 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Forme libre : Forme 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fr-FR"/>
            </a:def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Forme 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fr-FR" sz="32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fr-FR" sz="1600"/>
            </a:lvl1pPr>
            <a:lvl2pPr marL="457200" indent="0">
              <a:buNone/>
              <a:defRPr lang="fr-FR" sz="1400"/>
            </a:lvl2pPr>
            <a:lvl3pPr marL="914400" indent="0">
              <a:buNone/>
              <a:defRPr lang="fr-FR" sz="1200"/>
            </a:lvl3pPr>
            <a:lvl4pPr marL="1371600" indent="0">
              <a:buNone/>
              <a:defRPr lang="fr-FR" sz="1000"/>
            </a:lvl4pPr>
            <a:lvl5pPr marL="1828800" indent="0">
              <a:buNone/>
              <a:defRPr lang="fr-FR" sz="1000"/>
            </a:lvl5pPr>
            <a:lvl6pPr marL="2286000" indent="0">
              <a:buNone/>
              <a:defRPr lang="fr-FR" sz="1000"/>
            </a:lvl6pPr>
            <a:lvl7pPr marL="2743200" indent="0">
              <a:buNone/>
              <a:defRPr lang="fr-FR" sz="1000"/>
            </a:lvl7pPr>
            <a:lvl8pPr marL="3200400" indent="0">
              <a:buNone/>
              <a:defRPr lang="fr-FR" sz="1000"/>
            </a:lvl8pPr>
            <a:lvl9pPr marL="3657600" indent="0">
              <a:buNone/>
              <a:defRPr lang="fr-FR" sz="1000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fr-FR" sz="3200"/>
            </a:lvl1pPr>
            <a:lvl2pPr>
              <a:defRPr lang="fr-FR" sz="2800"/>
            </a:lvl2pPr>
            <a:lvl3pPr>
              <a:defRPr lang="fr-FR" sz="2400"/>
            </a:lvl3pPr>
            <a:lvl4pPr>
              <a:defRPr lang="fr-FR" sz="2000"/>
            </a:lvl4pPr>
            <a:lvl5pPr>
              <a:defRPr lang="fr-FR" sz="2000"/>
            </a:lvl5pPr>
            <a:lvl6pPr>
              <a:defRPr lang="fr-FR" sz="2000"/>
            </a:lvl6pPr>
            <a:lvl7pPr>
              <a:defRPr lang="fr-FR" sz="2000"/>
            </a:lvl7pPr>
            <a:lvl8pPr>
              <a:defRPr lang="fr-FR" sz="2000"/>
            </a:lvl8pPr>
            <a:lvl9pPr>
              <a:defRPr lang="fr-FR" sz="2000"/>
            </a:lvl9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Forme 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fr-FR" sz="32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fr-FR" sz="1600"/>
            </a:lvl1pPr>
            <a:lvl2pPr marL="457200" indent="0">
              <a:buNone/>
              <a:defRPr lang="fr-FR" sz="1400"/>
            </a:lvl2pPr>
            <a:lvl3pPr marL="914400" indent="0">
              <a:buNone/>
              <a:defRPr lang="fr-FR" sz="1200"/>
            </a:lvl3pPr>
            <a:lvl4pPr marL="1371600" indent="0">
              <a:buNone/>
              <a:defRPr lang="fr-FR" sz="1000"/>
            </a:lvl4pPr>
            <a:lvl5pPr marL="1828800" indent="0">
              <a:buNone/>
              <a:defRPr lang="fr-FR" sz="1000"/>
            </a:lvl5pPr>
            <a:lvl6pPr marL="2286000" indent="0">
              <a:buNone/>
              <a:defRPr lang="fr-FR" sz="1000"/>
            </a:lvl6pPr>
            <a:lvl7pPr marL="2743200" indent="0">
              <a:buNone/>
              <a:defRPr lang="fr-FR" sz="1000"/>
            </a:lvl7pPr>
            <a:lvl8pPr marL="3200400" indent="0">
              <a:buNone/>
              <a:defRPr lang="fr-FR" sz="1000"/>
            </a:lvl8pPr>
            <a:lvl9pPr marL="3657600" indent="0">
              <a:buNone/>
              <a:defRPr lang="fr-FR" sz="1000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fr-FR" sz="2800"/>
            </a:lvl1pPr>
            <a:lvl2pPr marL="457200" indent="0">
              <a:buNone/>
              <a:defRPr lang="fr-FR" sz="2800"/>
            </a:lvl2pPr>
            <a:lvl3pPr marL="914400" indent="0">
              <a:buNone/>
              <a:defRPr lang="fr-FR" sz="2400"/>
            </a:lvl3pPr>
            <a:lvl4pPr marL="1371600" indent="0">
              <a:buNone/>
              <a:defRPr lang="fr-FR" sz="2000"/>
            </a:lvl4pPr>
            <a:lvl5pPr marL="1828800" indent="0">
              <a:buNone/>
              <a:defRPr lang="fr-FR" sz="2000"/>
            </a:lvl5pPr>
            <a:lvl6pPr marL="2286000" indent="0">
              <a:buNone/>
              <a:defRPr lang="fr-FR" sz="2000"/>
            </a:lvl6pPr>
            <a:lvl7pPr marL="2743200" indent="0">
              <a:buNone/>
              <a:defRPr lang="fr-FR" sz="2000"/>
            </a:lvl7pPr>
            <a:lvl8pPr marL="3200400" indent="0">
              <a:buNone/>
              <a:defRPr lang="fr-FR" sz="2000"/>
            </a:lvl8pPr>
            <a:lvl9pPr marL="3657600" indent="0">
              <a:buNone/>
              <a:defRPr lang="fr-FR" sz="2000"/>
            </a:lvl9pPr>
          </a:lstStyle>
          <a:p>
            <a:pPr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fr-FR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fr-FR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47FA418-670C-5849-7D58-E3DE4DD77DBD}"/>
              </a:ext>
            </a:extLst>
          </p:cNvPr>
          <p:cNvSpPr/>
          <p:nvPr/>
        </p:nvSpPr>
        <p:spPr>
          <a:xfrm>
            <a:off x="4844716" y="3388895"/>
            <a:ext cx="4219073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7186" y="206838"/>
            <a:ext cx="5157628" cy="848396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système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2E339BF-E6D7-DD0E-AF02-6813852EE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3463" y="5220627"/>
            <a:ext cx="9365074" cy="1313738"/>
          </a:xfrm>
        </p:spPr>
        <p:txBody>
          <a:bodyPr rtlCol="0">
            <a:normAutofit/>
          </a:bodyPr>
          <a:lstStyle>
            <a:defPPr>
              <a:defRPr lang="fr-FR"/>
            </a:defPPr>
          </a:lstStyle>
          <a:p>
            <a:pPr algn="ctr" rtl="0"/>
            <a:r>
              <a:rPr lang="fr-FR" sz="2600" dirty="0"/>
              <a:t>Cylindre de fluide visqueux, plastique, élastique, soumis à une compression par une masse totale M.</a:t>
            </a:r>
          </a:p>
          <a:p>
            <a:endParaRPr lang="fr-FR" sz="2800" dirty="0"/>
          </a:p>
          <a:p>
            <a:pPr rtl="0"/>
            <a:endParaRPr lang="fr-FR" sz="280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A28180B8-A36F-7D12-B48A-CC195D702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887" y="1502176"/>
            <a:ext cx="7257611" cy="3395417"/>
          </a:xfrm>
          <a:prstGeom prst="rect">
            <a:avLst/>
          </a:prstGeom>
          <a:ln w="57150">
            <a:solidFill>
              <a:srgbClr val="AAC4E9"/>
            </a:solidFill>
          </a:ln>
        </p:spPr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4FE51-6780-42FD-384E-7EEDE5AA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F7D17B-11D9-1D63-A058-8CB457A232B9}"/>
              </a:ext>
            </a:extLst>
          </p:cNvPr>
          <p:cNvSpPr/>
          <p:nvPr/>
        </p:nvSpPr>
        <p:spPr>
          <a:xfrm>
            <a:off x="4844716" y="3388895"/>
            <a:ext cx="4219073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E316BFA-81E5-1476-7833-6CF1FFF08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7186" y="206838"/>
            <a:ext cx="5157628" cy="848396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Modèle physique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texte 2">
                <a:extLst>
                  <a:ext uri="{FF2B5EF4-FFF2-40B4-BE49-F238E27FC236}">
                    <a16:creationId xmlns:a16="http://schemas.microsoft.com/office/drawing/2014/main" id="{33FBCD3A-9804-E584-9E02-CB447E489A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79702" y="1447926"/>
                <a:ext cx="10429982" cy="2264144"/>
              </a:xfrm>
            </p:spPr>
            <p:txBody>
              <a:bodyPr rtlCol="0">
                <a:normAutofit/>
              </a:bodyPr>
              <a:lstStyle>
                <a:defPPr>
                  <a:defRPr lang="fr-FR"/>
                </a:defPPr>
              </a:lstStyle>
              <a:p>
                <a:pPr rtl="0"/>
                <a:r>
                  <a:rPr lang="fr-FR" sz="2600" b="1" dirty="0"/>
                  <a:t>Herschel-</a:t>
                </a:r>
                <a:r>
                  <a:rPr lang="fr-FR" sz="2600" b="1" dirty="0" err="1"/>
                  <a:t>Bulkley</a:t>
                </a:r>
                <a:r>
                  <a:rPr lang="fr-FR" sz="2600" b="1" dirty="0"/>
                  <a:t> :</a:t>
                </a:r>
              </a:p>
              <a:p>
                <a:r>
                  <a:rPr lang="fr-FR" sz="2600" dirty="0"/>
                  <a:t>Donne l’équation constitutive d’un fluide </a:t>
                </a:r>
                <a:r>
                  <a:rPr lang="fr-FR" sz="2600" b="1" dirty="0" err="1"/>
                  <a:t>visco-plastique</a:t>
                </a:r>
                <a:r>
                  <a:rPr lang="fr-FR" sz="2600" dirty="0"/>
                  <a:t> 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6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fr-FR" sz="26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60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sz="2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fr-FR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p>
                          <m:r>
                            <a:rPr lang="fr-FR" sz="260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r-FR" sz="2600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600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600" i="0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6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600" b="0" i="1" dirty="0" smtClean="0">
                          <a:latin typeface="Cambria Math" panose="02040503050406030204" pitchFamily="18" charset="0"/>
                        </a:rPr>
                        <m:t>𝑠𝑖</m:t>
                      </m:r>
                      <m:r>
                        <a:rPr lang="fr-FR" sz="26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6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fr-FR" sz="2600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fr-FR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2600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600" b="0" i="1" smtClean="0">
                          <a:latin typeface="Cambria Math" panose="02040503050406030204" pitchFamily="18" charset="0"/>
                        </a:rPr>
                        <m:t>𝑠𝑖𝑛𝑜𝑛</m:t>
                      </m:r>
                      <m:acc>
                        <m:accPr>
                          <m:chr m:val="̇"/>
                          <m:ctrlPr>
                            <a:rPr lang="fr-FR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fr-FR" sz="2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acc>
                    </m:oMath>
                  </m:oMathPara>
                </a14:m>
                <a:endParaRPr lang="fr-FR" sz="2600" dirty="0"/>
              </a:p>
              <a:p>
                <a:endParaRPr lang="fr-FR" sz="2600" dirty="0"/>
              </a:p>
              <a:p>
                <a:pPr rtl="0"/>
                <a:endParaRPr lang="fr-FR" sz="2600" dirty="0"/>
              </a:p>
            </p:txBody>
          </p:sp>
        </mc:Choice>
        <mc:Fallback>
          <p:sp>
            <p:nvSpPr>
              <p:cNvPr id="3" name="Espace réservé du texte 2">
                <a:extLst>
                  <a:ext uri="{FF2B5EF4-FFF2-40B4-BE49-F238E27FC236}">
                    <a16:creationId xmlns:a16="http://schemas.microsoft.com/office/drawing/2014/main" id="{33FBCD3A-9804-E584-9E02-CB447E489A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9702" y="1447926"/>
                <a:ext cx="10429982" cy="2264144"/>
              </a:xfrm>
              <a:blipFill>
                <a:blip r:embed="rId3"/>
                <a:stretch>
                  <a:fillRect l="-1052" t="-48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Espace réservé du texte 2">
                <a:extLst>
                  <a:ext uri="{FF2B5EF4-FFF2-40B4-BE49-F238E27FC236}">
                    <a16:creationId xmlns:a16="http://schemas.microsoft.com/office/drawing/2014/main" id="{65F10EB9-8358-3DF4-5FF2-FAFBE7CF9EA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79702" y="3276260"/>
                <a:ext cx="8031687" cy="1632159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600" b="1" dirty="0"/>
                  <a:t>Kelvin-Voigt :</a:t>
                </a:r>
              </a:p>
              <a:p>
                <a:r>
                  <a:rPr lang="fr-FR" sz="2600" dirty="0"/>
                  <a:t>Donne l’expression de la contrainte résultante d’un fluide </a:t>
                </a:r>
                <a:r>
                  <a:rPr lang="fr-FR" sz="2600" b="1" dirty="0" err="1"/>
                  <a:t>visco-élastiqu</a:t>
                </a:r>
                <a:r>
                  <a:rPr lang="fr-FR" sz="2600" b="1" dirty="0"/>
                  <a:t>e</a:t>
                </a:r>
                <a:r>
                  <a:rPr lang="fr-FR" sz="2600" dirty="0"/>
                  <a:t> : </a:t>
                </a:r>
                <a:r>
                  <a:rPr lang="fr-FR" sz="2600" b="1" dirty="0"/>
                  <a:t>	</a:t>
                </a:r>
                <a14:m>
                  <m:oMath xmlns:m="http://schemas.openxmlformats.org/officeDocument/2006/math">
                    <m:r>
                      <a:rPr lang="fr-FR" sz="260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fr-FR" sz="26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ar-AE" sz="2600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600" i="1" smtClean="0">
                        <a:latin typeface="Cambria Math" panose="02040503050406030204" pitchFamily="18" charset="0"/>
                      </a:rPr>
                      <m:t>𝑘</m:t>
                    </m:r>
                    <m:sSup>
                      <m:sSupPr>
                        <m:ctrlPr>
                          <a:rPr lang="ar-AE" sz="2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ar-AE" sz="2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ar-AE" sz="2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ar-AE" sz="260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ar-AE" sz="2600" dirty="0"/>
              </a:p>
              <a:p>
                <a:endParaRPr lang="ar-AE" sz="2600" dirty="0"/>
              </a:p>
              <a:p>
                <a:endParaRPr lang="ar-AE" sz="2600" dirty="0"/>
              </a:p>
            </p:txBody>
          </p:sp>
        </mc:Choice>
        <mc:Fallback>
          <p:sp>
            <p:nvSpPr>
              <p:cNvPr id="11" name="Espace réservé du texte 2">
                <a:extLst>
                  <a:ext uri="{FF2B5EF4-FFF2-40B4-BE49-F238E27FC236}">
                    <a16:creationId xmlns:a16="http://schemas.microsoft.com/office/drawing/2014/main" id="{65F10EB9-8358-3DF4-5FF2-FAFBE7CF9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702" y="3276260"/>
                <a:ext cx="8031687" cy="1632159"/>
              </a:xfrm>
              <a:prstGeom prst="rect">
                <a:avLst/>
              </a:prstGeom>
              <a:blipFill>
                <a:blip r:embed="rId4"/>
                <a:stretch>
                  <a:fillRect l="-1366" t="-63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Image 14">
            <a:extLst>
              <a:ext uri="{FF2B5EF4-FFF2-40B4-BE49-F238E27FC236}">
                <a16:creationId xmlns:a16="http://schemas.microsoft.com/office/drawing/2014/main" id="{CAE50F76-4E12-8504-9139-6A8DF2E7A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010" y="2909588"/>
            <a:ext cx="2689674" cy="179625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2C94D156-8166-AF11-E939-C3D496469A5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12331" y="5068883"/>
                <a:ext cx="5564724" cy="1322641"/>
              </a:xfrm>
              <a:prstGeom prst="rect">
                <a:avLst/>
              </a:prstGeom>
              <a:noFill/>
              <a:ln w="76200">
                <a:solidFill>
                  <a:srgbClr val="F5CDCE"/>
                </a:solidFill>
              </a:ln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:endParaRPr lang="fr-FR" sz="16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600" b="0" i="1" smtClean="0">
                              <a:latin typeface="Cambria Math" panose="02040503050406030204" pitchFamily="18" charset="0"/>
                            </a:rPr>
                            <m:t>𝑚𝑎𝑡</m:t>
                          </m:r>
                          <m:r>
                            <a:rPr lang="fr-FR" sz="2600" b="0" i="1" smtClean="0">
                              <a:latin typeface="Cambria Math" panose="02040503050406030204" pitchFamily="18" charset="0"/>
                            </a:rPr>
                            <m:t>é</m:t>
                          </m:r>
                          <m:r>
                            <a:rPr lang="fr-FR" sz="2600" b="0" i="1" smtClean="0">
                              <a:latin typeface="Cambria Math" panose="02040503050406030204" pitchFamily="18" charset="0"/>
                            </a:rPr>
                            <m:t>𝑟𝑖𝑎𝑢</m:t>
                          </m:r>
                        </m:sub>
                      </m:sSub>
                      <m:r>
                        <a:rPr lang="fr-FR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600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ar-AE" sz="2600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fr-FR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600" i="1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fr-FR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p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r-FR" sz="2600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600" i="1" dirty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600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6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600" i="1" dirty="0">
                          <a:latin typeface="Cambria Math" panose="02040503050406030204" pitchFamily="18" charset="0"/>
                        </a:rPr>
                        <m:t>𝑠𝑖</m:t>
                      </m:r>
                      <m:r>
                        <a:rPr lang="fr-FR" sz="26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6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fr-FR" sz="26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fr-FR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26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600" i="1">
                          <a:latin typeface="Cambria Math" panose="02040503050406030204" pitchFamily="18" charset="0"/>
                        </a:rPr>
                        <m:t>𝑠𝑖𝑛𝑜𝑛</m:t>
                      </m:r>
                      <m:acc>
                        <m:accPr>
                          <m:chr m:val="̇"/>
                          <m:ctrlPr>
                            <a:rPr lang="fr-FR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acc>
                    </m:oMath>
                  </m:oMathPara>
                </a14:m>
                <a:endParaRPr lang="ar-AE" sz="2600" dirty="0"/>
              </a:p>
              <a:p>
                <a:endParaRPr lang="ar-AE" sz="2800" dirty="0"/>
              </a:p>
              <a:p>
                <a:endParaRPr lang="ar-AE" sz="2800" dirty="0"/>
              </a:p>
            </p:txBody>
          </p:sp>
        </mc:Choice>
        <mc:Fallback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2C94D156-8166-AF11-E939-C3D496469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31" y="5068883"/>
                <a:ext cx="5564724" cy="13226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76200">
                <a:solidFill>
                  <a:srgbClr val="F5CDCE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2823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0"/>
            <a:ext cx="10511627" cy="1012785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Etalement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C8E859B9-9F35-2E24-9143-626F8B0AE814}"/>
              </a:ext>
            </a:extLst>
          </p:cNvPr>
          <p:cNvSpPr txBox="1">
            <a:spLocks/>
          </p:cNvSpPr>
          <p:nvPr/>
        </p:nvSpPr>
        <p:spPr>
          <a:xfrm>
            <a:off x="2128281" y="5845215"/>
            <a:ext cx="8031687" cy="1012785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600" dirty="0"/>
              <a:t>Rayon et hauteur du cylindre de fluide au cours de la compression sous une masse de 100g.</a:t>
            </a:r>
            <a:endParaRPr lang="ar-AE" sz="2600" dirty="0"/>
          </a:p>
          <a:p>
            <a:endParaRPr lang="ar-AE" sz="2800" dirty="0"/>
          </a:p>
          <a:p>
            <a:endParaRPr lang="ar-AE" sz="2800" dirty="0"/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06982985-6AFA-DE90-3541-CC75288F3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4345" y="1276239"/>
            <a:ext cx="7963309" cy="4305521"/>
          </a:xfrm>
          <a:prstGeom prst="rect">
            <a:avLst/>
          </a:prstGeom>
          <a:ln w="57150">
            <a:solidFill>
              <a:srgbClr val="F5CDCE"/>
            </a:solidFill>
          </a:ln>
        </p:spPr>
      </p:pic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852C4-C2F6-54F1-9878-D5C32908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74827-A678-007C-9C41-A1B93FEA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0"/>
            <a:ext cx="10511627" cy="1012785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Contribution des contraintes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5C4F4F2-D8B9-0CD1-0B5F-E4E6D9DA3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940" y="1278473"/>
            <a:ext cx="7460927" cy="5073134"/>
          </a:xfrm>
          <a:prstGeom prst="rect">
            <a:avLst/>
          </a:prstGeom>
          <a:ln w="57150">
            <a:solidFill>
              <a:srgbClr val="F5CDCE"/>
            </a:solidFill>
          </a:ln>
        </p:spPr>
      </p:pic>
      <p:sp>
        <p:nvSpPr>
          <p:cNvPr id="11" name="Espace réservé du texte 2">
            <a:extLst>
              <a:ext uri="{FF2B5EF4-FFF2-40B4-BE49-F238E27FC236}">
                <a16:creationId xmlns:a16="http://schemas.microsoft.com/office/drawing/2014/main" id="{9270BBE5-1A36-521D-F545-C202929F1CFC}"/>
              </a:ext>
            </a:extLst>
          </p:cNvPr>
          <p:cNvSpPr txBox="1">
            <a:spLocks/>
          </p:cNvSpPr>
          <p:nvPr/>
        </p:nvSpPr>
        <p:spPr>
          <a:xfrm>
            <a:off x="8785076" y="2078148"/>
            <a:ext cx="2566737" cy="3726033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600" dirty="0"/>
              <a:t>Contraintes normalisées par la compression et le poids, au cours de la compression sous une masse de 100g.</a:t>
            </a:r>
            <a:endParaRPr lang="ar-AE" sz="2600" dirty="0"/>
          </a:p>
          <a:p>
            <a:endParaRPr lang="ar-AE" sz="2600" dirty="0"/>
          </a:p>
          <a:p>
            <a:endParaRPr lang="ar-AE" sz="2600" dirty="0"/>
          </a:p>
        </p:txBody>
      </p:sp>
    </p:spTree>
    <p:extLst>
      <p:ext uri="{BB962C8B-B14F-4D97-AF65-F5344CB8AC3E}">
        <p14:creationId xmlns:p14="http://schemas.microsoft.com/office/powerpoint/2010/main" val="3801704473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5_TF78438558_Win32" id="{3A360CBA-99A0-49ED-B63F-2D1627BB2518}" vid="{56FFFEFC-6F1D-4078-81C7-9B5A182BBA3B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262EAC855B9A4AA1EA640DE55D9291" ma:contentTypeVersion="1" ma:contentTypeDescription="Crée un document." ma:contentTypeScope="" ma:versionID="b77c85bbfd0b92efe37df041e558d067">
  <xsd:schema xmlns:xsd="http://www.w3.org/2001/XMLSchema" xmlns:xs="http://www.w3.org/2001/XMLSchema" xmlns:p="http://schemas.microsoft.com/office/2006/metadata/properties" xmlns:ns3="5fe2be53-eead-4083-8773-55ad5d51649a" targetNamespace="http://schemas.microsoft.com/office/2006/metadata/properties" ma:root="true" ma:fieldsID="d116f912760d7d2eb93dc091ad074d5c" ns3:_="">
    <xsd:import namespace="5fe2be53-eead-4083-8773-55ad5d51649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e2be53-eead-4083-8773-55ad5d51649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infopath/2007/PartnerControls"/>
    <ds:schemaRef ds:uri="http://purl.org/dc/elements/1.1/"/>
    <ds:schemaRef ds:uri="http://schemas.microsoft.com/office/2006/metadata/properties"/>
    <ds:schemaRef ds:uri="5fe2be53-eead-4083-8773-55ad5d51649a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95F1B84-5324-45B5-9B4C-63D8886BFB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e2be53-eead-4083-8773-55ad5d5164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{B144AA22-32CD-464F-9B84-C38381DD4068}TF8a9b5915-b8c7-461e-8cdd-693d48b5e32310e906f8_win32-220c37ecc522</Template>
  <TotalTime>86</TotalTime>
  <Words>120</Words>
  <Application>Microsoft Office PowerPoint</Application>
  <PresentationFormat>Grand écran</PresentationFormat>
  <Paragraphs>16</Paragraphs>
  <Slides>4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10" baseType="lpstr">
      <vt:lpstr>Arial</vt:lpstr>
      <vt:lpstr>Arial Black</vt:lpstr>
      <vt:lpstr>Calibri</vt:lpstr>
      <vt:lpstr>Cambria Math</vt:lpstr>
      <vt:lpstr>Sabon Next LT</vt:lpstr>
      <vt:lpstr>Personnalisé</vt:lpstr>
      <vt:lpstr>système</vt:lpstr>
      <vt:lpstr>Modèle physique</vt:lpstr>
      <vt:lpstr>Etalement</vt:lpstr>
      <vt:lpstr>Contribution des contraintes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Joséphine PERONNE</dc:creator>
  <cp:lastModifiedBy>Joséphine PERONNE</cp:lastModifiedBy>
  <cp:revision>2</cp:revision>
  <dcterms:created xsi:type="dcterms:W3CDTF">2026-01-21T13:52:05Z</dcterms:created>
  <dcterms:modified xsi:type="dcterms:W3CDTF">2026-01-21T15:18:48Z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0x0101007A262EAC855B9A4AA1EA640DE55D9291</vt:lpwstr>
  </property>
</Properties>
</file>