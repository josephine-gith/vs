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5"/>
  </p:notesMasterIdLst>
  <p:handoutMasterIdLst>
    <p:handoutMasterId r:id="rId16"/>
  </p:handoutMasterIdLst>
  <p:sldIdLst>
    <p:sldId id="281" r:id="rId5"/>
    <p:sldId id="325" r:id="rId6"/>
    <p:sldId id="322" r:id="rId7"/>
    <p:sldId id="334" r:id="rId8"/>
    <p:sldId id="324" r:id="rId9"/>
    <p:sldId id="332" r:id="rId10"/>
    <p:sldId id="335" r:id="rId11"/>
    <p:sldId id="329" r:id="rId12"/>
    <p:sldId id="330" r:id="rId13"/>
    <p:sldId id="331" r:id="rId14"/>
  </p:sldIdLst>
  <p:sldSz cx="12192000" cy="6858000"/>
  <p:notesSz cx="13716000" cy="24384000"/>
  <p:defaultTextStyle>
    <a:defPPr rtl="0">
      <a:defRPr lang="fr-FR"/>
    </a:defPPr>
    <a:lvl1pPr marL="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CDCE"/>
    <a:srgbClr val="DF8C8C"/>
    <a:srgbClr val="AAC3E8"/>
    <a:srgbClr val="AAC4E9"/>
    <a:srgbClr val="202C8F"/>
    <a:srgbClr val="FDFAF6"/>
    <a:srgbClr val="FDFBF6"/>
    <a:srgbClr val="D4D593"/>
    <a:srgbClr val="E6F0FE"/>
    <a:srgbClr val="CDBE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 snapToObjects="1">
      <p:cViewPr>
        <p:scale>
          <a:sx n="66" d="100"/>
          <a:sy n="66" d="100"/>
        </p:scale>
        <p:origin x="668" y="16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31" d="100"/>
          <a:sy n="31" d="100"/>
        </p:scale>
        <p:origin x="4392" y="1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A7C9947C-0B99-4CC9-AA3C-4A4AC8D4662C}" type="datetimeyyyy">
              <a:rPr lang="fr-FR" smtClean="0"/>
              <a:t>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420BD0AB-C59E-4A46-83D3-F07787446BA0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lang="fr-FR"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BD47E-9E7F-B82D-4791-876AF65F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A31ED92-6A69-745E-44B9-AE39E1A9E0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6995F080-C548-5E6D-485E-E903210EA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454596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FEB11-14CB-8B84-0C01-AC932E70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F70A2E57-BFFE-FE17-20FA-8B4669729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902B92E3-4D58-6F65-8641-14F8BF651A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49522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0" name="Freeform: Forme 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8" name="Freeform: Form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rtlCol="0" anchor="ctr" anchorCtr="0">
            <a:noAutofit/>
          </a:bodyPr>
          <a:lstStyle>
            <a:lvl1pPr algn="ctr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re du j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orme libre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8" name="Forme libre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grpSp>
        <p:nvGrpSpPr>
          <p:cNvPr id="9" name="Groupe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orme libre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  <p:sp>
          <p:nvSpPr>
            <p:cNvPr id="11" name="Forme libre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14" name="Image 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3" name="Espace réservé du contenu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50000"/>
              </a:lnSpc>
              <a:spcBef>
                <a:spcPts val="0"/>
              </a:spcBef>
              <a:defRPr lang="fr-FR" sz="2000"/>
            </a:lvl2pPr>
            <a:lvl3pPr marL="685800">
              <a:lnSpc>
                <a:spcPct val="150000"/>
              </a:lnSpc>
              <a:spcBef>
                <a:spcPts val="0"/>
              </a:spcBef>
              <a:defRPr lang="fr-FR" sz="18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Forme 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/>
            </a:p>
          </p:txBody>
        </p:sp>
        <p:sp>
          <p:nvSpPr>
            <p:cNvPr id="15" name="Freeform: Forme 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 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2" name="Titr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rtlCol="0" anchor="ctr">
            <a:noAutofit/>
          </a:bodyPr>
          <a:lstStyle>
            <a:lvl1pPr algn="l">
              <a:lnSpc>
                <a:spcPct val="100000"/>
              </a:lnSpc>
              <a:defRPr lang="fr-FR" sz="3600" b="1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8" name="Espace réservé d’image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 rtlCol="0">
            <a:normAutofit/>
          </a:bodyPr>
          <a:lstStyle>
            <a:lvl1pPr marL="0" indent="0">
              <a:buNone/>
              <a:defRPr lang="fr-FR" sz="1800"/>
            </a:lvl1pPr>
          </a:lstStyle>
          <a:p>
            <a:pPr lvl="0" rtl="0"/>
            <a:r>
              <a:rPr lang="fr-FR"/>
              <a:t>Cliquez ici pour ajouter une image.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sp>
        <p:nvSpPr>
          <p:cNvPr id="36" name="Forme libre 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33" name="Forme libre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lvl="0" algn="ctr" rtl="0"/>
            <a:endParaRPr lang="fr-FR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Cliquer pour ajouter du texte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fr-FR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fr-FR" sz="24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52" name="Espace réservé d’image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 rtlCol="0">
            <a:normAutofit/>
          </a:bodyPr>
          <a:lstStyle>
            <a:lvl1pPr marL="0" indent="0">
              <a:buNone/>
              <a:defRPr lang="fr-FR" sz="1800"/>
            </a:lvl1pPr>
          </a:lstStyle>
          <a:p>
            <a:pPr lvl="0" rtl="0"/>
            <a:r>
              <a:rPr lang="fr-FR"/>
              <a:t>Cliquez ici pour ajouter une image.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 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53" name="Freeform: Forme 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9" name="Forme libre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31" name="Forme libre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33" name="Image 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rtlCol="0" anchor="b" anchorCtr="0">
            <a:noAutofit/>
          </a:bodyPr>
          <a:lstStyle>
            <a:lvl1pPr algn="l">
              <a:lnSpc>
                <a:spcPct val="100000"/>
              </a:lnSpc>
              <a:defRPr lang="fr-FR" sz="3600" b="1">
                <a:latin typeface="+mj-lt"/>
                <a:cs typeface="Arial" panose="020B0604020202020204" pitchFamily="34" charset="0"/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3" name="Espace réservé du contenu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8" name="Espace réservé du numéro de diapositive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r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13" name="Image 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Forme 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17" name="Image 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19" name="Image 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Espace réservé du numéro de diapositive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" name="Espace réservé du contenu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fr-FR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fr-FR" sz="24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 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orme libre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8" name="Forme libre 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4" name="Forme libre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6" name="Forme libre 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0" name="Titr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9" name="Espace réservé du numéro de diapositive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3" name="Espace réservé du contenu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fr-FR" sz="1800"/>
            </a:lvl1pPr>
            <a:lvl2pPr marL="283464" indent="-283464">
              <a:spcBef>
                <a:spcPts val="1000"/>
              </a:spcBef>
              <a:defRPr lang="fr-FR" sz="1800"/>
            </a:lvl2pPr>
            <a:lvl3pPr marL="283464" indent="-283464">
              <a:spcBef>
                <a:spcPts val="1000"/>
              </a:spcBef>
              <a:defRPr lang="fr-FR" sz="1800"/>
            </a:lvl3pPr>
            <a:lvl4pPr marL="283464" indent="-283464">
              <a:spcBef>
                <a:spcPts val="1000"/>
              </a:spcBef>
              <a:defRPr lang="fr-FR" sz="1800"/>
            </a:lvl4pPr>
            <a:lvl5pPr marL="283464"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5" name="Espace réservé du contenu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fr-FR" sz="1800"/>
            </a:lvl1pPr>
            <a:lvl2pPr marL="283464" indent="-283464">
              <a:spcBef>
                <a:spcPts val="1000"/>
              </a:spcBef>
              <a:defRPr lang="fr-FR" sz="1800"/>
            </a:lvl2pPr>
            <a:lvl3pPr marL="283464" indent="-283464">
              <a:spcBef>
                <a:spcPts val="1000"/>
              </a:spcBef>
              <a:defRPr lang="fr-FR" sz="1800"/>
            </a:lvl3pPr>
            <a:lvl4pPr marL="283464" indent="-283464">
              <a:spcBef>
                <a:spcPts val="1000"/>
              </a:spcBef>
              <a:defRPr lang="fr-FR" sz="1800"/>
            </a:lvl4pPr>
            <a:lvl5pPr marL="283464"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 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fr-FR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 rtlCol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lang="fr-FR"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lang="fr-FR"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lang="fr-FR"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lang="fr-FR" sz="1800"/>
            </a:lvl4pPr>
            <a:lvl5pPr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1000"/>
              </a:spcBef>
              <a:buNone/>
              <a:defRPr lang="fr-FR" sz="1800"/>
            </a:lvl1pPr>
            <a:lvl2pPr indent="-283464">
              <a:spcBef>
                <a:spcPts val="1000"/>
              </a:spcBef>
              <a:defRPr lang="fr-FR" sz="1800"/>
            </a:lvl2pPr>
            <a:lvl3pPr indent="-283464">
              <a:spcBef>
                <a:spcPts val="1000"/>
              </a:spcBef>
              <a:defRPr lang="fr-FR" sz="1800"/>
            </a:lvl3pPr>
            <a:lvl4pPr indent="-283464">
              <a:spcBef>
                <a:spcPts val="1000"/>
              </a:spcBef>
              <a:defRPr lang="fr-FR" sz="1800"/>
            </a:lvl4pPr>
            <a:lvl5pPr indent="-283464"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31" name="Espace réservé d’image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rtlCol="0">
            <a:noAutofit/>
          </a:bodyPr>
          <a:lstStyle>
            <a:lvl1pPr marL="0" indent="0">
              <a:buNone/>
              <a:defRPr lang="fr-FR" sz="1800"/>
            </a:lvl1pPr>
          </a:lstStyle>
          <a:p>
            <a:pPr lvl="0" rtl="0"/>
            <a:r>
              <a:rPr lang="fr-FR"/>
              <a:t>Cliquez ici pour ajouter une image.</a:t>
            </a:r>
          </a:p>
        </p:txBody>
      </p: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Forme 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/>
            </a:p>
          </p:txBody>
        </p:sp>
        <p:sp>
          <p:nvSpPr>
            <p:cNvPr id="21" name="Forme libre : Forme 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Forme 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noAutofit/>
            </a:bodyPr>
            <a:lstStyle>
              <a:defPPr>
                <a:defRPr lang="fr-FR"/>
              </a:defPPr>
            </a:lstStyle>
            <a:p>
              <a:pPr lvl="0" rtl="0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 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fr-FR"/>
              </a:defPPr>
            </a:lstStyle>
            <a:p>
              <a:pPr rtl="0"/>
              <a:endParaRPr lang="fr-FR" dirty="0"/>
            </a:p>
          </p:txBody>
        </p:sp>
      </p:grpSp>
      <p:sp>
        <p:nvSpPr>
          <p:cNvPr id="44" name="Espace réservé du numéro de diapositive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ésumé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rme libre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6" name="Image 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14" name="Forme libre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21" name="Image 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orme libre 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 b="1"/>
            </a:lvl1pPr>
          </a:lstStyle>
          <a:p>
            <a:pPr rtl="0"/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fr-FR" sz="2400"/>
            </a:lvl1pPr>
            <a:lvl2pPr marL="347472">
              <a:lnSpc>
                <a:spcPct val="100000"/>
              </a:lnSpc>
              <a:spcBef>
                <a:spcPts val="0"/>
              </a:spcBef>
              <a:defRPr lang="fr-FR" sz="2400"/>
            </a:lvl2pPr>
            <a:lvl3pPr marL="685800">
              <a:lnSpc>
                <a:spcPct val="100000"/>
              </a:lnSpc>
              <a:spcBef>
                <a:spcPts val="0"/>
              </a:spcBef>
              <a:defRPr lang="fr-FR" sz="2400"/>
            </a:lvl3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</p:txBody>
      </p:sp>
      <p:sp>
        <p:nvSpPr>
          <p:cNvPr id="10" name="Espace réservé d’image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>
              <a:buNone/>
              <a:defRPr lang="fr-FR" sz="1800"/>
            </a:lvl1pPr>
          </a:lstStyle>
          <a:p>
            <a:pPr rtl="0"/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0" name="Espace réservé du numéro de diapositive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e libre 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/>
          </a:p>
        </p:txBody>
      </p:sp>
      <p:sp>
        <p:nvSpPr>
          <p:cNvPr id="10" name="Forme libre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30" name="Image 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 rtlCol="0"/>
          <a:lstStyle>
            <a:lvl1pPr algn="l">
              <a:lnSpc>
                <a:spcPct val="100000"/>
              </a:lnSpc>
              <a:defRPr lang="fr-FR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4" name="Espace réservé du texte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rtlCol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fr-FR" sz="1800"/>
            </a:lvl1pPr>
          </a:lstStyle>
          <a:p>
            <a:pPr rtl="0"/>
            <a:r>
              <a:rPr lang="fr-FR"/>
              <a:t>Cliquez pour ajouter un sous-titre</a:t>
            </a: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 rtlCol="0">
            <a:normAutofit/>
          </a:bodyPr>
          <a:lstStyle>
            <a:lvl1pPr>
              <a:defRPr lang="fr-FR" sz="1800"/>
            </a:lvl1pPr>
            <a:lvl2pPr>
              <a:defRPr lang="fr-FR" sz="1800"/>
            </a:lvl2pPr>
            <a:lvl3pPr>
              <a:defRPr lang="fr-FR" sz="1800"/>
            </a:lvl3pPr>
            <a:lvl4pPr>
              <a:defRPr lang="fr-FR" sz="1800"/>
            </a:lvl4pPr>
            <a:lvl5pPr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0" name="Espace réservé du numéro de diapositive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ésumé 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sme 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 rtlCol="0">
            <a:noAutofit/>
          </a:bodyPr>
          <a:lstStyle>
            <a:lvl1pPr algn="l">
              <a:lnSpc>
                <a:spcPct val="100000"/>
              </a:lnSpc>
              <a:defRPr lang="fr-FR" sz="3600" b="1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49" name="Forme libre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16" name="Espace réservé du contenu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8" name="Espace réservé du contenu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27" name="Espace réservé du numéro de diapositive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43" name="Graphisme 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sme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 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 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fr-FR"/>
            </a:defPPr>
          </a:lstStyle>
          <a:p>
            <a:pPr algn="ctr" rtl="0"/>
            <a:endParaRPr lang="fr-FR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fr-FR"/>
            </a:defPPr>
          </a:lstStyle>
          <a:p>
            <a:pPr algn="ctr" rtl="0"/>
            <a:endParaRPr lang="fr-FR" sz="160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 rtlCol="0"/>
          <a:lstStyle>
            <a:lvl1pPr algn="ctr">
              <a:lnSpc>
                <a:spcPct val="100000"/>
              </a:lnSpc>
              <a:defRPr lang="fr-FR" sz="3600">
                <a:solidFill>
                  <a:schemeClr val="accent6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4" name="Espace réservé du contenu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 rtlCol="0">
            <a:normAutofit/>
          </a:bodyPr>
          <a:lstStyle>
            <a:lvl1pPr>
              <a:spcBef>
                <a:spcPts val="1000"/>
              </a:spcBef>
              <a:defRPr lang="fr-FR" sz="1800"/>
            </a:lvl1pPr>
            <a:lvl2pPr>
              <a:spcBef>
                <a:spcPts val="1000"/>
              </a:spcBef>
              <a:defRPr lang="fr-FR" sz="1800"/>
            </a:lvl2pPr>
            <a:lvl3pPr>
              <a:spcBef>
                <a:spcPts val="1000"/>
              </a:spcBef>
              <a:defRPr lang="fr-FR" sz="1800"/>
            </a:lvl3pPr>
            <a:lvl4pPr>
              <a:spcBef>
                <a:spcPts val="1000"/>
              </a:spcBef>
              <a:defRPr lang="fr-FR" sz="1800"/>
            </a:lvl4pPr>
            <a:lvl5pPr>
              <a:spcBef>
                <a:spcPts val="1000"/>
              </a:spcBef>
              <a:defRPr lang="fr-FR" sz="1800"/>
            </a:lvl5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6" name="Espace réservé du numéro de diapositive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 rtlCol="0"/>
          <a:lstStyle>
            <a:lvl1pPr>
              <a:defRPr lang="fr-FR" sz="1600">
                <a:latin typeface="+mj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ôtur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Forme 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9" name="Forme libre : Forme 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pic>
        <p:nvPicPr>
          <p:cNvPr id="9" name="Image 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rtlCol="0" anchor="b" anchorCtr="0">
            <a:noAutofit/>
          </a:bodyPr>
          <a:lstStyle>
            <a:lvl1pPr algn="l">
              <a:lnSpc>
                <a:spcPct val="100000"/>
              </a:lnSpc>
              <a:defRPr lang="fr-FR" sz="36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rtlCol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lang="fr-FR" sz="2400"/>
            </a:lvl1pPr>
            <a:lvl2pPr marL="457200" indent="0" algn="ctr">
              <a:buNone/>
              <a:defRPr lang="fr-FR" sz="2000"/>
            </a:lvl2pPr>
            <a:lvl3pPr marL="914400" indent="0" algn="ctr">
              <a:buNone/>
              <a:defRPr lang="fr-FR" sz="1800"/>
            </a:lvl3pPr>
            <a:lvl4pPr marL="1371600" indent="0" algn="ctr">
              <a:buNone/>
              <a:defRPr lang="fr-FR" sz="1600"/>
            </a:lvl4pPr>
            <a:lvl5pPr marL="1828800" indent="0" algn="ctr">
              <a:buNone/>
              <a:defRPr lang="fr-FR" sz="1600"/>
            </a:lvl5pPr>
            <a:lvl6pPr marL="2286000" indent="0" algn="ctr">
              <a:buNone/>
              <a:defRPr lang="fr-FR" sz="1600"/>
            </a:lvl6pPr>
            <a:lvl7pPr marL="2743200" indent="0" algn="ctr">
              <a:buNone/>
              <a:defRPr lang="fr-FR" sz="1600"/>
            </a:lvl7pPr>
            <a:lvl8pPr marL="3200400" indent="0" algn="ctr">
              <a:buNone/>
              <a:defRPr lang="fr-FR" sz="1600"/>
            </a:lvl8pPr>
            <a:lvl9pPr marL="3657600" indent="0" algn="ctr">
              <a:buNone/>
              <a:defRPr lang="fr-FR" sz="1600"/>
            </a:lvl9pPr>
          </a:lstStyle>
          <a:p>
            <a:pPr rtl="0"/>
            <a:r>
              <a:rPr lang="fr-FR"/>
              <a:t>Cliquez pour ajouter un sous-titre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rme libre : Forme 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Forme libre : Forme 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/>
          <a:lstStyle>
            <a:defPPr>
              <a:defRPr lang="fr-FR"/>
            </a:def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Forme 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rtlCol="0" anchor="b"/>
          <a:lstStyle>
            <a:lvl1pPr>
              <a:lnSpc>
                <a:spcPct val="100000"/>
              </a:lnSpc>
              <a:defRPr lang="fr-FR" sz="32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 rtlCol="0"/>
          <a:lstStyle>
            <a:lvl1pPr marL="0" indent="0">
              <a:buNone/>
              <a:defRPr lang="fr-FR" sz="1600"/>
            </a:lvl1pPr>
            <a:lvl2pPr marL="457200" indent="0">
              <a:buNone/>
              <a:defRPr lang="fr-FR" sz="1400"/>
            </a:lvl2pPr>
            <a:lvl3pPr marL="914400" indent="0">
              <a:buNone/>
              <a:defRPr lang="fr-FR" sz="1200"/>
            </a:lvl3pPr>
            <a:lvl4pPr marL="1371600" indent="0">
              <a:buNone/>
              <a:defRPr lang="fr-FR" sz="1000"/>
            </a:lvl4pPr>
            <a:lvl5pPr marL="1828800" indent="0">
              <a:buNone/>
              <a:defRPr lang="fr-FR" sz="1000"/>
            </a:lvl5pPr>
            <a:lvl6pPr marL="2286000" indent="0">
              <a:buNone/>
              <a:defRPr lang="fr-FR" sz="1000"/>
            </a:lvl6pPr>
            <a:lvl7pPr marL="2743200" indent="0">
              <a:buNone/>
              <a:defRPr lang="fr-FR" sz="1000"/>
            </a:lvl7pPr>
            <a:lvl8pPr marL="3200400" indent="0">
              <a:buNone/>
              <a:defRPr lang="fr-FR" sz="1000"/>
            </a:lvl8pPr>
            <a:lvl9pPr marL="3657600" indent="0">
              <a:buNone/>
              <a:defRPr lang="fr-FR" sz="1000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 rtlCol="0"/>
          <a:lstStyle>
            <a:lvl1pPr>
              <a:defRPr lang="fr-FR" sz="3200"/>
            </a:lvl1pPr>
            <a:lvl2pPr>
              <a:defRPr lang="fr-FR" sz="2800"/>
            </a:lvl2pPr>
            <a:lvl3pPr>
              <a:defRPr lang="fr-FR" sz="2400"/>
            </a:lvl3pPr>
            <a:lvl4pPr>
              <a:defRPr lang="fr-FR" sz="2000"/>
            </a:lvl4pPr>
            <a:lvl5pPr>
              <a:defRPr lang="fr-FR" sz="2000"/>
            </a:lvl5pPr>
            <a:lvl6pPr>
              <a:defRPr lang="fr-FR" sz="2000"/>
            </a:lvl6pPr>
            <a:lvl7pPr>
              <a:defRPr lang="fr-FR" sz="2000"/>
            </a:lvl7pPr>
            <a:lvl8pPr>
              <a:defRPr lang="fr-FR" sz="2000"/>
            </a:lvl8pPr>
            <a:lvl9pPr>
              <a:defRPr lang="fr-FR" sz="2000"/>
            </a:lvl9pPr>
          </a:lstStyle>
          <a:p>
            <a:pPr lvl="0" rtl="0"/>
            <a:r>
              <a:rPr lang="fr-FR"/>
              <a:t>Cliquer pour ajouter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Forme 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fr-FR"/>
            </a:defPPr>
          </a:lstStyle>
          <a:p>
            <a:pPr lvl="0" rtl="0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rtlCol="0" anchor="b"/>
          <a:lstStyle>
            <a:lvl1pPr>
              <a:lnSpc>
                <a:spcPct val="100000"/>
              </a:lnSpc>
              <a:defRPr lang="fr-FR" sz="320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>
                <a:latin typeface="+mn-lt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 rtlCol="0"/>
          <a:lstStyle>
            <a:lvl1pPr marL="0" indent="0">
              <a:buNone/>
              <a:defRPr lang="fr-FR" sz="1600"/>
            </a:lvl1pPr>
            <a:lvl2pPr marL="457200" indent="0">
              <a:buNone/>
              <a:defRPr lang="fr-FR" sz="1400"/>
            </a:lvl2pPr>
            <a:lvl3pPr marL="914400" indent="0">
              <a:buNone/>
              <a:defRPr lang="fr-FR" sz="1200"/>
            </a:lvl3pPr>
            <a:lvl4pPr marL="1371600" indent="0">
              <a:buNone/>
              <a:defRPr lang="fr-FR" sz="1000"/>
            </a:lvl4pPr>
            <a:lvl5pPr marL="1828800" indent="0">
              <a:buNone/>
              <a:defRPr lang="fr-FR" sz="1000"/>
            </a:lvl5pPr>
            <a:lvl6pPr marL="2286000" indent="0">
              <a:buNone/>
              <a:defRPr lang="fr-FR" sz="1000"/>
            </a:lvl6pPr>
            <a:lvl7pPr marL="2743200" indent="0">
              <a:buNone/>
              <a:defRPr lang="fr-FR" sz="1000"/>
            </a:lvl7pPr>
            <a:lvl8pPr marL="3200400" indent="0">
              <a:buNone/>
              <a:defRPr lang="fr-FR" sz="1000"/>
            </a:lvl8pPr>
            <a:lvl9pPr marL="3657600" indent="0">
              <a:buNone/>
              <a:defRPr lang="fr-FR" sz="1000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lang="fr-FR" sz="2800"/>
            </a:lvl1pPr>
            <a:lvl2pPr marL="457200" indent="0">
              <a:buNone/>
              <a:defRPr lang="fr-FR" sz="2800"/>
            </a:lvl2pPr>
            <a:lvl3pPr marL="914400" indent="0">
              <a:buNone/>
              <a:defRPr lang="fr-FR" sz="2400"/>
            </a:lvl3pPr>
            <a:lvl4pPr marL="1371600" indent="0">
              <a:buNone/>
              <a:defRPr lang="fr-FR" sz="2000"/>
            </a:lvl4pPr>
            <a:lvl5pPr marL="1828800" indent="0">
              <a:buNone/>
              <a:defRPr lang="fr-FR" sz="2000"/>
            </a:lvl5pPr>
            <a:lvl6pPr marL="2286000" indent="0">
              <a:buNone/>
              <a:defRPr lang="fr-FR" sz="2000"/>
            </a:lvl6pPr>
            <a:lvl7pPr marL="2743200" indent="0">
              <a:buNone/>
              <a:defRPr lang="fr-FR" sz="2000"/>
            </a:lvl7pPr>
            <a:lvl8pPr marL="3200400" indent="0">
              <a:buNone/>
              <a:defRPr lang="fr-FR" sz="2000"/>
            </a:lvl8pPr>
            <a:lvl9pPr marL="3657600" indent="0">
              <a:buNone/>
              <a:defRPr lang="fr-FR" sz="2000"/>
            </a:lvl9pPr>
          </a:lstStyle>
          <a:p>
            <a:pPr rtl="0"/>
            <a:r>
              <a:rPr lang="fr-FR"/>
              <a:t>Cliquez ici pour ajouter une image.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fr-FR"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rtl="0"/>
            <a:fld id="{48F63A3B-78C7-47BE-AE5E-E10140E0464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fr-FR"/>
            </a:defPPr>
          </a:lstStyle>
          <a:p>
            <a:pPr rtl="0"/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lang="fr-FR"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lang="fr-FR"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7" Type="http://schemas.openxmlformats.org/officeDocument/2006/relationships/image" Target="../media/image33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2.jpg"/><Relationship Id="rId5" Type="http://schemas.openxmlformats.org/officeDocument/2006/relationships/image" Target="../media/image31.jpg"/><Relationship Id="rId4" Type="http://schemas.openxmlformats.org/officeDocument/2006/relationships/image" Target="../media/image30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7" Type="http://schemas.openxmlformats.org/officeDocument/2006/relationships/image" Target="../media/image40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9.jpg"/><Relationship Id="rId5" Type="http://schemas.openxmlformats.org/officeDocument/2006/relationships/image" Target="../media/image38.jpeg"/><Relationship Id="rId4" Type="http://schemas.openxmlformats.org/officeDocument/2006/relationships/image" Target="../media/image37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47FA418-670C-5849-7D58-E3DE4DD77DBD}"/>
              </a:ext>
            </a:extLst>
          </p:cNvPr>
          <p:cNvSpPr/>
          <p:nvPr/>
        </p:nvSpPr>
        <p:spPr>
          <a:xfrm>
            <a:off x="4844716" y="3383207"/>
            <a:ext cx="4219073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7420" y="301336"/>
            <a:ext cx="9637160" cy="848396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Système &amp; modèle physique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2100C0-2074-EC8E-65F8-FB679352F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131" y="1394560"/>
            <a:ext cx="6363738" cy="3111310"/>
          </a:xfrm>
          <a:prstGeom prst="rect">
            <a:avLst/>
          </a:prstGeom>
          <a:ln w="57150">
            <a:solidFill>
              <a:srgbClr val="AAC4E9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texte 2">
                <a:extLst>
                  <a:ext uri="{FF2B5EF4-FFF2-40B4-BE49-F238E27FC236}">
                    <a16:creationId xmlns:a16="http://schemas.microsoft.com/office/drawing/2014/main" id="{32A7C12D-3FAE-6AFF-CB4C-3A5AC174DA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25706" y="4995526"/>
                <a:ext cx="4719713" cy="1679989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fr-FR" sz="2800" b="1" dirty="0" err="1"/>
                  <a:t>Visco-plastique</a:t>
                </a:r>
                <a:endParaRPr lang="fr-FR" sz="2800" b="1" dirty="0"/>
              </a:p>
              <a:p>
                <a:pPr algn="ctr"/>
                <a:endParaRPr lang="fr-FR" sz="900" b="1" dirty="0"/>
              </a:p>
              <a:p>
                <a:pPr algn="ctr"/>
                <a:r>
                  <a:rPr lang="fr-FR" sz="2000" dirty="0"/>
                  <a:t>Herschel-</a:t>
                </a:r>
                <a:r>
                  <a:rPr lang="fr-FR" sz="2000" dirty="0" err="1"/>
                  <a:t>Bulkley</a:t>
                </a:r>
                <a:endParaRPr lang="fr-FR" sz="2000" b="0" i="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ar-AE" sz="200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ar-AE" sz="2000" i="1" smtClean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20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p>
                          <m:r>
                            <a:rPr lang="ar-AE" sz="200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ar-AE" sz="2000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0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ar-AE" sz="2000" dirty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2000" i="1" dirty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2000" i="1" dirty="0" smtClean="0">
                          <a:latin typeface="Cambria Math" panose="02040503050406030204" pitchFamily="18" charset="0"/>
                        </a:rPr>
                        <m:t>𝑠𝑖</m:t>
                      </m:r>
                      <m:r>
                        <a:rPr lang="ar-AE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 sz="20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ar-AE" sz="200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ar-AE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ar-AE" sz="20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ar-AE" sz="20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sz="2000" i="1" smtClean="0">
                          <a:latin typeface="Cambria Math" panose="02040503050406030204" pitchFamily="18" charset="0"/>
                        </a:rPr>
                        <m:t>𝑠𝑖𝑛𝑜𝑛</m:t>
                      </m:r>
                      <m:acc>
                        <m:accPr>
                          <m:chr m:val="̇"/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sz="20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acc>
                      <m:r>
                        <a:rPr lang="ar-AE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ar-AE" sz="2000" dirty="0"/>
              </a:p>
            </p:txBody>
          </p:sp>
        </mc:Choice>
        <mc:Fallback xmlns="">
          <p:sp>
            <p:nvSpPr>
              <p:cNvPr id="4" name="Espace réservé du texte 2">
                <a:extLst>
                  <a:ext uri="{FF2B5EF4-FFF2-40B4-BE49-F238E27FC236}">
                    <a16:creationId xmlns:a16="http://schemas.microsoft.com/office/drawing/2014/main" id="{32A7C12D-3FAE-6AFF-CB4C-3A5AC174DA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5706" y="4995526"/>
                <a:ext cx="4719713" cy="1679989"/>
              </a:xfrm>
              <a:prstGeom prst="rect">
                <a:avLst/>
              </a:prstGeom>
              <a:blipFill>
                <a:blip r:embed="rId4"/>
                <a:stretch>
                  <a:fillRect t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ce réservé du texte 2">
                <a:extLst>
                  <a:ext uri="{FF2B5EF4-FFF2-40B4-BE49-F238E27FC236}">
                    <a16:creationId xmlns:a16="http://schemas.microsoft.com/office/drawing/2014/main" id="{3D69A2D9-5FD0-5BC8-6C74-13BDA56257F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729443" y="4995526"/>
                <a:ext cx="3116256" cy="1372818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fr-FR" sz="2800" b="1" dirty="0"/>
                  <a:t>Élastique</a:t>
                </a:r>
                <a:endParaRPr lang="fr-FR" sz="2000" b="1" dirty="0"/>
              </a:p>
              <a:p>
                <a:pPr algn="ctr"/>
                <a:endParaRPr lang="fr-FR" sz="900" b="1" dirty="0"/>
              </a:p>
              <a:p>
                <a:pPr algn="ctr"/>
                <a:r>
                  <a:rPr lang="fr-FR" sz="2000" dirty="0"/>
                  <a:t>Hooke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fr-FR" sz="20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ar-AE" sz="20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ar-AE" sz="2000" dirty="0"/>
              </a:p>
              <a:p>
                <a:pPr algn="ctr"/>
                <a:endParaRPr lang="ar-AE" sz="2000" dirty="0"/>
              </a:p>
            </p:txBody>
          </p:sp>
        </mc:Choice>
        <mc:Fallback xmlns="">
          <p:sp>
            <p:nvSpPr>
              <p:cNvPr id="6" name="Espace réservé du texte 2">
                <a:extLst>
                  <a:ext uri="{FF2B5EF4-FFF2-40B4-BE49-F238E27FC236}">
                    <a16:creationId xmlns:a16="http://schemas.microsoft.com/office/drawing/2014/main" id="{3D69A2D9-5FD0-5BC8-6C74-13BDA56257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9443" y="4995526"/>
                <a:ext cx="3116256" cy="1372818"/>
              </a:xfrm>
              <a:prstGeom prst="rect">
                <a:avLst/>
              </a:prstGeom>
              <a:blipFill>
                <a:blip r:embed="rId5"/>
                <a:stretch>
                  <a:fillRect t="-796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1805F502-F0DE-2BD6-591A-22AF1268A9E6}"/>
              </a:ext>
            </a:extLst>
          </p:cNvPr>
          <p:cNvSpPr txBox="1">
            <a:spLocks/>
          </p:cNvSpPr>
          <p:nvPr/>
        </p:nvSpPr>
        <p:spPr>
          <a:xfrm>
            <a:off x="346301" y="5440411"/>
            <a:ext cx="4370391" cy="686409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800" dirty="0"/>
              <a:t>La colle est un fluide :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DA31BAD-594B-F69B-1024-26F8A8282045}"/>
              </a:ext>
            </a:extLst>
          </p:cNvPr>
          <p:cNvSpPr txBox="1">
            <a:spLocks/>
          </p:cNvSpPr>
          <p:nvPr/>
        </p:nvSpPr>
        <p:spPr>
          <a:xfrm>
            <a:off x="7864764" y="5172341"/>
            <a:ext cx="1606069" cy="1171886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6000" b="1" dirty="0"/>
              <a:t>&amp;</a:t>
            </a:r>
          </a:p>
        </p:txBody>
      </p:sp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0C4FE-272E-837C-3D07-3756B9CBB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40907C-ACA7-0A2B-6631-6E7D5E2F3111}"/>
              </a:ext>
            </a:extLst>
          </p:cNvPr>
          <p:cNvSpPr/>
          <p:nvPr/>
        </p:nvSpPr>
        <p:spPr>
          <a:xfrm>
            <a:off x="4844716" y="3388895"/>
            <a:ext cx="4219073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6557C9A-2890-D2FC-4EA8-113C1F764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7150" y="316949"/>
            <a:ext cx="6997700" cy="848396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Système d’équations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Espace réservé du texte 2">
                <a:extLst>
                  <a:ext uri="{FF2B5EF4-FFF2-40B4-BE49-F238E27FC236}">
                    <a16:creationId xmlns:a16="http://schemas.microsoft.com/office/drawing/2014/main" id="{F2BCD148-3B17-9BCE-231C-7AADD3F51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27293" y="1408520"/>
                <a:ext cx="5461677" cy="848396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b="1" dirty="0"/>
                  <a:t>Conservation de la masse :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p>
                      <m:sSup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r>
                      <a:rPr lang="fr-F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sSubSup>
                      <m:sSubSup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fr-FR" sz="2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2200" dirty="0"/>
                  <a:t> et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2200" dirty="0"/>
              </a:p>
            </p:txBody>
          </p:sp>
        </mc:Choice>
        <mc:Fallback>
          <p:sp>
            <p:nvSpPr>
              <p:cNvPr id="11" name="Espace réservé du texte 2">
                <a:extLst>
                  <a:ext uri="{FF2B5EF4-FFF2-40B4-BE49-F238E27FC236}">
                    <a16:creationId xmlns:a16="http://schemas.microsoft.com/office/drawing/2014/main" id="{F2BCD148-3B17-9BCE-231C-7AADD3F51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293" y="1408520"/>
                <a:ext cx="5461677" cy="848396"/>
              </a:xfrm>
              <a:prstGeom prst="rect">
                <a:avLst/>
              </a:prstGeom>
              <a:blipFill>
                <a:blip r:embed="rId3"/>
                <a:stretch>
                  <a:fillRect l="-1453" t="-10072" b="-86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Espace réservé du texte 2">
                <a:extLst>
                  <a:ext uri="{FF2B5EF4-FFF2-40B4-BE49-F238E27FC236}">
                    <a16:creationId xmlns:a16="http://schemas.microsoft.com/office/drawing/2014/main" id="{EC359F0F-A405-274C-749F-975BAF3370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35603" y="3804631"/>
                <a:ext cx="5517345" cy="1151348"/>
              </a:xfrm>
              <a:prstGeom prst="rect">
                <a:avLst/>
              </a:prstGeom>
              <a:noFill/>
              <a:ln w="76200">
                <a:noFill/>
              </a:ln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dirty="0"/>
                  <a:t>Avec la </a:t>
                </a:r>
                <a:r>
                  <a:rPr lang="fr-FR" sz="2200" b="1" dirty="0"/>
                  <a:t>contrainte totale </a:t>
                </a:r>
                <a:r>
                  <a:rPr lang="fr-FR" sz="2200" dirty="0"/>
                  <a:t>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2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200" b="0" i="1" smtClean="0"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fr-FR" sz="2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200" b="0" i="1" smtClean="0">
                              <a:latin typeface="Cambria Math" panose="02040503050406030204" pitchFamily="18" charset="0"/>
                            </a:rPr>
                            <m:t>𝑀𝑔</m:t>
                          </m:r>
                        </m:num>
                        <m:den>
                          <m:r>
                            <a:rPr lang="fr-FR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fr-FR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2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fr-FR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</m:t>
                      </m:r>
                      <m:r>
                        <a:rPr lang="fr-FR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  <m:r>
                        <a:rPr lang="fr-FR" sz="2200" b="0" i="1" smtClean="0">
                          <a:solidFill>
                            <a:srgbClr val="202C8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200" i="1" smtClean="0">
                          <a:solidFill>
                            <a:srgbClr val="202C8F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ar-AE" sz="2200" i="1">
                          <a:solidFill>
                            <a:srgbClr val="202C8F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fr-FR" sz="2200" b="0" i="1" smtClean="0">
                          <a:solidFill>
                            <a:srgbClr val="202C8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200" b="0" i="1" smtClean="0">
                              <a:solidFill>
                                <a:srgbClr val="202C8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200" b="0" i="1" smtClean="0">
                              <a:solidFill>
                                <a:srgbClr val="202C8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2200" b="0" i="1" smtClean="0">
                              <a:solidFill>
                                <a:srgbClr val="202C8F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f>
                        <m:fPr>
                          <m:ctrlPr>
                            <a:rPr lang="fr-FR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200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>
                            <a:rPr lang="fr-FR" sz="2200" i="1">
                              <a:latin typeface="Cambria Math" panose="02040503050406030204" pitchFamily="18" charset="0"/>
                            </a:rPr>
                            <m:t>h</m:t>
                          </m:r>
                        </m:den>
                      </m:f>
                      <m:r>
                        <a:rPr lang="fr-FR" sz="2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fr-FR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2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</m:oMath>
                  </m:oMathPara>
                </a14:m>
                <a:endParaRPr lang="ar-AE" sz="2200" dirty="0"/>
              </a:p>
            </p:txBody>
          </p:sp>
        </mc:Choice>
        <mc:Fallback>
          <p:sp>
            <p:nvSpPr>
              <p:cNvPr id="16" name="Espace réservé du texte 2">
                <a:extLst>
                  <a:ext uri="{FF2B5EF4-FFF2-40B4-BE49-F238E27FC236}">
                    <a16:creationId xmlns:a16="http://schemas.microsoft.com/office/drawing/2014/main" id="{EC359F0F-A405-274C-749F-975BAF337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03" y="3804631"/>
                <a:ext cx="5517345" cy="1151348"/>
              </a:xfrm>
              <a:prstGeom prst="rect">
                <a:avLst/>
              </a:prstGeom>
              <a:blipFill>
                <a:blip r:embed="rId4"/>
                <a:stretch>
                  <a:fillRect l="-1435" t="-7407"/>
                </a:stretch>
              </a:blipFill>
              <a:ln w="762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Espace réservé du texte 2">
                <a:extLst>
                  <a:ext uri="{FF2B5EF4-FFF2-40B4-BE49-F238E27FC236}">
                    <a16:creationId xmlns:a16="http://schemas.microsoft.com/office/drawing/2014/main" id="{0F3BD725-D521-EE11-5419-4768C6283A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71625" y="2478889"/>
                <a:ext cx="5517345" cy="1207420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b="1" dirty="0"/>
                  <a:t>Conservation de quantité de mouvement : 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fr-FR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  <m:f>
                        <m:fPr>
                          <m:ctrlPr>
                            <a:rPr lang="fr-FR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fr-FR" sz="2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fr-FR" sz="2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fr-FR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fr-FR" sz="2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200" b="0" i="1" smtClean="0"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</m:oMath>
                  </m:oMathPara>
                </a14:m>
                <a:endParaRPr lang="ar-AE" sz="2200" dirty="0"/>
              </a:p>
            </p:txBody>
          </p:sp>
        </mc:Choice>
        <mc:Fallback>
          <p:sp>
            <p:nvSpPr>
              <p:cNvPr id="8" name="Espace réservé du texte 2">
                <a:extLst>
                  <a:ext uri="{FF2B5EF4-FFF2-40B4-BE49-F238E27FC236}">
                    <a16:creationId xmlns:a16="http://schemas.microsoft.com/office/drawing/2014/main" id="{0F3BD725-D521-EE11-5419-4768C628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25" y="2478889"/>
                <a:ext cx="5517345" cy="1207420"/>
              </a:xfrm>
              <a:prstGeom prst="rect">
                <a:avLst/>
              </a:prstGeom>
              <a:blipFill>
                <a:blip r:embed="rId5"/>
                <a:stretch>
                  <a:fillRect l="-1436" t="-7576" r="-8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Espace réservé du texte 2">
                <a:extLst>
                  <a:ext uri="{FF2B5EF4-FFF2-40B4-BE49-F238E27FC236}">
                    <a16:creationId xmlns:a16="http://schemas.microsoft.com/office/drawing/2014/main" id="{3133DA29-469D-6B0F-19E9-C077F4052F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73101" y="4978651"/>
                <a:ext cx="2623694" cy="1517292"/>
              </a:xfrm>
              <a:prstGeom prst="rect">
                <a:avLst/>
              </a:prstGeom>
              <a:noFill/>
              <a:ln w="76200">
                <a:noFill/>
              </a:ln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lnSpc>
                    <a:spcPts val="3600"/>
                  </a:lnSpc>
                </a:pPr>
                <a:r>
                  <a:rPr lang="fr-FR" sz="2200" b="1" dirty="0"/>
                  <a:t>non-glissement :</a:t>
                </a:r>
                <a:endParaRPr lang="fr-FR" sz="2000" b="1" dirty="0"/>
              </a:p>
              <a:p>
                <a:pPr algn="ctr">
                  <a:lnSpc>
                    <a:spcPts val="36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2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200" i="1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r>
                        <a:rPr lang="fr-FR" sz="2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200" i="1">
                          <a:solidFill>
                            <a:srgbClr val="202C8F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sz="2200" i="1">
                              <a:solidFill>
                                <a:srgbClr val="202C8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200" i="1">
                              <a:solidFill>
                                <a:srgbClr val="202C8F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acc>
                            <m:accPr>
                              <m:chr m:val="̇"/>
                              <m:ctrlPr>
                                <a:rPr lang="fr-FR" sz="2200" i="1">
                                  <a:solidFill>
                                    <a:srgbClr val="202C8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2200" i="1">
                                  <a:solidFill>
                                    <a:srgbClr val="202C8F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  <m:r>
                            <a:rPr lang="fr-FR" sz="2200" i="1">
                              <a:solidFill>
                                <a:srgbClr val="202C8F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p>
                          <m:r>
                            <a:rPr lang="fr-FR" sz="2200" i="1">
                              <a:solidFill>
                                <a:srgbClr val="202C8F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r-FR" sz="2200" dirty="0">
                          <a:solidFill>
                            <a:srgbClr val="202C8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2200" i="1" dirty="0">
                              <a:solidFill>
                                <a:srgbClr val="202C8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200" i="1" dirty="0">
                              <a:solidFill>
                                <a:srgbClr val="202C8F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200" dirty="0">
                              <a:solidFill>
                                <a:srgbClr val="202C8F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2200" b="0" i="1" dirty="0">
                  <a:latin typeface="Cambria Math" panose="02040503050406030204" pitchFamily="18" charset="0"/>
                </a:endParaRPr>
              </a:p>
              <a:p>
                <a:pPr algn="ctr">
                  <a:lnSpc>
                    <a:spcPts val="36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𝑎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</m:oMath>
                </a14:m>
                <a:r>
                  <a:rPr lang="fr-FR" sz="2200" dirty="0"/>
                  <a:t> </a:t>
                </a:r>
              </a:p>
            </p:txBody>
          </p:sp>
        </mc:Choice>
        <mc:Fallback>
          <p:sp>
            <p:nvSpPr>
              <p:cNvPr id="9" name="Espace réservé du texte 2">
                <a:extLst>
                  <a:ext uri="{FF2B5EF4-FFF2-40B4-BE49-F238E27FC236}">
                    <a16:creationId xmlns:a16="http://schemas.microsoft.com/office/drawing/2014/main" id="{3133DA29-469D-6B0F-19E9-C077F4052F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101" y="4978651"/>
                <a:ext cx="2623694" cy="1517292"/>
              </a:xfrm>
              <a:prstGeom prst="rect">
                <a:avLst/>
              </a:prstGeom>
              <a:blipFill>
                <a:blip r:embed="rId6"/>
                <a:stretch>
                  <a:fillRect t="-803"/>
                </a:stretch>
              </a:blipFill>
              <a:ln w="762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0DA280A5-FE16-A63B-1710-DB69E6C1347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928" r="3288"/>
          <a:stretch>
            <a:fillRect/>
          </a:stretch>
        </p:blipFill>
        <p:spPr>
          <a:xfrm>
            <a:off x="6630250" y="1579106"/>
            <a:ext cx="4867077" cy="2919552"/>
          </a:xfrm>
          <a:prstGeom prst="rect">
            <a:avLst/>
          </a:prstGeom>
          <a:ln w="38100">
            <a:solidFill>
              <a:srgbClr val="AAC4E9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Espace réservé du texte 2">
                <a:extLst>
                  <a:ext uri="{FF2B5EF4-FFF2-40B4-BE49-F238E27FC236}">
                    <a16:creationId xmlns:a16="http://schemas.microsoft.com/office/drawing/2014/main" id="{06164474-6C3E-42AF-31C9-9CAA13C6808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96796" y="4962298"/>
                <a:ext cx="3806156" cy="1517292"/>
              </a:xfrm>
              <a:prstGeom prst="rect">
                <a:avLst/>
              </a:prstGeom>
              <a:noFill/>
              <a:ln w="76200">
                <a:noFill/>
              </a:ln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>
                  <a:lnSpc>
                    <a:spcPts val="3600"/>
                  </a:lnSpc>
                </a:pPr>
                <a:r>
                  <a:rPr lang="fr-FR" sz="2200" b="1" dirty="0"/>
                  <a:t>glissement :</a:t>
                </a:r>
                <a:endParaRPr lang="fr-FR" sz="2000" b="1" dirty="0"/>
              </a:p>
              <a:p>
                <a:pPr algn="ctr">
                  <a:lnSpc>
                    <a:spcPts val="3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22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200" dirty="0">
                    <a:solidFill>
                      <a:srgbClr val="202C8F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sz="2200" i="1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200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f>
                          <m:fPr>
                            <m:ctrlPr>
                              <a:rPr lang="fr-FR" sz="2200" i="1">
                                <a:solidFill>
                                  <a:srgbClr val="202C8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200" i="1">
                                <a:solidFill>
                                  <a:srgbClr val="202C8F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fr-FR" sz="2200" i="1">
                                <a:solidFill>
                                  <a:srgbClr val="202C8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200" i="1">
                                <a:solidFill>
                                  <a:srgbClr val="202C8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200">
                                <a:solidFill>
                                  <a:srgbClr val="202C8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fr-FR" sz="2200" i="1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fr-FR" sz="2200" i="1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sz="2200" i="1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fr-FR" sz="2200" i="1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200" i="1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acc>
                          <m:accPr>
                            <m:chr m:val="̇"/>
                            <m:ctrlPr>
                              <a:rPr lang="fr-FR" sz="2200" i="1">
                                <a:solidFill>
                                  <a:srgbClr val="202C8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200" i="1">
                                <a:solidFill>
                                  <a:srgbClr val="202C8F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  <m:r>
                          <a:rPr lang="fr-FR" sz="2200" i="1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e>
                      <m:sup>
                        <m:r>
                          <a:rPr lang="fr-FR" sz="2200" i="1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fr-FR" sz="2200" dirty="0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+</m:t>
                    </m:r>
                    <m:rad>
                      <m:radPr>
                        <m:degHide m:val="on"/>
                        <m:ctrlPr>
                          <a:rPr lang="fr-FR" sz="2200" i="1" dirty="0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2200" i="1" dirty="0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  <m:r>
                      <a:rPr lang="fr-FR" sz="2200" i="1" dirty="0">
                        <a:solidFill>
                          <a:srgbClr val="202C8F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sz="2200" i="1" dirty="0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dirty="0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2200" dirty="0">
                            <a:solidFill>
                              <a:srgbClr val="202C8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fr-FR" sz="2200" b="0" i="1" dirty="0">
                  <a:latin typeface="Cambria Math" panose="02040503050406030204" pitchFamily="18" charset="0"/>
                </a:endParaRPr>
              </a:p>
              <a:p>
                <a:pPr algn="ctr">
                  <a:lnSpc>
                    <a:spcPts val="36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200" b="0" i="1" smtClean="0">
                        <a:latin typeface="Cambria Math" panose="02040503050406030204" pitchFamily="18" charset="0"/>
                      </a:rPr>
                      <m:t>𝑎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sz="2200" dirty="0"/>
                  <a:t>  </a:t>
                </a:r>
                <a:endParaRPr lang="ar-AE" sz="2200" dirty="0"/>
              </a:p>
            </p:txBody>
          </p:sp>
        </mc:Choice>
        <mc:Fallback>
          <p:sp>
            <p:nvSpPr>
              <p:cNvPr id="10" name="Espace réservé du texte 2">
                <a:extLst>
                  <a:ext uri="{FF2B5EF4-FFF2-40B4-BE49-F238E27FC236}">
                    <a16:creationId xmlns:a16="http://schemas.microsoft.com/office/drawing/2014/main" id="{06164474-6C3E-42AF-31C9-9CAA13C68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6796" y="4962298"/>
                <a:ext cx="3806156" cy="1517292"/>
              </a:xfrm>
              <a:prstGeom prst="rect">
                <a:avLst/>
              </a:prstGeom>
              <a:blipFill>
                <a:blip r:embed="rId8"/>
                <a:stretch>
                  <a:fillRect t="-402"/>
                </a:stretch>
              </a:blipFill>
              <a:ln w="762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87D121BA-7639-051F-584E-6344332343F6}"/>
              </a:ext>
            </a:extLst>
          </p:cNvPr>
          <p:cNvSpPr txBox="1">
            <a:spLocks/>
          </p:cNvSpPr>
          <p:nvPr/>
        </p:nvSpPr>
        <p:spPr>
          <a:xfrm>
            <a:off x="935603" y="5442330"/>
            <a:ext cx="4071943" cy="933155"/>
          </a:xfrm>
          <a:prstGeom prst="rect">
            <a:avLst/>
          </a:prstGeom>
          <a:noFill/>
          <a:ln w="76200">
            <a:noFill/>
          </a:ln>
        </p:spPr>
        <p:txBody>
          <a:bodyPr vert="horz" lIns="91440" tIns="0" rIns="91440" bIns="0" rtlCol="0">
            <a:normAutofit lnSpcReduction="10000"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50000"/>
              </a:lnSpc>
            </a:pPr>
            <a:r>
              <a:rPr lang="fr-FR" sz="2200" dirty="0"/>
              <a:t>Contrainte de Herschel-</a:t>
            </a:r>
            <a:r>
              <a:rPr lang="fr-FR" sz="2200" dirty="0" err="1"/>
              <a:t>Bulkley</a:t>
            </a:r>
            <a:r>
              <a:rPr lang="fr-FR" sz="2200" dirty="0"/>
              <a:t> :</a:t>
            </a:r>
          </a:p>
          <a:p>
            <a:pPr algn="r">
              <a:lnSpc>
                <a:spcPct val="150000"/>
              </a:lnSpc>
            </a:pPr>
            <a:r>
              <a:rPr lang="fr-FR" sz="2200" dirty="0"/>
              <a:t>Taux de déformation :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7B3440AB-BF9E-97DC-160C-672EE36CE7FE}"/>
              </a:ext>
            </a:extLst>
          </p:cNvPr>
          <p:cNvCxnSpPr/>
          <p:nvPr/>
        </p:nvCxnSpPr>
        <p:spPr>
          <a:xfrm>
            <a:off x="7896796" y="5064647"/>
            <a:ext cx="0" cy="1414943"/>
          </a:xfrm>
          <a:prstGeom prst="line">
            <a:avLst/>
          </a:prstGeom>
          <a:ln w="28575">
            <a:solidFill>
              <a:srgbClr val="202C8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1552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506214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étalement d’après le modèle</a:t>
            </a:r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C8E859B9-9F35-2E24-9143-626F8B0AE814}"/>
              </a:ext>
            </a:extLst>
          </p:cNvPr>
          <p:cNvSpPr txBox="1">
            <a:spLocks/>
          </p:cNvSpPr>
          <p:nvPr/>
        </p:nvSpPr>
        <p:spPr>
          <a:xfrm>
            <a:off x="3936353" y="5663064"/>
            <a:ext cx="6995171" cy="1012785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Rayon et hauteur du cylindre de fluide au cours d’une compression</a:t>
            </a:r>
            <a:endParaRPr lang="ar-AE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Espace réservé du texte 2">
                <a:extLst>
                  <a:ext uri="{FF2B5EF4-FFF2-40B4-BE49-F238E27FC236}">
                    <a16:creationId xmlns:a16="http://schemas.microsoft.com/office/drawing/2014/main" id="{642B383E-03B4-F061-D542-B7BCD189D79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44116" y="1538630"/>
                <a:ext cx="2499598" cy="3994489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𝑚𝑚</m:t>
                      </m:r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𝑔𝑜𝑢𝑡𝑡𝑒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50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𝑚𝑔</m:t>
                      </m:r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:endParaRPr lang="fr-FR" sz="1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fr-FR" sz="20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𝑘𝑔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𝑃𝑎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fr-FR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fr-FR" sz="2000" b="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15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𝑃𝑎</m:t>
                      </m:r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2000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0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>
                          <a:latin typeface="Cambria Math" panose="02040503050406030204" pitchFamily="18" charset="0"/>
                        </a:rPr>
                        <m:t>𝑃𝑎</m:t>
                      </m:r>
                    </m:oMath>
                  </m:oMathPara>
                </a14:m>
                <a:endParaRPr lang="fr-FR" sz="2000" dirty="0"/>
              </a:p>
              <a:p>
                <a:pPr>
                  <a:lnSpc>
                    <a:spcPct val="150000"/>
                  </a:lnSpc>
                </a:pPr>
                <a:endParaRPr lang="fr-FR" sz="2000" dirty="0"/>
              </a:p>
            </p:txBody>
          </p:sp>
        </mc:Choice>
        <mc:Fallback>
          <p:sp>
            <p:nvSpPr>
              <p:cNvPr id="7" name="Espace réservé du texte 2">
                <a:extLst>
                  <a:ext uri="{FF2B5EF4-FFF2-40B4-BE49-F238E27FC236}">
                    <a16:creationId xmlns:a16="http://schemas.microsoft.com/office/drawing/2014/main" id="{642B383E-03B4-F061-D542-B7BCD189D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116" y="1538630"/>
                <a:ext cx="2499598" cy="39944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5CAA78A8-A044-E9C2-4C1E-236B1FCD7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0716" y="1491863"/>
            <a:ext cx="8226447" cy="4041256"/>
          </a:xfrm>
          <a:prstGeom prst="rect">
            <a:avLst/>
          </a:prstGeom>
          <a:ln w="28575">
            <a:solidFill>
              <a:srgbClr val="F5CDCE"/>
            </a:solidFill>
          </a:ln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E156060-8C50-1B31-6606-D9EC198941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48F63A3B-78C7-47BE-AE5E-E10140E04643}" type="slidenum">
              <a:rPr lang="fr-FR" smtClean="0"/>
              <a:pPr rtl="0"/>
              <a:t>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061B0-6A26-0613-D24F-68962A5E9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8" name="Espace réservé du texte 2">
                <a:extLst>
                  <a:ext uri="{FF2B5EF4-FFF2-40B4-BE49-F238E27FC236}">
                    <a16:creationId xmlns:a16="http://schemas.microsoft.com/office/drawing/2014/main" id="{0757656F-A5B1-BFAE-98AF-90D55FAFD8F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52686" y="2257367"/>
                <a:ext cx="8486624" cy="3671797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spcAft>
                    <a:spcPts val="1200"/>
                  </a:spcAft>
                </a:pPr>
                <a:r>
                  <a:rPr lang="fr-FR" sz="2000" b="1" dirty="0"/>
                  <a:t>Influence des paramètres rhéologiques sur l’étalement et sa dynamique :</a:t>
                </a:r>
              </a:p>
              <a:p>
                <a:pPr marL="342900" indent="-342900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2000" dirty="0"/>
                  <a:t> impacte la position finale d’étalement (diamètre final) : </a:t>
                </a: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↗  ⇒ </m:t>
                      </m:r>
                      <m:sSub>
                        <m:sSubPr>
                          <m:ctrlPr>
                            <a:rPr lang="fr-F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fr-FR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𝑓𝑖𝑛𝑎𝑙</m:t>
                          </m:r>
                        </m:sub>
                      </m:sSub>
                      <m:r>
                        <a:rPr lang="fr-FR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↘</m:t>
                      </m:r>
                    </m:oMath>
                  </m:oMathPara>
                </a14:m>
                <a:endParaRPr lang="fr-FR" sz="2000" dirty="0"/>
              </a:p>
              <a:p>
                <a:pPr marL="342900" indent="-342900">
                  <a:spcAft>
                    <a:spcPts val="1200"/>
                  </a:spcAft>
                  <a:buFont typeface="Arial" panose="020B0604020202020204" pitchFamily="34" charset="0"/>
                  <a:buChar char="•"/>
                </a:pPr>
                <a:r>
                  <a:rPr lang="fr-FR" sz="2000" dirty="0"/>
                  <a:t>k, m impactent uniquement la « dynamique » de l’étalement /</a:t>
                </a:r>
              </a:p>
              <a:p>
                <a:pPr algn="ctr"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↗  ⇒</m:t>
                    </m:r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↗</m:t>
                    </m:r>
                  </m:oMath>
                </a14:m>
                <a:r>
                  <a:rPr lang="fr-FR" sz="2000" dirty="0"/>
                  <a:t> </a:t>
                </a:r>
                <a:r>
                  <a:rPr lang="fr-FR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(ralentit)</a:t>
                </a:r>
              </a:p>
              <a:p>
                <a:pPr algn="ctr"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↗  ⇒</m:t>
                    </m:r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↗</m:t>
                    </m:r>
                  </m:oMath>
                </a14:m>
                <a:r>
                  <a:rPr lang="fr-FR" sz="2000" dirty="0"/>
                  <a:t> </a:t>
                </a:r>
                <a:r>
                  <a:rPr lang="fr-FR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(ralentit)</a:t>
                </a:r>
              </a:p>
              <a:p>
                <a:pPr algn="ctr"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↗  ⇒ </m:t>
                    </m:r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↘</m:t>
                    </m:r>
                  </m:oMath>
                </a14:m>
                <a:r>
                  <a:rPr lang="fr-FR" sz="2000" dirty="0"/>
                  <a:t> </a:t>
                </a:r>
                <a:r>
                  <a:rPr lang="fr-FR" sz="18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(accélère)</a:t>
                </a:r>
              </a:p>
              <a:p>
                <a:pPr>
                  <a:spcAft>
                    <a:spcPts val="1200"/>
                  </a:spcAft>
                </a:pPr>
                <a:endParaRPr lang="fr-FR" sz="2000" dirty="0"/>
              </a:p>
            </p:txBody>
          </p:sp>
        </mc:Choice>
        <mc:Fallback>
          <p:sp>
            <p:nvSpPr>
              <p:cNvPr id="8" name="Espace réservé du texte 2">
                <a:extLst>
                  <a:ext uri="{FF2B5EF4-FFF2-40B4-BE49-F238E27FC236}">
                    <a16:creationId xmlns:a16="http://schemas.microsoft.com/office/drawing/2014/main" id="{0757656F-A5B1-BFAE-98AF-90D55FAFD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2686" y="2257367"/>
                <a:ext cx="8486624" cy="3671797"/>
              </a:xfrm>
              <a:prstGeom prst="rect">
                <a:avLst/>
              </a:prstGeom>
              <a:blipFill>
                <a:blip r:embed="rId2"/>
                <a:stretch>
                  <a:fillRect l="-790" t="-21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re 1">
            <a:extLst>
              <a:ext uri="{FF2B5EF4-FFF2-40B4-BE49-F238E27FC236}">
                <a16:creationId xmlns:a16="http://schemas.microsoft.com/office/drawing/2014/main" id="{2F496B43-9219-4783-FA13-5112318B2316}"/>
              </a:ext>
            </a:extLst>
          </p:cNvPr>
          <p:cNvSpPr txBox="1">
            <a:spLocks/>
          </p:cNvSpPr>
          <p:nvPr/>
        </p:nvSpPr>
        <p:spPr>
          <a:xfrm>
            <a:off x="840185" y="529389"/>
            <a:ext cx="10511627" cy="1079761"/>
          </a:xfrm>
          <a:prstGeom prst="rect">
            <a:avLst/>
          </a:prstGeom>
        </p:spPr>
        <p:txBody>
          <a:bodyPr vert="horz" lIns="91440" tIns="0" rIns="91440" bIns="0" rtlCol="0" anchor="b" anchorCtr="0">
            <a:noAutofit/>
          </a:bodyPr>
          <a:lstStyle>
            <a:defPPr>
              <a:defRPr lang="fr-FR"/>
            </a:defPPr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fr-FR" sz="36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Interprétations</a:t>
            </a:r>
            <a:br>
              <a:rPr lang="fr-FR" dirty="0"/>
            </a:br>
            <a:r>
              <a:rPr lang="fr-FR" sz="2400" dirty="0"/>
              <a:t>influence des paramètres rhéologiques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01A1A9-9F95-B3A1-5622-42EB6A2625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48F63A3B-78C7-47BE-AE5E-E10140E04643}" type="slidenum">
              <a:rPr lang="fr-FR" smtClean="0"/>
              <a:pPr rtl="0"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38869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852C4-C2F6-54F1-9878-D5C32908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674827-A678-007C-9C41-A1B93FEAB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6" y="126448"/>
            <a:ext cx="10511627" cy="1012785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r>
              <a:rPr lang="fr-FR" dirty="0"/>
              <a:t>Contribution des contraintes</a:t>
            </a: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0CCFBC1F-F076-C8CE-B158-860333C4EBDA}"/>
              </a:ext>
            </a:extLst>
          </p:cNvPr>
          <p:cNvSpPr txBox="1">
            <a:spLocks/>
          </p:cNvSpPr>
          <p:nvPr/>
        </p:nvSpPr>
        <p:spPr>
          <a:xfrm>
            <a:off x="992586" y="632841"/>
            <a:ext cx="10511627" cy="881120"/>
          </a:xfrm>
          <a:prstGeom prst="rect">
            <a:avLst/>
          </a:prstGeom>
        </p:spPr>
        <p:txBody>
          <a:bodyPr vert="horz" lIns="91440" tIns="0" rIns="91440" bIns="0" rtlCol="0" anchor="b" anchorCtr="0">
            <a:noAutofit/>
          </a:bodyPr>
          <a:lstStyle>
            <a:defPPr>
              <a:defRPr lang="fr-FR"/>
            </a:defPPr>
            <a:lvl1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fr-FR" sz="3600" b="1" kern="1200" cap="all" baseline="0">
                <a:solidFill>
                  <a:schemeClr val="accent6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fr-FR" sz="2800" b="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64E75D2-2609-863C-13E0-C94DC33E5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86" y="1769509"/>
            <a:ext cx="7086964" cy="4369025"/>
          </a:xfrm>
          <a:prstGeom prst="rect">
            <a:avLst/>
          </a:prstGeom>
          <a:ln w="28575">
            <a:solidFill>
              <a:srgbClr val="F5CDCE"/>
            </a:solidFill>
          </a:ln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C9C7586-380B-396E-FF56-3C7DC59A25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1709" y="3342375"/>
            <a:ext cx="3563320" cy="279615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Espace réservé du texte 2">
                <a:extLst>
                  <a:ext uri="{FF2B5EF4-FFF2-40B4-BE49-F238E27FC236}">
                    <a16:creationId xmlns:a16="http://schemas.microsoft.com/office/drawing/2014/main" id="{6430B311-2B5B-EADD-BCF2-F99E7C5F547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81709" y="1769509"/>
                <a:ext cx="3580598" cy="1684620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fr-FR" sz="15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5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𝑚𝑚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   ;   </m:t>
                      </m:r>
                      <m:sSub>
                        <m:sSubPr>
                          <m:ctrlPr>
                            <a:rPr lang="fr-FR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𝑔𝑜𝑢𝑡𝑡𝑒</m:t>
                          </m:r>
                        </m:sub>
                      </m:sSub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50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𝑚𝑔</m:t>
                      </m:r>
                    </m:oMath>
                  </m:oMathPara>
                </a14:m>
                <a:endParaRPr lang="fr-FR" sz="1500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5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5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fr-FR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500" i="1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fr-FR" sz="15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15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fr-FR" sz="15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𝑘𝑔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fr-FR" sz="15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  ;  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𝑃𝑎</m:t>
                      </m:r>
                    </m:oMath>
                  </m:oMathPara>
                </a14:m>
                <a:endParaRPr lang="fr-FR" sz="15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𝑃𝑎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.</m:t>
                      </m:r>
                      <m:sSup>
                        <m:sSupPr>
                          <m:ctrlPr>
                            <a:rPr lang="fr-FR" sz="15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r-FR" sz="1500" b="0" i="0" smtClean="0">
                          <a:latin typeface="Cambria Math" panose="02040503050406030204" pitchFamily="18" charset="0"/>
                        </a:rPr>
                        <m:t>   ;   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fr-FR" sz="1500" b="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fr-FR" sz="1500" b="0" i="0" smtClean="0">
                          <a:latin typeface="Cambria Math" panose="02040503050406030204" pitchFamily="18" charset="0"/>
                        </a:rPr>
                        <m:t>     ;  </m:t>
                      </m:r>
                      <m:sSub>
                        <m:sSubPr>
                          <m:ctrlPr>
                            <a:rPr lang="fr-F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sz="15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5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15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𝑃𝑎</m:t>
                      </m:r>
                    </m:oMath>
                  </m:oMathPara>
                </a14:m>
                <a:endParaRPr lang="fr-FR" sz="1500" dirty="0"/>
              </a:p>
              <a:p>
                <a:pPr>
                  <a:lnSpc>
                    <a:spcPct val="150000"/>
                  </a:lnSpc>
                </a:pPr>
                <a:r>
                  <a:rPr lang="fr-FR" sz="1800" dirty="0"/>
                  <a:t>Pour un plus petit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</m:oMath>
                </a14:m>
                <a:r>
                  <a:rPr lang="fr-FR" sz="1800" dirty="0"/>
                  <a:t> :</a:t>
                </a:r>
              </a:p>
            </p:txBody>
          </p:sp>
        </mc:Choice>
        <mc:Fallback>
          <p:sp>
            <p:nvSpPr>
              <p:cNvPr id="16" name="Espace réservé du texte 2">
                <a:extLst>
                  <a:ext uri="{FF2B5EF4-FFF2-40B4-BE49-F238E27FC236}">
                    <a16:creationId xmlns:a16="http://schemas.microsoft.com/office/drawing/2014/main" id="{6430B311-2B5B-EADD-BCF2-F99E7C5F54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1709" y="1769509"/>
                <a:ext cx="3580598" cy="1684620"/>
              </a:xfrm>
              <a:prstGeom prst="rect">
                <a:avLst/>
              </a:prstGeom>
              <a:blipFill>
                <a:blip r:embed="rId5"/>
                <a:stretch>
                  <a:fillRect l="-15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Espace réservé du numéro de diapositive 16">
            <a:extLst>
              <a:ext uri="{FF2B5EF4-FFF2-40B4-BE49-F238E27FC236}">
                <a16:creationId xmlns:a16="http://schemas.microsoft.com/office/drawing/2014/main" id="{C73EBEC4-2E6A-B979-76A9-276F47EFC7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48F63A3B-78C7-47BE-AE5E-E10140E04643}" type="slidenum">
              <a:rPr lang="fr-FR" smtClean="0"/>
              <a:pPr rtl="0"/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01704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4667C-7748-0B6D-5904-4FDCE0C6F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41CEA9-1623-081B-323E-C349EF4523C6}"/>
              </a:ext>
            </a:extLst>
          </p:cNvPr>
          <p:cNvSpPr/>
          <p:nvPr/>
        </p:nvSpPr>
        <p:spPr>
          <a:xfrm>
            <a:off x="9226193" y="3383207"/>
            <a:ext cx="2529425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833D004C-4B34-1223-6A66-48B6E0A5B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788633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 1 : étalement</a:t>
            </a:r>
            <a:br>
              <a:rPr lang="fr-FR" dirty="0"/>
            </a:br>
            <a:r>
              <a:rPr lang="fr-FR" sz="2400" dirty="0"/>
              <a:t>protocole</a:t>
            </a:r>
            <a:endParaRPr lang="fr-FR" dirty="0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D6B6C8DD-F4B6-BDD5-0535-9E17A028B4A9}"/>
              </a:ext>
            </a:extLst>
          </p:cNvPr>
          <p:cNvSpPr txBox="1">
            <a:spLocks/>
          </p:cNvSpPr>
          <p:nvPr/>
        </p:nvSpPr>
        <p:spPr>
          <a:xfrm>
            <a:off x="1232899" y="1565769"/>
            <a:ext cx="4623371" cy="2089383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1. Dépôt d’une goutte sur une lame de verre, et dépôt de la lame supérieure. </a:t>
            </a:r>
          </a:p>
          <a:p>
            <a:endParaRPr lang="fr-FR" sz="2000" dirty="0"/>
          </a:p>
          <a:p>
            <a:r>
              <a:rPr lang="fr-FR" sz="2000" dirty="0"/>
              <a:t>2. Dépôt de la masse : un bécher avec de l’eau (M = 50g)</a:t>
            </a:r>
          </a:p>
          <a:p>
            <a:pPr marL="690372" lvl="1" indent="-342900">
              <a:buFont typeface="Wingdings" panose="05000000000000000000" pitchFamily="2" charset="2"/>
              <a:buChar char="Ø"/>
            </a:pPr>
            <a:r>
              <a:rPr lang="fr-FR" sz="2000" dirty="0"/>
              <a:t>Masse transparente !</a:t>
            </a:r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F66D75F1-858B-6D59-3A05-8B8886E4912F}"/>
              </a:ext>
            </a:extLst>
          </p:cNvPr>
          <p:cNvSpPr txBox="1">
            <a:spLocks/>
          </p:cNvSpPr>
          <p:nvPr/>
        </p:nvSpPr>
        <p:spPr>
          <a:xfrm>
            <a:off x="6335732" y="1565769"/>
            <a:ext cx="4501792" cy="3950169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3. Prise en photo régulière et mesure du diamètre.</a:t>
            </a:r>
          </a:p>
          <a:p>
            <a:endParaRPr lang="fr-FR" sz="2000" dirty="0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1806A420-93CB-FFFF-4CD5-8C3BC4801527}"/>
              </a:ext>
            </a:extLst>
          </p:cNvPr>
          <p:cNvGrpSpPr/>
          <p:nvPr/>
        </p:nvGrpSpPr>
        <p:grpSpPr>
          <a:xfrm rot="16200000">
            <a:off x="7907863" y="972821"/>
            <a:ext cx="1395368" cy="3950169"/>
            <a:chOff x="9361675" y="1623805"/>
            <a:chExt cx="1724532" cy="4825784"/>
          </a:xfrm>
        </p:grpSpPr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168DD817-9652-F34B-2E91-169086856F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9642834" y="1343339"/>
              <a:ext cx="1162906" cy="1723838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949081A2-7C15-5BB3-B7DD-83E2C2892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9636182" y="2565143"/>
              <a:ext cx="1174824" cy="1723838"/>
            </a:xfrm>
            <a:prstGeom prst="rect">
              <a:avLst/>
            </a:prstGeom>
          </p:spPr>
        </p:pic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7D41E662-D824-3464-7DD4-0854782F7F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3823"/>
            <a:stretch>
              <a:fillRect/>
            </a:stretch>
          </p:blipFill>
          <p:spPr>
            <a:xfrm rot="5400000">
              <a:off x="9644876" y="3784906"/>
              <a:ext cx="1158519" cy="1723534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11F44C58-D515-6CC8-F501-D741969B72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400000">
              <a:off x="9638929" y="5002311"/>
              <a:ext cx="1170717" cy="1723839"/>
            </a:xfrm>
            <a:prstGeom prst="rect">
              <a:avLst/>
            </a:prstGeom>
          </p:spPr>
        </p:pic>
      </p:grpSp>
      <p:pic>
        <p:nvPicPr>
          <p:cNvPr id="3" name="Image 2">
            <a:extLst>
              <a:ext uri="{FF2B5EF4-FFF2-40B4-BE49-F238E27FC236}">
                <a16:creationId xmlns:a16="http://schemas.microsoft.com/office/drawing/2014/main" id="{11FC0658-96A5-C750-F51F-72A48C9D969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166" t="23557" r="9028" b="12821"/>
          <a:stretch>
            <a:fillRect/>
          </a:stretch>
        </p:blipFill>
        <p:spPr>
          <a:xfrm>
            <a:off x="1219851" y="3655152"/>
            <a:ext cx="4636419" cy="2880455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E90301C5-168C-1C26-B196-42D0917617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4075" y="4017716"/>
            <a:ext cx="4785311" cy="2517891"/>
          </a:xfrm>
          <a:prstGeom prst="rect">
            <a:avLst/>
          </a:prstGeom>
        </p:spPr>
      </p:pic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04FE51-15A4-068D-8A41-5798A8120DE1}"/>
              </a:ext>
            </a:extLst>
          </p:cNvPr>
          <p:cNvGrpSpPr/>
          <p:nvPr/>
        </p:nvGrpSpPr>
        <p:grpSpPr>
          <a:xfrm>
            <a:off x="7138809" y="3494496"/>
            <a:ext cx="3215841" cy="523220"/>
            <a:chOff x="7149042" y="3621470"/>
            <a:chExt cx="3215841" cy="523220"/>
          </a:xfrm>
        </p:grpSpPr>
        <p:cxnSp>
          <p:nvCxnSpPr>
            <p:cNvPr id="21" name="Connecteur droit avec flèche 20">
              <a:extLst>
                <a:ext uri="{FF2B5EF4-FFF2-40B4-BE49-F238E27FC236}">
                  <a16:creationId xmlns:a16="http://schemas.microsoft.com/office/drawing/2014/main" id="{4B0A8D3B-6EB6-413F-74B6-D56824215B22}"/>
                </a:ext>
              </a:extLst>
            </p:cNvPr>
            <p:cNvCxnSpPr/>
            <p:nvPr/>
          </p:nvCxnSpPr>
          <p:spPr>
            <a:xfrm>
              <a:off x="7149042" y="3883080"/>
              <a:ext cx="2743200" cy="0"/>
            </a:xfrm>
            <a:prstGeom prst="straightConnector1">
              <a:avLst/>
            </a:prstGeom>
            <a:ln w="57150">
              <a:solidFill>
                <a:srgbClr val="DF8C8C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D1B3C2AB-FEBD-EEA2-2EF5-BD0ACABF1198}"/>
                </a:ext>
              </a:extLst>
            </p:cNvPr>
            <p:cNvSpPr txBox="1"/>
            <p:nvPr/>
          </p:nvSpPr>
          <p:spPr>
            <a:xfrm>
              <a:off x="9872035" y="3621470"/>
              <a:ext cx="49284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800" b="1" dirty="0">
                  <a:solidFill>
                    <a:srgbClr val="DF8C8C"/>
                  </a:solidFill>
                  <a:latin typeface="Cambria Math" panose="02040503050406030204" pitchFamily="18" charset="0"/>
                  <a:ea typeface="Cambria Math" panose="02040503050406030204" pitchFamily="18" charset="0"/>
                </a:rPr>
                <a:t>t</a:t>
              </a:r>
            </a:p>
          </p:txBody>
        </p:sp>
      </p:grpSp>
      <p:sp>
        <p:nvSpPr>
          <p:cNvPr id="24" name="Espace réservé du numéro de diapositive 23">
            <a:extLst>
              <a:ext uri="{FF2B5EF4-FFF2-40B4-BE49-F238E27FC236}">
                <a16:creationId xmlns:a16="http://schemas.microsoft.com/office/drawing/2014/main" id="{CC5D4D80-3105-3794-827C-AF1CFB011F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48F63A3B-78C7-47BE-AE5E-E10140E04643}" type="slidenum">
              <a:rPr lang="fr-FR" smtClean="0"/>
              <a:pPr rtl="0"/>
              <a:t>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53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17724-78B4-A8E4-3695-F2AF2FEEC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780DDCC-6CE0-E6FE-326F-2B24A5E9A631}"/>
              </a:ext>
            </a:extLst>
          </p:cNvPr>
          <p:cNvSpPr/>
          <p:nvPr/>
        </p:nvSpPr>
        <p:spPr>
          <a:xfrm>
            <a:off x="9226193" y="3383207"/>
            <a:ext cx="2529425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91E46C50-1B0E-D0D8-CCCF-D341BCF0E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801634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 2 : étalement</a:t>
            </a:r>
            <a:br>
              <a:rPr lang="fr-FR" dirty="0"/>
            </a:br>
            <a:r>
              <a:rPr lang="fr-FR" sz="2400" dirty="0"/>
              <a:t>de colle et émulsion</a:t>
            </a:r>
            <a:endParaRPr lang="fr-FR" dirty="0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A5A29F8C-31DF-EA59-63B0-222CE6131400}"/>
              </a:ext>
            </a:extLst>
          </p:cNvPr>
          <p:cNvSpPr txBox="1">
            <a:spLocks/>
          </p:cNvSpPr>
          <p:nvPr/>
        </p:nvSpPr>
        <p:spPr>
          <a:xfrm>
            <a:off x="7909132" y="1738620"/>
            <a:ext cx="3754617" cy="3193449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Masse de la goutte compressée : 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95 mg pour la colle</a:t>
            </a:r>
          </a:p>
          <a:p>
            <a:pPr marL="690372" lvl="1" indent="-342900">
              <a:spcAft>
                <a:spcPts val="1800"/>
              </a:spcAft>
              <a:buFont typeface="Wingdings" panose="05000000000000000000" pitchFamily="2" charset="2"/>
              <a:buChar char="§"/>
            </a:pPr>
            <a:r>
              <a:rPr lang="fr-FR" sz="2000" dirty="0"/>
              <a:t>55 mg pour l’émulsion</a:t>
            </a:r>
            <a:endParaRPr lang="fr-FR" sz="900" dirty="0"/>
          </a:p>
          <a:p>
            <a:pPr>
              <a:spcAft>
                <a:spcPts val="1800"/>
              </a:spcAft>
            </a:pPr>
            <a:r>
              <a:rPr lang="fr-FR" sz="2000" dirty="0"/>
              <a:t>Ajusté avec a = 5</a:t>
            </a:r>
          </a:p>
          <a:p>
            <a:pPr>
              <a:spcAft>
                <a:spcPts val="400"/>
              </a:spcAft>
            </a:pPr>
            <a:r>
              <a:rPr lang="fr-FR" sz="2000" b="1" dirty="0"/>
              <a:t>Colle</a:t>
            </a:r>
            <a:r>
              <a:rPr lang="fr-FR" sz="2000" dirty="0"/>
              <a:t> : modèle </a:t>
            </a:r>
            <a:r>
              <a:rPr lang="fr-FR" sz="2000" b="1" dirty="0"/>
              <a:t>non-glissant</a:t>
            </a:r>
          </a:p>
          <a:p>
            <a:pPr>
              <a:spcAft>
                <a:spcPts val="400"/>
              </a:spcAft>
            </a:pPr>
            <a:r>
              <a:rPr lang="fr-FR" sz="2000" b="1" dirty="0"/>
              <a:t>Emulsion</a:t>
            </a:r>
            <a:r>
              <a:rPr lang="fr-FR" sz="2000" dirty="0"/>
              <a:t> (mayonnaise) : modèle</a:t>
            </a:r>
            <a:r>
              <a:rPr lang="fr-FR" sz="2000" b="1" dirty="0"/>
              <a:t> glissant</a:t>
            </a:r>
          </a:p>
          <a:p>
            <a:pPr marL="690372" lvl="1" indent="-342900">
              <a:spcAft>
                <a:spcPts val="400"/>
              </a:spcAft>
              <a:buFont typeface="Wingdings" panose="05000000000000000000" pitchFamily="2" charset="2"/>
              <a:buChar char="Ø"/>
            </a:pPr>
            <a:r>
              <a:rPr lang="fr-FR" sz="2000" dirty="0"/>
              <a:t>Vérifié expérimentalement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1E077ADB-B84A-87C6-0147-C9F742C8E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187" y="1627892"/>
            <a:ext cx="6896454" cy="4654789"/>
          </a:xfrm>
          <a:prstGeom prst="rect">
            <a:avLst/>
          </a:prstGeom>
          <a:ln w="28575">
            <a:solidFill>
              <a:srgbClr val="AAC3E8"/>
            </a:solidFill>
          </a:ln>
        </p:spPr>
      </p:pic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C90F9676-C2C9-9D7C-996B-42AC3215655B}"/>
              </a:ext>
            </a:extLst>
          </p:cNvPr>
          <p:cNvCxnSpPr>
            <a:cxnSpLocks/>
          </p:cNvCxnSpPr>
          <p:nvPr/>
        </p:nvCxnSpPr>
        <p:spPr>
          <a:xfrm>
            <a:off x="8109558" y="5159103"/>
            <a:ext cx="458605" cy="0"/>
          </a:xfrm>
          <a:prstGeom prst="straightConnector1">
            <a:avLst/>
          </a:prstGeom>
          <a:ln w="76200">
            <a:solidFill>
              <a:srgbClr val="AAC3E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53DA4CA7-E069-B6D2-30E0-D9F6CC108D0C}"/>
              </a:ext>
            </a:extLst>
          </p:cNvPr>
          <p:cNvSpPr txBox="1">
            <a:spLocks/>
          </p:cNvSpPr>
          <p:nvPr/>
        </p:nvSpPr>
        <p:spPr>
          <a:xfrm>
            <a:off x="7992350" y="4990240"/>
            <a:ext cx="3596467" cy="1364668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b="1" dirty="0"/>
              <a:t>         Excellent fit </a:t>
            </a:r>
          </a:p>
          <a:p>
            <a:r>
              <a:rPr lang="fr-FR" sz="2000" b="1" dirty="0"/>
              <a:t>modèle / expérience</a:t>
            </a:r>
          </a:p>
          <a:p>
            <a:r>
              <a:rPr lang="fr-FR" sz="2000" dirty="0"/>
              <a:t>de la valeur finale et du comportement dynamique </a:t>
            </a:r>
          </a:p>
        </p:txBody>
      </p:sp>
      <p:sp>
        <p:nvSpPr>
          <p:cNvPr id="17" name="Espace réservé du numéro de diapositive 16">
            <a:extLst>
              <a:ext uri="{FF2B5EF4-FFF2-40B4-BE49-F238E27FC236}">
                <a16:creationId xmlns:a16="http://schemas.microsoft.com/office/drawing/2014/main" id="{C3C1DF83-74B2-1BCF-669E-4F6C1A08A7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48F63A3B-78C7-47BE-AE5E-E10140E04643}" type="slidenum">
              <a:rPr lang="fr-FR" smtClean="0"/>
              <a:pPr rtl="0"/>
              <a:t>7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810245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F05AA2-6BB2-81EB-0364-815EC0459A44}"/>
              </a:ext>
            </a:extLst>
          </p:cNvPr>
          <p:cNvSpPr/>
          <p:nvPr/>
        </p:nvSpPr>
        <p:spPr>
          <a:xfrm>
            <a:off x="9246742" y="3383207"/>
            <a:ext cx="2508876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49AD9F3B-4274-FE71-9786-0F373B22E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418496"/>
            <a:ext cx="10511627" cy="1068658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 2 : compressions</a:t>
            </a:r>
            <a:br>
              <a:rPr lang="fr-FR" dirty="0"/>
            </a:br>
            <a:r>
              <a:rPr lang="fr-FR" sz="2400" dirty="0"/>
              <a:t>protocole</a:t>
            </a: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DAF4F0F6-52B2-0194-1D04-78C683AAB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469655" y="1611099"/>
            <a:ext cx="1220017" cy="3377209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14EA52A-4F49-ED97-85AE-566EF9072A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9126822" y="1452805"/>
            <a:ext cx="1237654" cy="3367766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6378575A-B035-0685-D8BC-F6FE161CB81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943" r="17548" b="26704"/>
          <a:stretch>
            <a:fillRect/>
          </a:stretch>
        </p:blipFill>
        <p:spPr>
          <a:xfrm>
            <a:off x="844527" y="2429758"/>
            <a:ext cx="3235098" cy="2800163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519E28CD-C834-EE4B-B933-7B7EB03A2E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994" t="30105" r="9790" b="41735"/>
          <a:stretch>
            <a:fillRect/>
          </a:stretch>
        </p:blipFill>
        <p:spPr>
          <a:xfrm>
            <a:off x="840187" y="5334075"/>
            <a:ext cx="3235098" cy="904127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9086D48F-C74F-68A0-64C4-E00C259248D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139" r="3939" b="18212"/>
          <a:stretch>
            <a:fillRect/>
          </a:stretch>
        </p:blipFill>
        <p:spPr>
          <a:xfrm>
            <a:off x="4403054" y="4560501"/>
            <a:ext cx="3365214" cy="1672328"/>
          </a:xfrm>
          <a:prstGeom prst="rect">
            <a:avLst/>
          </a:prstGeom>
        </p:spPr>
      </p:pic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B299F1E4-EE5F-D959-4941-9DD84ACF3F97}"/>
              </a:ext>
            </a:extLst>
          </p:cNvPr>
          <p:cNvSpPr txBox="1">
            <a:spLocks/>
          </p:cNvSpPr>
          <p:nvPr/>
        </p:nvSpPr>
        <p:spPr>
          <a:xfrm>
            <a:off x="819842" y="1701311"/>
            <a:ext cx="3235098" cy="816551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1.   Dépôt d’une goutte sur une lame de verre</a:t>
            </a:r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B533FDA5-161F-5845-E88B-34EEFA195498}"/>
              </a:ext>
            </a:extLst>
          </p:cNvPr>
          <p:cNvSpPr txBox="1">
            <a:spLocks/>
          </p:cNvSpPr>
          <p:nvPr/>
        </p:nvSpPr>
        <p:spPr>
          <a:xfrm>
            <a:off x="4273718" y="1888220"/>
            <a:ext cx="3562141" cy="816551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2.   Dépôt de la lame supérieure et photo sur panneau LED</a:t>
            </a:r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17" name="Espace réservé du texte 2">
            <a:extLst>
              <a:ext uri="{FF2B5EF4-FFF2-40B4-BE49-F238E27FC236}">
                <a16:creationId xmlns:a16="http://schemas.microsoft.com/office/drawing/2014/main" id="{ED0BE98A-FE39-14F2-CE34-DFF3DEA20172}"/>
              </a:ext>
            </a:extLst>
          </p:cNvPr>
          <p:cNvSpPr txBox="1">
            <a:spLocks/>
          </p:cNvSpPr>
          <p:nvPr/>
        </p:nvSpPr>
        <p:spPr>
          <a:xfrm>
            <a:off x="7903451" y="3951879"/>
            <a:ext cx="3562141" cy="816551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5.   Mesure des diamètres</a:t>
            </a:r>
          </a:p>
          <a:p>
            <a:endParaRPr lang="fr-FR" sz="2000" dirty="0"/>
          </a:p>
          <a:p>
            <a:endParaRPr lang="fr-FR" sz="2000" dirty="0"/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094CAB02-E8DF-B0AA-7D78-DFA544E19F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6200000">
            <a:off x="8903327" y="3670563"/>
            <a:ext cx="1756763" cy="3367767"/>
          </a:xfrm>
          <a:prstGeom prst="rect">
            <a:avLst/>
          </a:prstGeom>
        </p:spPr>
      </p:pic>
      <p:sp>
        <p:nvSpPr>
          <p:cNvPr id="22" name="Espace réservé du texte 2">
            <a:extLst>
              <a:ext uri="{FF2B5EF4-FFF2-40B4-BE49-F238E27FC236}">
                <a16:creationId xmlns:a16="http://schemas.microsoft.com/office/drawing/2014/main" id="{C8525F47-AF11-DBE1-DD7C-9229CF1CEED6}"/>
              </a:ext>
            </a:extLst>
          </p:cNvPr>
          <p:cNvSpPr txBox="1">
            <a:spLocks/>
          </p:cNvSpPr>
          <p:nvPr/>
        </p:nvSpPr>
        <p:spPr>
          <a:xfrm>
            <a:off x="4273718" y="4058516"/>
            <a:ext cx="3562141" cy="816551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3.   Compression par une masse</a:t>
            </a:r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19F40A4E-6234-7E03-121E-41129E15DA6F}"/>
              </a:ext>
            </a:extLst>
          </p:cNvPr>
          <p:cNvSpPr txBox="1">
            <a:spLocks/>
          </p:cNvSpPr>
          <p:nvPr/>
        </p:nvSpPr>
        <p:spPr>
          <a:xfrm>
            <a:off x="7935265" y="1701310"/>
            <a:ext cx="3562141" cy="816551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dirty="0"/>
              <a:t>4.   Photo sur panneau LED après la compression</a:t>
            </a:r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D619ED91-49D7-0031-1CA0-2E1724D18E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48F63A3B-78C7-47BE-AE5E-E10140E04643}" type="slidenum">
              <a:rPr lang="fr-FR" smtClean="0"/>
              <a:pPr rtl="0"/>
              <a:t>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8191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9343B9-F1D5-419E-A9AC-DB97D0FD0260}"/>
              </a:ext>
            </a:extLst>
          </p:cNvPr>
          <p:cNvSpPr/>
          <p:nvPr/>
        </p:nvSpPr>
        <p:spPr>
          <a:xfrm>
            <a:off x="9226193" y="3383207"/>
            <a:ext cx="2529425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78C1E7BF-7B8C-3544-4638-EDEDE3611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211757"/>
            <a:ext cx="10511627" cy="1124194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 2 : compressions</a:t>
            </a:r>
            <a:br>
              <a:rPr lang="fr-FR" dirty="0"/>
            </a:br>
            <a:r>
              <a:rPr lang="fr-FR" sz="2400" dirty="0"/>
              <a:t>avec la colle</a:t>
            </a:r>
            <a:endParaRPr lang="fr-FR" dirty="0"/>
          </a:p>
        </p:txBody>
      </p:sp>
      <p:sp>
        <p:nvSpPr>
          <p:cNvPr id="13" name="Espace réservé du texte 2">
            <a:extLst>
              <a:ext uri="{FF2B5EF4-FFF2-40B4-BE49-F238E27FC236}">
                <a16:creationId xmlns:a16="http://schemas.microsoft.com/office/drawing/2014/main" id="{4504F9E7-3252-FB17-F5A2-C6B046032B07}"/>
              </a:ext>
            </a:extLst>
          </p:cNvPr>
          <p:cNvSpPr txBox="1">
            <a:spLocks/>
          </p:cNvSpPr>
          <p:nvPr/>
        </p:nvSpPr>
        <p:spPr>
          <a:xfrm>
            <a:off x="8001001" y="1868793"/>
            <a:ext cx="2782442" cy="4001540"/>
          </a:xfrm>
          <a:prstGeom prst="rect">
            <a:avLst/>
          </a:prstGeom>
        </p:spPr>
        <p:txBody>
          <a:bodyPr vert="horz" lIns="91440" tIns="0" rIns="91440" bIns="0" rtlCol="0">
            <a:normAutofit/>
          </a:bodyPr>
          <a:lstStyle>
            <a:defPPr>
              <a:defRPr lang="fr-FR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  <a:lvl2pPr marL="347472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2pPr>
            <a:lvl3pPr marL="685800" indent="-347472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3pPr>
            <a:lvl4pPr marL="16002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4pPr>
            <a:lvl5pPr marL="2057400" indent="-347472" algn="l" defTabSz="914400" rtl="0" eaLnBrk="1" latinLnBrk="0" hangingPunct="1">
              <a:lnSpc>
                <a:spcPct val="100000"/>
              </a:lnSpc>
              <a:spcBef>
                <a:spcPts val="36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/>
              <a:t>Masse de la goutte compressée : 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95 mg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55 mg</a:t>
            </a:r>
          </a:p>
          <a:p>
            <a:endParaRPr lang="fr-FR" sz="2000" dirty="0"/>
          </a:p>
          <a:p>
            <a:r>
              <a:rPr lang="fr-FR" sz="2000" dirty="0"/>
              <a:t>Masse de compression :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40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50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100 g</a:t>
            </a:r>
          </a:p>
          <a:p>
            <a:pPr marL="690372" lvl="1" indent="-342900">
              <a:buFont typeface="Wingdings" panose="05000000000000000000" pitchFamily="2" charset="2"/>
              <a:buChar char="§"/>
            </a:pPr>
            <a:r>
              <a:rPr lang="fr-FR" sz="2000" dirty="0"/>
              <a:t>200 g (pour une goutte de 55mg)</a:t>
            </a:r>
          </a:p>
          <a:p>
            <a:endParaRPr lang="fr-FR" sz="2000" dirty="0"/>
          </a:p>
          <a:p>
            <a:endParaRPr lang="fr-FR" sz="20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95B9AD3-1A10-5265-9101-17E524F5D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127" y="1492879"/>
            <a:ext cx="6206204" cy="4954015"/>
          </a:xfrm>
          <a:prstGeom prst="rect">
            <a:avLst/>
          </a:prstGeom>
          <a:ln w="28575">
            <a:solidFill>
              <a:srgbClr val="AAC3E8"/>
            </a:solidFill>
          </a:ln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6471526-F4D3-C94B-C830-547CEB69F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48F63A3B-78C7-47BE-AE5E-E10140E04643}" type="slidenum">
              <a:rPr lang="fr-FR" smtClean="0"/>
              <a:pPr rtl="0"/>
              <a:t>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0567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F9274-98F7-180D-29C7-FE5811C24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10CC255-9441-73D5-53E9-0477BD369784}"/>
              </a:ext>
            </a:extLst>
          </p:cNvPr>
          <p:cNvSpPr/>
          <p:nvPr/>
        </p:nvSpPr>
        <p:spPr>
          <a:xfrm>
            <a:off x="9226193" y="3383207"/>
            <a:ext cx="2529425" cy="3474793"/>
          </a:xfrm>
          <a:prstGeom prst="rect">
            <a:avLst/>
          </a:prstGeom>
          <a:solidFill>
            <a:srgbClr val="FDFA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21591DBB-F8A0-ECD6-6D26-5A4D7B1F6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187" y="689619"/>
            <a:ext cx="10511627" cy="646331"/>
          </a:xfrm>
        </p:spPr>
        <p:txBody>
          <a:bodyPr rtlCol="0"/>
          <a:lstStyle>
            <a:defPPr>
              <a:defRPr lang="fr-FR"/>
            </a:defPPr>
          </a:lstStyle>
          <a:p>
            <a:pPr algn="ctr" rtl="0"/>
            <a:r>
              <a:rPr lang="fr-FR" dirty="0"/>
              <a:t>Expérience 1 : compressions</a:t>
            </a:r>
            <a:br>
              <a:rPr lang="fr-FR" dirty="0"/>
            </a:br>
            <a:r>
              <a:rPr lang="fr-FR" sz="2400" dirty="0"/>
              <a:t>avec la colle et l’émulsion</a:t>
            </a:r>
            <a:endParaRPr lang="fr-F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space réservé du texte 2">
                <a:extLst>
                  <a:ext uri="{FF2B5EF4-FFF2-40B4-BE49-F238E27FC236}">
                    <a16:creationId xmlns:a16="http://schemas.microsoft.com/office/drawing/2014/main" id="{D04714F9-6A03-9875-6456-A2051ECAC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05619" y="1798957"/>
                <a:ext cx="3544584" cy="3950169"/>
              </a:xfrm>
              <a:prstGeom prst="rect">
                <a:avLst/>
              </a:prstGeom>
            </p:spPr>
            <p:txBody>
              <a:bodyPr vert="horz" lIns="91440" tIns="0" rIns="91440" bIns="0" rtlCol="0">
                <a:normAutofit fontScale="92500" lnSpcReduction="10000"/>
              </a:bodyPr>
              <a:lstStyle>
                <a:defPPr>
                  <a:defRPr lang="fr-FR"/>
                </a:defPPr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1pPr>
                <a:lvl2pPr marL="347472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-347472" algn="l" defTabSz="914400" rtl="0" eaLnBrk="1" latinLnBrk="0" hangingPunct="1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lang="fr-FR" sz="24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347472" algn="l" defTabSz="914400" rtl="0" eaLnBrk="1" latinLnBrk="0" hangingPunct="1">
                  <a:lnSpc>
                    <a:spcPct val="100000"/>
                  </a:lnSpc>
                  <a:spcBef>
                    <a:spcPts val="36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lang="fr-FR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000" dirty="0"/>
                  <a:t>Sans avoir attendu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</a:rPr>
                          <m:t>𝑓𝑖𝑛𝑎𝑙</m:t>
                        </m:r>
                      </m:sub>
                    </m:sSub>
                  </m:oMath>
                </a14:m>
                <a:endParaRPr lang="fr-FR" sz="2000" dirty="0"/>
              </a:p>
              <a:p>
                <a:endParaRPr lang="fr-FR" sz="2000" dirty="0"/>
              </a:p>
              <a:p>
                <a:r>
                  <a:rPr lang="fr-FR" sz="2000" dirty="0"/>
                  <a:t>Masse de la goutte compressée : </a:t>
                </a:r>
              </a:p>
              <a:p>
                <a:pPr marL="690372" lvl="1" indent="-342900">
                  <a:buFont typeface="Wingdings" panose="05000000000000000000" pitchFamily="2" charset="2"/>
                  <a:buChar char="§"/>
                </a:pPr>
                <a:r>
                  <a:rPr lang="fr-FR" sz="2000" dirty="0"/>
                  <a:t>95 mg</a:t>
                </a:r>
              </a:p>
              <a:p>
                <a:pPr marL="690372" lvl="1" indent="-342900">
                  <a:buFont typeface="Wingdings" panose="05000000000000000000" pitchFamily="2" charset="2"/>
                  <a:buChar char="§"/>
                </a:pPr>
                <a:r>
                  <a:rPr lang="fr-FR" sz="2000" dirty="0"/>
                  <a:t>55 mg</a:t>
                </a:r>
              </a:p>
              <a:p>
                <a:pPr marL="690372" lvl="1" indent="-342900">
                  <a:buFont typeface="Wingdings" panose="05000000000000000000" pitchFamily="2" charset="2"/>
                  <a:buChar char="§"/>
                </a:pPr>
                <a:r>
                  <a:rPr lang="fr-FR" sz="2000" dirty="0"/>
                  <a:t>30 mg</a:t>
                </a:r>
              </a:p>
              <a:p>
                <a:pPr marL="690372" lvl="1" indent="-342900">
                  <a:buFont typeface="Wingdings" panose="05000000000000000000" pitchFamily="2" charset="2"/>
                  <a:buChar char="§"/>
                </a:pPr>
                <a:r>
                  <a:rPr lang="fr-FR" sz="2000" dirty="0"/>
                  <a:t>10 mg</a:t>
                </a:r>
              </a:p>
              <a:p>
                <a:endParaRPr lang="fr-FR" sz="2000" dirty="0"/>
              </a:p>
              <a:p>
                <a:r>
                  <a:rPr lang="fr-FR" sz="2000" dirty="0"/>
                  <a:t>Masse de compression :</a:t>
                </a:r>
              </a:p>
              <a:p>
                <a:pPr marL="690372" lvl="1" indent="-342900">
                  <a:buFont typeface="Wingdings" panose="05000000000000000000" pitchFamily="2" charset="2"/>
                  <a:buChar char="§"/>
                </a:pPr>
                <a:r>
                  <a:rPr lang="fr-FR" sz="2000" dirty="0"/>
                  <a:t>20 g</a:t>
                </a:r>
              </a:p>
              <a:p>
                <a:pPr marL="690372" lvl="1" indent="-342900">
                  <a:buFont typeface="Wingdings" panose="05000000000000000000" pitchFamily="2" charset="2"/>
                  <a:buChar char="§"/>
                </a:pPr>
                <a:r>
                  <a:rPr lang="fr-FR" sz="2000" dirty="0"/>
                  <a:t>40 g</a:t>
                </a:r>
              </a:p>
              <a:p>
                <a:pPr marL="690372" lvl="1" indent="-342900">
                  <a:buFont typeface="Wingdings" panose="05000000000000000000" pitchFamily="2" charset="2"/>
                  <a:buChar char="§"/>
                </a:pPr>
                <a:r>
                  <a:rPr lang="fr-FR" sz="2000" dirty="0"/>
                  <a:t>50 g</a:t>
                </a:r>
              </a:p>
              <a:p>
                <a:pPr marL="690372" lvl="1" indent="-342900">
                  <a:buFont typeface="Wingdings" panose="05000000000000000000" pitchFamily="2" charset="2"/>
                  <a:buChar char="§"/>
                </a:pPr>
                <a:r>
                  <a:rPr lang="fr-FR" sz="2000" dirty="0"/>
                  <a:t>60 g</a:t>
                </a:r>
              </a:p>
              <a:p>
                <a:pPr marL="690372" lvl="1" indent="-342900">
                  <a:buFont typeface="Wingdings" panose="05000000000000000000" pitchFamily="2" charset="2"/>
                  <a:buChar char="§"/>
                </a:pPr>
                <a:r>
                  <a:rPr lang="fr-FR" sz="2000" dirty="0"/>
                  <a:t>100 g</a:t>
                </a:r>
              </a:p>
              <a:p>
                <a:pPr marL="690372" lvl="1" indent="-342900">
                  <a:buFont typeface="Wingdings" panose="05000000000000000000" pitchFamily="2" charset="2"/>
                  <a:buChar char="§"/>
                </a:pPr>
                <a:r>
                  <a:rPr lang="fr-FR" sz="2000" dirty="0"/>
                  <a:t>200 g</a:t>
                </a:r>
              </a:p>
              <a:p>
                <a:endParaRPr lang="fr-FR" sz="2000" dirty="0"/>
              </a:p>
              <a:p>
                <a:endParaRPr lang="fr-FR" sz="2000" dirty="0"/>
              </a:p>
            </p:txBody>
          </p:sp>
        </mc:Choice>
        <mc:Fallback>
          <p:sp>
            <p:nvSpPr>
              <p:cNvPr id="13" name="Espace réservé du texte 2">
                <a:extLst>
                  <a:ext uri="{FF2B5EF4-FFF2-40B4-BE49-F238E27FC236}">
                    <a16:creationId xmlns:a16="http://schemas.microsoft.com/office/drawing/2014/main" id="{D04714F9-6A03-9875-6456-A2051ECAC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5619" y="1798957"/>
                <a:ext cx="3544584" cy="3950169"/>
              </a:xfrm>
              <a:prstGeom prst="rect">
                <a:avLst/>
              </a:prstGeom>
              <a:blipFill>
                <a:blip r:embed="rId2"/>
                <a:stretch>
                  <a:fillRect l="-1546" t="-2315" b="-33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0183250E-CF47-EBA1-3B16-B174C3992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176" y="1552978"/>
            <a:ext cx="6286775" cy="4810387"/>
          </a:xfrm>
          <a:prstGeom prst="rect">
            <a:avLst/>
          </a:prstGeom>
          <a:ln w="28575">
            <a:solidFill>
              <a:srgbClr val="AAC3E8"/>
            </a:solidFill>
          </a:ln>
        </p:spPr>
      </p:pic>
      <p:sp>
        <p:nvSpPr>
          <p:cNvPr id="5" name="Accolade fermante 4">
            <a:extLst>
              <a:ext uri="{FF2B5EF4-FFF2-40B4-BE49-F238E27FC236}">
                <a16:creationId xmlns:a16="http://schemas.microsoft.com/office/drawing/2014/main" id="{41AB0325-B5F8-9813-9C7D-8D98E211E34F}"/>
              </a:ext>
            </a:extLst>
          </p:cNvPr>
          <p:cNvSpPr/>
          <p:nvPr/>
        </p:nvSpPr>
        <p:spPr>
          <a:xfrm>
            <a:off x="9355756" y="2666198"/>
            <a:ext cx="365760" cy="442762"/>
          </a:xfrm>
          <a:prstGeom prst="rightBrace">
            <a:avLst>
              <a:gd name="adj1" fmla="val 24122"/>
              <a:gd name="adj2" fmla="val 50000"/>
            </a:avLst>
          </a:prstGeom>
          <a:ln w="28575">
            <a:solidFill>
              <a:srgbClr val="DF8C8C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2767BB9F-652D-7ADF-DEC0-866D8B534369}"/>
              </a:ext>
            </a:extLst>
          </p:cNvPr>
          <p:cNvSpPr/>
          <p:nvPr/>
        </p:nvSpPr>
        <p:spPr>
          <a:xfrm>
            <a:off x="9292980" y="2920200"/>
            <a:ext cx="365760" cy="684388"/>
          </a:xfrm>
          <a:prstGeom prst="rightBrace">
            <a:avLst>
              <a:gd name="adj1" fmla="val 24122"/>
              <a:gd name="adj2" fmla="val 58438"/>
            </a:avLst>
          </a:prstGeom>
          <a:ln w="28575">
            <a:solidFill>
              <a:srgbClr val="DF8C8C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5CDCE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B06854E-960F-EDF9-D1CB-47B81197E7FC}"/>
              </a:ext>
            </a:extLst>
          </p:cNvPr>
          <p:cNvSpPr txBox="1"/>
          <p:nvPr/>
        </p:nvSpPr>
        <p:spPr>
          <a:xfrm>
            <a:off x="9721516" y="269208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DF8C8C"/>
                </a:solidFill>
              </a:rPr>
              <a:t>colle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0EB1E21-52A5-427E-B8F4-594314C0382D}"/>
              </a:ext>
            </a:extLst>
          </p:cNvPr>
          <p:cNvSpPr txBox="1"/>
          <p:nvPr/>
        </p:nvSpPr>
        <p:spPr>
          <a:xfrm>
            <a:off x="9646047" y="3109399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DF8C8C"/>
                </a:solidFill>
              </a:rPr>
              <a:t>émulsion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CB3E19E6-8088-C271-C2EB-633146B020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48F63A3B-78C7-47BE-AE5E-E10140E04643}" type="slidenum">
              <a:rPr lang="fr-FR" smtClean="0"/>
              <a:pPr rtl="0"/>
              <a:t>10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08055306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nalisé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3085_TF78438558_Win32" id="{3A360CBA-99A0-49ED-B63F-2D1627BB2518}" vid="{56FFFEFC-6F1D-4078-81C7-9B5A182BBA3B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262EAC855B9A4AA1EA640DE55D9291" ma:contentTypeVersion="1" ma:contentTypeDescription="Crée un document." ma:contentTypeScope="" ma:versionID="b77c85bbfd0b92efe37df041e558d067">
  <xsd:schema xmlns:xsd="http://www.w3.org/2001/XMLSchema" xmlns:xs="http://www.w3.org/2001/XMLSchema" xmlns:p="http://schemas.microsoft.com/office/2006/metadata/properties" xmlns:ns3="5fe2be53-eead-4083-8773-55ad5d51649a" targetNamespace="http://schemas.microsoft.com/office/2006/metadata/properties" ma:root="true" ma:fieldsID="d116f912760d7d2eb93dc091ad074d5c" ns3:_="">
    <xsd:import namespace="5fe2be53-eead-4083-8773-55ad5d51649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e2be53-eead-4083-8773-55ad5d51649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95F1B84-5324-45B5-9B4C-63D8886BFB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e2be53-eead-4083-8773-55ad5d51649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719FA4-954C-4FA8-82CB-206659C3B826}">
  <ds:schemaRefs>
    <ds:schemaRef ds:uri="http://schemas.microsoft.com/office/infopath/2007/PartnerControls"/>
    <ds:schemaRef ds:uri="http://purl.org/dc/elements/1.1/"/>
    <ds:schemaRef ds:uri="http://schemas.microsoft.com/office/2006/metadata/properties"/>
    <ds:schemaRef ds:uri="5fe2be53-eead-4083-8773-55ad5d51649a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{B144AA22-32CD-464F-9B84-C38381DD4068}TF8a9b5915-b8c7-461e-8cdd-693d48b5e32310e906f8_win32-220c37ecc522</Template>
  <TotalTime>6534</TotalTime>
  <Words>535</Words>
  <Application>Microsoft Office PowerPoint</Application>
  <PresentationFormat>Grand écran</PresentationFormat>
  <Paragraphs>113</Paragraphs>
  <Slides>10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7" baseType="lpstr">
      <vt:lpstr>Arial</vt:lpstr>
      <vt:lpstr>Arial Black</vt:lpstr>
      <vt:lpstr>Calibri</vt:lpstr>
      <vt:lpstr>Cambria Math</vt:lpstr>
      <vt:lpstr>Sabon Next LT</vt:lpstr>
      <vt:lpstr>Wingdings</vt:lpstr>
      <vt:lpstr>Personnalisé</vt:lpstr>
      <vt:lpstr>Système &amp; modèle physique</vt:lpstr>
      <vt:lpstr>Système d’équations</vt:lpstr>
      <vt:lpstr>étalement d’après le modèle</vt:lpstr>
      <vt:lpstr>Présentation PowerPoint</vt:lpstr>
      <vt:lpstr>Contribution des contraintes</vt:lpstr>
      <vt:lpstr>expérience 1 : étalement protocole</vt:lpstr>
      <vt:lpstr>Expérience 2 : étalement de colle et émulsion</vt:lpstr>
      <vt:lpstr>Expérience 2 : compressions protocole</vt:lpstr>
      <vt:lpstr>Expérience 2 : compressions avec la colle</vt:lpstr>
      <vt:lpstr>Expérience 1 : compressions avec la colle et l’émulsion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Joséphine PERONNE</dc:creator>
  <cp:lastModifiedBy>Joséphine PERONNE</cp:lastModifiedBy>
  <cp:revision>19</cp:revision>
  <dcterms:created xsi:type="dcterms:W3CDTF">2026-01-21T13:52:05Z</dcterms:created>
  <dcterms:modified xsi:type="dcterms:W3CDTF">2026-02-11T18:01:39Z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0x0101007A262EAC855B9A4AA1EA640DE55D9291</vt:lpwstr>
  </property>
</Properties>
</file>