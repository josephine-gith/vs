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4"/>
  </p:notesMasterIdLst>
  <p:handoutMasterIdLst>
    <p:handoutMasterId r:id="rId15"/>
  </p:handoutMasterIdLst>
  <p:sldIdLst>
    <p:sldId id="281" r:id="rId5"/>
    <p:sldId id="325" r:id="rId6"/>
    <p:sldId id="324" r:id="rId7"/>
    <p:sldId id="322" r:id="rId8"/>
    <p:sldId id="326" r:id="rId9"/>
    <p:sldId id="328" r:id="rId10"/>
    <p:sldId id="329" r:id="rId11"/>
    <p:sldId id="330" r:id="rId12"/>
    <p:sldId id="331" r:id="rId13"/>
  </p:sldIdLst>
  <p:sldSz cx="12192000" cy="6858000"/>
  <p:notesSz cx="13716000" cy="24384000"/>
  <p:defaultTextStyle>
    <a:defPPr rtl="0">
      <a:defRPr lang="fr-FR"/>
    </a:defPPr>
    <a:lvl1pPr marL="0" algn="l" defTabSz="4572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AC4E9"/>
    <a:srgbClr val="F5CDCE"/>
    <a:srgbClr val="202C8F"/>
    <a:srgbClr val="FDFAF6"/>
    <a:srgbClr val="DF8C8C"/>
    <a:srgbClr val="FDFBF6"/>
    <a:srgbClr val="D4D593"/>
    <a:srgbClr val="E6F0FE"/>
    <a:srgbClr val="CDBE8A"/>
    <a:srgbClr val="FFEF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88" autoAdjust="0"/>
  </p:normalViewPr>
  <p:slideViewPr>
    <p:cSldViewPr snapToGrid="0" snapToObjects="1">
      <p:cViewPr varScale="1">
        <p:scale>
          <a:sx n="62" d="100"/>
          <a:sy n="62" d="100"/>
        </p:scale>
        <p:origin x="828" y="44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31" d="100"/>
          <a:sy n="31" d="100"/>
        </p:scale>
        <p:origin x="4392" y="15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fr-FR" sz="1200"/>
            </a:lvl1pPr>
          </a:lstStyle>
          <a:p>
            <a:pPr rtl="0"/>
            <a:fld id="{A7C9947C-0B99-4CC9-AA3C-4A4AC8D4662C}" type="datetimeyyyy">
              <a:rPr lang="fr-FR" smtClean="0"/>
              <a:t>2026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fr-FR" sz="1200"/>
            </a:lvl1pPr>
          </a:lstStyle>
          <a:p>
            <a:pPr rtl="0"/>
            <a:fld id="{420BD0AB-C59E-4A46-83D3-F07787446BA0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lang="fr-FR"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lang="fr-FR"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lang="fr-FR"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lang="fr-FR"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lang="fr-FR"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lang="fr-FR"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lang="fr-FR"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lang="fr-FR"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lang="fr-FR"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BD47E-9E7F-B82D-4791-876AF65FB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FA31ED92-6A69-745E-44B9-AE39E1A9E0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6995F080-C548-5E6D-485E-E903210EA5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454596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AFEB11-14CB-8B84-0C01-AC932E70D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F70A2E57-BFFE-FE17-20FA-8B4669729C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902B92E3-4D58-6F65-8641-14F8BF651A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495229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088148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20" name="Freeform: Forme 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8" name="Freeform: Form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" name="Titr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rtlCol="0" anchor="ctr" anchorCtr="0">
            <a:noAutofit/>
          </a:bodyPr>
          <a:lstStyle>
            <a:lvl1pPr algn="ctr">
              <a:lnSpc>
                <a:spcPct val="100000"/>
              </a:lnSpc>
              <a:defRPr lang="fr-FR" sz="3600"/>
            </a:lvl1pPr>
          </a:lstStyle>
          <a:p>
            <a:pPr rtl="0"/>
            <a:r>
              <a:rPr lang="fr-FR"/>
              <a:t>Cliquez pour ajouter un titre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dre du j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e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orme libre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8" name="Forme libre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grpSp>
        <p:nvGrpSpPr>
          <p:cNvPr id="9" name="Groupe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orme libre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1" name="Forme libre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14" name="Image 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fr-FR" sz="3600"/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13" name="Espace réservé du contenu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lang="fr-FR" sz="2400"/>
            </a:lvl1pPr>
            <a:lvl2pPr marL="347472">
              <a:lnSpc>
                <a:spcPct val="150000"/>
              </a:lnSpc>
              <a:spcBef>
                <a:spcPts val="0"/>
              </a:spcBef>
              <a:defRPr lang="fr-FR" sz="2000"/>
            </a:lvl2pPr>
            <a:lvl3pPr marL="685800">
              <a:lnSpc>
                <a:spcPct val="150000"/>
              </a:lnSpc>
              <a:spcBef>
                <a:spcPts val="0"/>
              </a:spcBef>
              <a:defRPr lang="fr-FR" sz="1800"/>
            </a:lvl3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fr-F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algn="ctr" rtl="0"/>
            <a:endParaRPr lang="fr-FR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sz="1600" dirty="0"/>
          </a:p>
        </p:txBody>
      </p:sp>
      <p:grpSp>
        <p:nvGrpSpPr>
          <p:cNvPr id="18" name="Groupe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Forme 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fr-FR"/>
              </a:defPPr>
            </a:lstStyle>
            <a:p>
              <a:pPr lvl="0" rtl="0"/>
              <a:endParaRPr lang="fr-FR" dirty="0"/>
            </a:p>
          </p:txBody>
        </p:sp>
        <p:sp>
          <p:nvSpPr>
            <p:cNvPr id="15" name="Freeform: Forme 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fr-FR"/>
              </a:defPPr>
            </a:lstStyle>
            <a:p>
              <a:pPr lvl="0" rtl="0"/>
              <a:endParaRPr lang="fr-FR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 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2" name="Titr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rtlCol="0" anchor="ctr">
            <a:noAutofit/>
          </a:bodyPr>
          <a:lstStyle>
            <a:lvl1pPr algn="l">
              <a:lnSpc>
                <a:spcPct val="100000"/>
              </a:lnSpc>
              <a:defRPr lang="fr-FR" sz="3600" b="1"/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8" name="Espace réservé d’image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 rtlCol="0">
            <a:normAutofit/>
          </a:bodyPr>
          <a:lstStyle>
            <a:lvl1pPr marL="0" indent="0">
              <a:buNone/>
              <a:defRPr lang="fr-FR" sz="1800"/>
            </a:lvl1pPr>
          </a:lstStyle>
          <a:p>
            <a:pPr lvl="0" rtl="0"/>
            <a:r>
              <a:rPr lang="fr-FR"/>
              <a:t>Cliquez ici pour ajouter une image.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 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algn="ctr" rtl="0"/>
            <a:endParaRPr lang="fr-FR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sz="1600" dirty="0"/>
          </a:p>
        </p:txBody>
      </p:sp>
      <p:sp>
        <p:nvSpPr>
          <p:cNvPr id="36" name="Forme libre 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33" name="Forme libre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fr-FR"/>
            </a:defPPr>
          </a:lstStyle>
          <a:p>
            <a:pPr lvl="0" algn="ctr" rtl="0"/>
            <a:endParaRPr lang="fr-FR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fr-FR" sz="3600"/>
            </a:lvl1pPr>
          </a:lstStyle>
          <a:p>
            <a:pPr rtl="0"/>
            <a:r>
              <a:rPr lang="fr-FR"/>
              <a:t>Cliquer pour ajouter du texte</a:t>
            </a:r>
          </a:p>
        </p:txBody>
      </p:sp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fr-FR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fr-FR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fr-FR" sz="2400"/>
            </a:lvl3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</p:txBody>
      </p:sp>
      <p:sp>
        <p:nvSpPr>
          <p:cNvPr id="52" name="Espace réservé d’image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 rtlCol="0">
            <a:normAutofit/>
          </a:bodyPr>
          <a:lstStyle>
            <a:lvl1pPr marL="0" indent="0">
              <a:buNone/>
              <a:defRPr lang="fr-FR" sz="1800"/>
            </a:lvl1pPr>
          </a:lstStyle>
          <a:p>
            <a:pPr lvl="0" rtl="0"/>
            <a:r>
              <a:rPr lang="fr-FR"/>
              <a:t>Cliquez ici pour ajouter une image.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 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53" name="Freeform: Forme 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29" name="Forme libre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31" name="Forme libre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33" name="Image 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rtlCol="0" anchor="b" anchorCtr="0">
            <a:noAutofit/>
          </a:bodyPr>
          <a:lstStyle>
            <a:lvl1pPr algn="l">
              <a:lnSpc>
                <a:spcPct val="100000"/>
              </a:lnSpc>
              <a:defRPr lang="fr-FR" sz="3600" b="1">
                <a:latin typeface="+mj-lt"/>
                <a:cs typeface="Arial" panose="020B0604020202020204" pitchFamily="34" charset="0"/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13" name="Espace réservé du contenu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fr-FR" sz="1800"/>
            </a:lvl1pPr>
            <a:lvl2pPr>
              <a:spcBef>
                <a:spcPts val="1000"/>
              </a:spcBef>
              <a:defRPr lang="fr-FR" sz="1800"/>
            </a:lvl2pPr>
            <a:lvl3pPr>
              <a:spcBef>
                <a:spcPts val="1000"/>
              </a:spcBef>
              <a:defRPr lang="fr-FR" sz="1800"/>
            </a:lvl3pPr>
            <a:lvl4pPr>
              <a:spcBef>
                <a:spcPts val="1000"/>
              </a:spcBef>
              <a:defRPr lang="fr-FR" sz="1800"/>
            </a:lvl4pPr>
            <a:lvl5pPr>
              <a:spcBef>
                <a:spcPts val="1000"/>
              </a:spcBef>
              <a:defRPr lang="fr-FR" sz="1800"/>
            </a:lvl5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18" name="Espace réservé du numéro de diapositive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fr-F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a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r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fr-FR" sz="3600"/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pic>
        <p:nvPicPr>
          <p:cNvPr id="13" name="Image 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Forme 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17" name="Image 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pic>
        <p:nvPicPr>
          <p:cNvPr id="19" name="Image 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Espace réservé du numéro de diapositive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fr-F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2" name="Espace réservé du contenu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fr-FR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fr-FR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fr-FR" sz="2400"/>
            </a:lvl3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ison 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orme libre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8" name="Forme libre 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4" name="Forme libre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6" name="Forme libre 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0" name="Titr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fr-FR" sz="3600"/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19" name="Espace réservé du numéro de diapositive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fr-F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23" name="Espace réservé du contenu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fr-FR" sz="1800"/>
            </a:lvl1pPr>
            <a:lvl2pPr marL="283464" indent="-283464">
              <a:spcBef>
                <a:spcPts val="1000"/>
              </a:spcBef>
              <a:defRPr lang="fr-FR" sz="1800"/>
            </a:lvl2pPr>
            <a:lvl3pPr marL="283464" indent="-283464">
              <a:spcBef>
                <a:spcPts val="1000"/>
              </a:spcBef>
              <a:defRPr lang="fr-FR" sz="1800"/>
            </a:lvl3pPr>
            <a:lvl4pPr marL="283464" indent="-283464">
              <a:spcBef>
                <a:spcPts val="1000"/>
              </a:spcBef>
              <a:defRPr lang="fr-FR" sz="1800"/>
            </a:lvl4pPr>
            <a:lvl5pPr marL="283464" indent="-283464">
              <a:spcBef>
                <a:spcPts val="1000"/>
              </a:spcBef>
              <a:defRPr lang="fr-FR" sz="1800"/>
            </a:lvl5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25" name="Espace réservé du contenu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fr-FR" sz="1800"/>
            </a:lvl1pPr>
            <a:lvl2pPr marL="283464" indent="-283464">
              <a:spcBef>
                <a:spcPts val="1000"/>
              </a:spcBef>
              <a:defRPr lang="fr-FR" sz="1800"/>
            </a:lvl2pPr>
            <a:lvl3pPr marL="283464" indent="-283464">
              <a:spcBef>
                <a:spcPts val="1000"/>
              </a:spcBef>
              <a:defRPr lang="fr-FR" sz="1800"/>
            </a:lvl3pPr>
            <a:lvl4pPr marL="283464" indent="-283464">
              <a:spcBef>
                <a:spcPts val="1000"/>
              </a:spcBef>
              <a:defRPr lang="fr-FR" sz="1800"/>
            </a:lvl4pPr>
            <a:lvl5pPr marL="283464" indent="-283464">
              <a:spcBef>
                <a:spcPts val="1000"/>
              </a:spcBef>
              <a:defRPr lang="fr-FR" sz="1800"/>
            </a:lvl5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ronologie 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algn="ctr" rtl="0"/>
            <a:endParaRPr lang="fr-FR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sz="160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 rtlCol="0"/>
          <a:lstStyle>
            <a:lvl1pPr algn="l">
              <a:lnSpc>
                <a:spcPct val="100000"/>
              </a:lnSpc>
              <a:defRPr lang="fr-FR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 rtlCol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lang="fr-FR"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lang="fr-FR"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lang="fr-FR"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lang="fr-FR" sz="1800"/>
            </a:lvl4pPr>
            <a:lvl5pPr indent="-283464">
              <a:spcBef>
                <a:spcPts val="1000"/>
              </a:spcBef>
              <a:defRPr lang="fr-FR" sz="1800"/>
            </a:lvl5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fr-FR" sz="1800"/>
            </a:lvl1pPr>
            <a:lvl2pPr indent="-283464">
              <a:spcBef>
                <a:spcPts val="1000"/>
              </a:spcBef>
              <a:defRPr lang="fr-FR" sz="1800"/>
            </a:lvl2pPr>
            <a:lvl3pPr indent="-283464">
              <a:spcBef>
                <a:spcPts val="1000"/>
              </a:spcBef>
              <a:defRPr lang="fr-FR" sz="1800"/>
            </a:lvl3pPr>
            <a:lvl4pPr indent="-283464">
              <a:spcBef>
                <a:spcPts val="1000"/>
              </a:spcBef>
              <a:defRPr lang="fr-FR" sz="1800"/>
            </a:lvl4pPr>
            <a:lvl5pPr indent="-283464">
              <a:spcBef>
                <a:spcPts val="1000"/>
              </a:spcBef>
              <a:defRPr lang="fr-FR" sz="1800"/>
            </a:lvl5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31" name="Espace réservé d’image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rtlCol="0">
            <a:noAutofit/>
          </a:bodyPr>
          <a:lstStyle>
            <a:lvl1pPr marL="0" indent="0">
              <a:buNone/>
              <a:defRPr lang="fr-FR" sz="1800"/>
            </a:lvl1pPr>
          </a:lstStyle>
          <a:p>
            <a:pPr lvl="0" rtl="0"/>
            <a:r>
              <a:rPr lang="fr-FR"/>
              <a:t>Cliquez ici pour ajouter une image.</a:t>
            </a:r>
          </a:p>
        </p:txBody>
      </p:sp>
      <p:grpSp>
        <p:nvGrpSpPr>
          <p:cNvPr id="32" name="Groupe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Forme 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fr-FR"/>
              </a:defPPr>
            </a:lstStyle>
            <a:p>
              <a:pPr lvl="0" rtl="0"/>
              <a:endParaRPr lang="fr-FR" dirty="0"/>
            </a:p>
          </p:txBody>
        </p:sp>
        <p:sp>
          <p:nvSpPr>
            <p:cNvPr id="21" name="Forme libre : Forme 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fr-FR"/>
              </a:defPPr>
            </a:lstStyle>
            <a:p>
              <a:pPr lvl="0" rtl="0"/>
              <a:endParaRPr lang="fr-FR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Forme 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fr-FR"/>
              </a:defPPr>
            </a:lstStyle>
            <a:p>
              <a:pPr lvl="0" rtl="0"/>
              <a:endParaRPr lang="fr-FR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 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44" name="Espace réservé du numéro de diapositive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fr-F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ésumé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rme libre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26" name="Image 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14" name="Forme libre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pic>
        <p:nvPicPr>
          <p:cNvPr id="21" name="Image 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orme libre 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fr-FR" sz="3600" b="1"/>
            </a:lvl1pPr>
          </a:lstStyle>
          <a:p>
            <a:pPr rtl="0"/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0" name="Espace réservé du contenu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fr-FR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fr-FR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fr-FR" sz="2400"/>
            </a:lvl3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</p:txBody>
      </p:sp>
      <p:sp>
        <p:nvSpPr>
          <p:cNvPr id="10" name="Espace réservé d’image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 rtlCol="0">
            <a:normAutofit/>
          </a:bodyPr>
          <a:lstStyle>
            <a:lvl1pPr marL="0" indent="0">
              <a:buNone/>
              <a:defRPr lang="fr-FR" sz="1800"/>
            </a:lvl1pPr>
          </a:lstStyle>
          <a:p>
            <a:pPr rtl="0"/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20" name="Espace réservé du numéro de diapositive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fr-F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ronologi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rme libre 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/>
          </a:p>
        </p:txBody>
      </p:sp>
      <p:sp>
        <p:nvSpPr>
          <p:cNvPr id="10" name="Forme libre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30" name="Image 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 rtlCol="0"/>
          <a:lstStyle>
            <a:lvl1pPr algn="l">
              <a:lnSpc>
                <a:spcPct val="100000"/>
              </a:lnSpc>
              <a:defRPr lang="fr-FR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4" name="Espace réservé du texte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rtlCol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fr-FR" sz="1800"/>
            </a:lvl1pPr>
          </a:lstStyle>
          <a:p>
            <a:pPr rtl="0"/>
            <a:r>
              <a:rPr lang="fr-FR"/>
              <a:t>Cliquez pour ajouter un sous-titre</a:t>
            </a:r>
          </a:p>
        </p:txBody>
      </p:sp>
      <p:sp>
        <p:nvSpPr>
          <p:cNvPr id="9" name="Espace réservé du contenu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 rtlCol="0">
            <a:normAutofit/>
          </a:bodyPr>
          <a:lstStyle>
            <a:lvl1pPr>
              <a:defRPr lang="fr-FR" sz="1800"/>
            </a:lvl1pPr>
            <a:lvl2pPr>
              <a:defRPr lang="fr-FR" sz="1800"/>
            </a:lvl2pPr>
            <a:lvl3pPr>
              <a:defRPr lang="fr-FR" sz="1800"/>
            </a:lvl3pPr>
            <a:lvl4pPr>
              <a:defRPr lang="fr-FR" sz="1800"/>
            </a:lvl4pPr>
            <a:lvl5pPr>
              <a:defRPr lang="fr-FR" sz="1800"/>
            </a:lvl5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20" name="Espace réservé du numéro de diapositive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fr-F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ésumé 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sme 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fr-FR" sz="3600" b="1"/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49" name="Forme libre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16" name="Espace réservé du contenu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fr-FR" sz="1800"/>
            </a:lvl1pPr>
            <a:lvl2pPr>
              <a:spcBef>
                <a:spcPts val="1000"/>
              </a:spcBef>
              <a:defRPr lang="fr-FR" sz="1800"/>
            </a:lvl2pPr>
            <a:lvl3pPr>
              <a:spcBef>
                <a:spcPts val="1000"/>
              </a:spcBef>
              <a:defRPr lang="fr-FR" sz="1800"/>
            </a:lvl3pPr>
            <a:lvl4pPr>
              <a:spcBef>
                <a:spcPts val="1000"/>
              </a:spcBef>
              <a:defRPr lang="fr-FR" sz="1800"/>
            </a:lvl4pPr>
            <a:lvl5pPr>
              <a:spcBef>
                <a:spcPts val="1000"/>
              </a:spcBef>
              <a:defRPr lang="fr-FR" sz="1800"/>
            </a:lvl5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18" name="Espace réservé du contenu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fr-FR" sz="1800"/>
            </a:lvl1pPr>
            <a:lvl2pPr>
              <a:spcBef>
                <a:spcPts val="1000"/>
              </a:spcBef>
              <a:defRPr lang="fr-FR" sz="1800"/>
            </a:lvl2pPr>
            <a:lvl3pPr>
              <a:spcBef>
                <a:spcPts val="1000"/>
              </a:spcBef>
              <a:defRPr lang="fr-FR" sz="1800"/>
            </a:lvl3pPr>
            <a:lvl4pPr>
              <a:spcBef>
                <a:spcPts val="1000"/>
              </a:spcBef>
              <a:defRPr lang="fr-FR" sz="1800"/>
            </a:lvl4pPr>
            <a:lvl5pPr>
              <a:spcBef>
                <a:spcPts val="1000"/>
              </a:spcBef>
              <a:defRPr lang="fr-FR" sz="1800"/>
            </a:lvl5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27" name="Espace réservé du numéro de diapositive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fr-F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fr-FR" smtClean="0"/>
              <a:pPr/>
              <a:t>‹N°›</a:t>
            </a:fld>
            <a:endParaRPr lang="fr-FR" dirty="0"/>
          </a:p>
        </p:txBody>
      </p:sp>
      <p:pic>
        <p:nvPicPr>
          <p:cNvPr id="43" name="Graphisme 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sme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 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ronologie 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algn="ctr" rtl="0"/>
            <a:endParaRPr lang="fr-FR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sz="160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 rtlCol="0"/>
          <a:lstStyle>
            <a:lvl1pPr algn="ctr">
              <a:lnSpc>
                <a:spcPct val="100000"/>
              </a:lnSpc>
              <a:defRPr lang="fr-FR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14" name="Espace réservé du contenu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 rtlCol="0">
            <a:normAutofit/>
          </a:bodyPr>
          <a:lstStyle>
            <a:lvl1pPr>
              <a:spcBef>
                <a:spcPts val="1000"/>
              </a:spcBef>
              <a:defRPr lang="fr-FR" sz="1800"/>
            </a:lvl1pPr>
            <a:lvl2pPr>
              <a:spcBef>
                <a:spcPts val="1000"/>
              </a:spcBef>
              <a:defRPr lang="fr-FR" sz="1800"/>
            </a:lvl2pPr>
            <a:lvl3pPr>
              <a:spcBef>
                <a:spcPts val="1000"/>
              </a:spcBef>
              <a:defRPr lang="fr-FR" sz="1800"/>
            </a:lvl3pPr>
            <a:lvl4pPr>
              <a:spcBef>
                <a:spcPts val="1000"/>
              </a:spcBef>
              <a:defRPr lang="fr-FR" sz="1800"/>
            </a:lvl4pPr>
            <a:lvl5pPr>
              <a:spcBef>
                <a:spcPts val="1000"/>
              </a:spcBef>
              <a:defRPr lang="fr-FR" sz="1800"/>
            </a:lvl5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16" name="Espace réservé du numéro de diapositive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fr-F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ôtur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Forme 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9" name="Forme libre : Forme 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pic>
        <p:nvPicPr>
          <p:cNvPr id="9" name="Image 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rtlCol="0" anchor="b" anchorCtr="0">
            <a:noAutofit/>
          </a:bodyPr>
          <a:lstStyle>
            <a:lvl1pPr algn="l">
              <a:lnSpc>
                <a:spcPct val="100000"/>
              </a:lnSpc>
              <a:defRPr lang="fr-FR" sz="3600"/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6" name="Sous-titr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rtlCol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lang="fr-FR" sz="2400"/>
            </a:lvl1pPr>
            <a:lvl2pPr marL="457200" indent="0" algn="ctr">
              <a:buNone/>
              <a:defRPr lang="fr-FR" sz="2000"/>
            </a:lvl2pPr>
            <a:lvl3pPr marL="914400" indent="0" algn="ctr">
              <a:buNone/>
              <a:defRPr lang="fr-FR" sz="1800"/>
            </a:lvl3pPr>
            <a:lvl4pPr marL="1371600" indent="0" algn="ctr">
              <a:buNone/>
              <a:defRPr lang="fr-FR" sz="1600"/>
            </a:lvl4pPr>
            <a:lvl5pPr marL="1828800" indent="0" algn="ctr">
              <a:buNone/>
              <a:defRPr lang="fr-FR" sz="1600"/>
            </a:lvl5pPr>
            <a:lvl6pPr marL="2286000" indent="0" algn="ctr">
              <a:buNone/>
              <a:defRPr lang="fr-FR" sz="1600"/>
            </a:lvl6pPr>
            <a:lvl7pPr marL="2743200" indent="0" algn="ctr">
              <a:buNone/>
              <a:defRPr lang="fr-FR" sz="1600"/>
            </a:lvl7pPr>
            <a:lvl8pPr marL="3200400" indent="0" algn="ctr">
              <a:buNone/>
              <a:defRPr lang="fr-FR" sz="1600"/>
            </a:lvl8pPr>
            <a:lvl9pPr marL="3657600" indent="0" algn="ctr">
              <a:buNone/>
              <a:defRPr lang="fr-FR" sz="1600"/>
            </a:lvl9pPr>
          </a:lstStyle>
          <a:p>
            <a:pPr rtl="0"/>
            <a:r>
              <a:rPr lang="fr-FR"/>
              <a:t>Cliquez pour ajouter un sous-titre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rme libre : Forme 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9" name="Forme libre : Forme 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 rtlCol="0" anchor="ctr" anchorCtr="0"/>
          <a:lstStyle>
            <a:defPPr>
              <a:defRPr lang="fr-FR"/>
            </a:def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fr-FR">
                <a:latin typeface="+mn-lt"/>
              </a:defRPr>
            </a:lvl1pPr>
          </a:lstStyle>
          <a:p>
            <a:pPr rtl="0"/>
            <a:fld id="{48F63A3B-78C7-47BE-AE5E-E10140E0464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rme libre : Form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8" name="Forme libre : Forme 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fr-FR">
                <a:latin typeface="+mn-lt"/>
              </a:defRPr>
            </a:lvl1pPr>
          </a:lstStyle>
          <a:p>
            <a:pPr rtl="0"/>
            <a:fld id="{48F63A3B-78C7-47BE-AE5E-E10140E0464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Forme 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rtlCol="0" anchor="b"/>
          <a:lstStyle>
            <a:lvl1pPr>
              <a:lnSpc>
                <a:spcPct val="100000"/>
              </a:lnSpc>
              <a:defRPr lang="fr-FR" sz="3200"/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fr-FR">
                <a:latin typeface="+mn-lt"/>
              </a:defRPr>
            </a:lvl1pPr>
          </a:lstStyle>
          <a:p>
            <a:pPr rtl="0"/>
            <a:fld id="{48F63A3B-78C7-47BE-AE5E-E10140E0464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 rtlCol="0"/>
          <a:lstStyle>
            <a:lvl1pPr marL="0" indent="0">
              <a:buNone/>
              <a:defRPr lang="fr-FR" sz="1600"/>
            </a:lvl1pPr>
            <a:lvl2pPr marL="457200" indent="0">
              <a:buNone/>
              <a:defRPr lang="fr-FR" sz="1400"/>
            </a:lvl2pPr>
            <a:lvl3pPr marL="914400" indent="0">
              <a:buNone/>
              <a:defRPr lang="fr-FR" sz="1200"/>
            </a:lvl3pPr>
            <a:lvl4pPr marL="1371600" indent="0">
              <a:buNone/>
              <a:defRPr lang="fr-FR" sz="1000"/>
            </a:lvl4pPr>
            <a:lvl5pPr marL="1828800" indent="0">
              <a:buNone/>
              <a:defRPr lang="fr-FR" sz="1000"/>
            </a:lvl5pPr>
            <a:lvl6pPr marL="2286000" indent="0">
              <a:buNone/>
              <a:defRPr lang="fr-FR" sz="1000"/>
            </a:lvl6pPr>
            <a:lvl7pPr marL="2743200" indent="0">
              <a:buNone/>
              <a:defRPr lang="fr-FR" sz="1000"/>
            </a:lvl7pPr>
            <a:lvl8pPr marL="3200400" indent="0">
              <a:buNone/>
              <a:defRPr lang="fr-FR" sz="1000"/>
            </a:lvl8pPr>
            <a:lvl9pPr marL="3657600" indent="0">
              <a:buNone/>
              <a:defRPr lang="fr-FR" sz="1000"/>
            </a:lvl9pPr>
          </a:lstStyle>
          <a:p>
            <a:pPr lvl="0" rtl="0"/>
            <a:r>
              <a:rPr lang="fr-FR"/>
              <a:t>Cliquer pour ajouter du texte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 rtlCol="0"/>
          <a:lstStyle>
            <a:lvl1pPr>
              <a:defRPr lang="fr-FR" sz="3200"/>
            </a:lvl1pPr>
            <a:lvl2pPr>
              <a:defRPr lang="fr-FR" sz="2800"/>
            </a:lvl2pPr>
            <a:lvl3pPr>
              <a:defRPr lang="fr-FR" sz="2400"/>
            </a:lvl3pPr>
            <a:lvl4pPr>
              <a:defRPr lang="fr-FR" sz="2000"/>
            </a:lvl4pPr>
            <a:lvl5pPr>
              <a:defRPr lang="fr-FR" sz="2000"/>
            </a:lvl5pPr>
            <a:lvl6pPr>
              <a:defRPr lang="fr-FR" sz="2000"/>
            </a:lvl6pPr>
            <a:lvl7pPr>
              <a:defRPr lang="fr-FR" sz="2000"/>
            </a:lvl7pPr>
            <a:lvl8pPr>
              <a:defRPr lang="fr-FR" sz="2000"/>
            </a:lvl8pPr>
            <a:lvl9pPr>
              <a:defRPr lang="fr-FR" sz="2000"/>
            </a:lvl9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Forme 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rtlCol="0" anchor="b"/>
          <a:lstStyle>
            <a:lvl1pPr>
              <a:lnSpc>
                <a:spcPct val="100000"/>
              </a:lnSpc>
              <a:defRPr lang="fr-FR" sz="3200"/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fr-FR">
                <a:latin typeface="+mn-lt"/>
              </a:defRPr>
            </a:lvl1pPr>
          </a:lstStyle>
          <a:p>
            <a:pPr rtl="0"/>
            <a:fld id="{48F63A3B-78C7-47BE-AE5E-E10140E0464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 rtlCol="0"/>
          <a:lstStyle>
            <a:lvl1pPr marL="0" indent="0">
              <a:buNone/>
              <a:defRPr lang="fr-FR" sz="1600"/>
            </a:lvl1pPr>
            <a:lvl2pPr marL="457200" indent="0">
              <a:buNone/>
              <a:defRPr lang="fr-FR" sz="1400"/>
            </a:lvl2pPr>
            <a:lvl3pPr marL="914400" indent="0">
              <a:buNone/>
              <a:defRPr lang="fr-FR" sz="1200"/>
            </a:lvl3pPr>
            <a:lvl4pPr marL="1371600" indent="0">
              <a:buNone/>
              <a:defRPr lang="fr-FR" sz="1000"/>
            </a:lvl4pPr>
            <a:lvl5pPr marL="1828800" indent="0">
              <a:buNone/>
              <a:defRPr lang="fr-FR" sz="1000"/>
            </a:lvl5pPr>
            <a:lvl6pPr marL="2286000" indent="0">
              <a:buNone/>
              <a:defRPr lang="fr-FR" sz="1000"/>
            </a:lvl6pPr>
            <a:lvl7pPr marL="2743200" indent="0">
              <a:buNone/>
              <a:defRPr lang="fr-FR" sz="1000"/>
            </a:lvl7pPr>
            <a:lvl8pPr marL="3200400" indent="0">
              <a:buNone/>
              <a:defRPr lang="fr-FR" sz="1000"/>
            </a:lvl8pPr>
            <a:lvl9pPr marL="3657600" indent="0">
              <a:buNone/>
              <a:defRPr lang="fr-FR" sz="1000"/>
            </a:lvl9pPr>
          </a:lstStyle>
          <a:p>
            <a:pPr lvl="0" rtl="0"/>
            <a:r>
              <a:rPr lang="fr-FR"/>
              <a:t>Cliquer pour ajouter du texte</a:t>
            </a:r>
          </a:p>
        </p:txBody>
      </p:sp>
      <p:sp>
        <p:nvSpPr>
          <p:cNvPr id="3" name="Espace réservé d’image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lang="fr-FR" sz="2800"/>
            </a:lvl1pPr>
            <a:lvl2pPr marL="457200" indent="0">
              <a:buNone/>
              <a:defRPr lang="fr-FR" sz="2800"/>
            </a:lvl2pPr>
            <a:lvl3pPr marL="914400" indent="0">
              <a:buNone/>
              <a:defRPr lang="fr-FR" sz="2400"/>
            </a:lvl3pPr>
            <a:lvl4pPr marL="1371600" indent="0">
              <a:buNone/>
              <a:defRPr lang="fr-FR" sz="2000"/>
            </a:lvl4pPr>
            <a:lvl5pPr marL="1828800" indent="0">
              <a:buNone/>
              <a:defRPr lang="fr-FR" sz="2000"/>
            </a:lvl5pPr>
            <a:lvl6pPr marL="2286000" indent="0">
              <a:buNone/>
              <a:defRPr lang="fr-FR" sz="2000"/>
            </a:lvl6pPr>
            <a:lvl7pPr marL="2743200" indent="0">
              <a:buNone/>
              <a:defRPr lang="fr-FR" sz="2000"/>
            </a:lvl7pPr>
            <a:lvl8pPr marL="3200400" indent="0">
              <a:buNone/>
              <a:defRPr lang="fr-FR" sz="2000"/>
            </a:lvl8pPr>
            <a:lvl9pPr marL="3657600" indent="0">
              <a:buNone/>
              <a:defRPr lang="fr-FR" sz="2000"/>
            </a:lvl9pPr>
          </a:lstStyle>
          <a:p>
            <a:pPr rtl="0"/>
            <a:r>
              <a:rPr lang="fr-FR"/>
              <a:t>Cliquez ici pour ajouter une image.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lang="fr-FR"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rtl="0"/>
            <a:fld id="{48F63A3B-78C7-47BE-AE5E-E10140E0464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defPPr>
              <a:defRPr lang="fr-FR"/>
            </a:defPPr>
          </a:lstStyle>
          <a:p>
            <a:pPr rtl="0"/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fr-FR"/>
            </a:defPPr>
          </a:lstStyle>
          <a:p>
            <a:pPr lvl="0" rtl="0"/>
            <a:r>
              <a:rPr lang="fr-FR"/>
              <a:t>Modifiez les styles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lang="fr-FR"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fr-FR"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fr-FR"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fr-FR"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fr-FR"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fr-FR"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3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7" Type="http://schemas.openxmlformats.org/officeDocument/2006/relationships/image" Target="../media/image34.pn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3.jpg"/><Relationship Id="rId5" Type="http://schemas.openxmlformats.org/officeDocument/2006/relationships/image" Target="../media/image32.jpeg"/><Relationship Id="rId4" Type="http://schemas.openxmlformats.org/officeDocument/2006/relationships/image" Target="../media/image31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B47FA418-670C-5849-7D58-E3DE4DD77DBD}"/>
              </a:ext>
            </a:extLst>
          </p:cNvPr>
          <p:cNvSpPr/>
          <p:nvPr/>
        </p:nvSpPr>
        <p:spPr>
          <a:xfrm>
            <a:off x="4844716" y="3383207"/>
            <a:ext cx="4219073" cy="3474793"/>
          </a:xfrm>
          <a:prstGeom prst="rect">
            <a:avLst/>
          </a:prstGeom>
          <a:solidFill>
            <a:srgbClr val="FDFA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7420" y="206838"/>
            <a:ext cx="9637160" cy="848396"/>
          </a:xfrm>
        </p:spPr>
        <p:txBody>
          <a:bodyPr rtlCol="0"/>
          <a:lstStyle>
            <a:defPPr>
              <a:defRPr lang="fr-FR"/>
            </a:defPPr>
          </a:lstStyle>
          <a:p>
            <a:pPr algn="ctr" rtl="0"/>
            <a:r>
              <a:rPr lang="fr-FR" dirty="0"/>
              <a:t>Système &amp; modèle physique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62100C0-2074-EC8E-65F8-FB679352F3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4131" y="1394560"/>
            <a:ext cx="6363738" cy="3111310"/>
          </a:xfrm>
          <a:prstGeom prst="rect">
            <a:avLst/>
          </a:prstGeom>
          <a:ln w="57150">
            <a:solidFill>
              <a:srgbClr val="AAC4E9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Espace réservé du texte 2">
                <a:extLst>
                  <a:ext uri="{FF2B5EF4-FFF2-40B4-BE49-F238E27FC236}">
                    <a16:creationId xmlns:a16="http://schemas.microsoft.com/office/drawing/2014/main" id="{32A7C12D-3FAE-6AFF-CB4C-3A5AC174DAD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25706" y="4995526"/>
                <a:ext cx="4719713" cy="1679989"/>
              </a:xfrm>
              <a:prstGeom prst="rect">
                <a:avLst/>
              </a:prstGeom>
            </p:spPr>
            <p:txBody>
              <a:bodyPr vert="horz" lIns="91440" tIns="0" rIns="91440" bIns="0" rtlCol="0">
                <a:normAutofit/>
              </a:bodyPr>
              <a:lstStyle>
                <a:defPPr>
                  <a:defRPr lang="fr-FR"/>
                </a:defPPr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lang="fr-FR" sz="24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1pPr>
                <a:lvl2pPr marL="347472" indent="-347472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lang="fr-FR" sz="24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-347472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lang="fr-FR" sz="24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347472" algn="l" defTabSz="914400" rtl="0" eaLnBrk="1" latinLnBrk="0" hangingPunct="1">
                  <a:lnSpc>
                    <a:spcPct val="100000"/>
                  </a:lnSpc>
                  <a:spcBef>
                    <a:spcPts val="360"/>
                  </a:spcBef>
                  <a:buFont typeface="Arial" panose="020B0604020202020204" pitchFamily="34" charset="0"/>
                  <a:buChar char="•"/>
                  <a:defRPr lang="fr-FR" sz="18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347472" algn="l" defTabSz="914400" rtl="0" eaLnBrk="1" latinLnBrk="0" hangingPunct="1">
                  <a:lnSpc>
                    <a:spcPct val="100000"/>
                  </a:lnSpc>
                  <a:spcBef>
                    <a:spcPts val="360"/>
                  </a:spcBef>
                  <a:buFont typeface="Arial" panose="020B0604020202020204" pitchFamily="34" charset="0"/>
                  <a:buChar char="•"/>
                  <a:defRPr lang="fr-FR" sz="18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fr-FR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fr-FR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fr-FR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fr-FR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fr-FR" sz="2800" b="1" dirty="0" err="1"/>
                  <a:t>Visco-plastique</a:t>
                </a:r>
                <a:endParaRPr lang="fr-FR" sz="2800" b="1" dirty="0"/>
              </a:p>
              <a:p>
                <a:pPr algn="ctr"/>
                <a:endParaRPr lang="fr-FR" sz="900" b="1" dirty="0"/>
              </a:p>
              <a:p>
                <a:pPr algn="ctr"/>
                <a:r>
                  <a:rPr lang="fr-FR" sz="2000" dirty="0"/>
                  <a:t>Herschel-</a:t>
                </a:r>
                <a:r>
                  <a:rPr lang="fr-FR" sz="2000" dirty="0" err="1"/>
                  <a:t>Bulkley</a:t>
                </a:r>
                <a:endParaRPr lang="fr-FR" sz="2000" b="0" i="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00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fr-FR" sz="200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00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sSup>
                        <m:sSupPr>
                          <m:ctrlPr>
                            <a:rPr lang="ar-AE" sz="200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̇"/>
                              <m:ctrlPr>
                                <a:rPr lang="ar-AE" sz="2000" i="1" smtClean="0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ar-AE" sz="2000" i="1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</m:acc>
                        </m:e>
                        <m:sup>
                          <m:r>
                            <a:rPr lang="ar-AE" sz="200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  <m:r>
                        <a:rPr lang="ar-AE" sz="2000" dirty="0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sz="2000" i="1" dirty="0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 dirty="0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ar-AE" sz="2000" dirty="0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ar-AE" sz="2000" i="1" dirty="0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ar-AE" sz="2000" i="1" dirty="0" smtClean="0">
                          <a:latin typeface="Cambria Math" panose="02040503050406030204" pitchFamily="18" charset="0"/>
                        </a:rPr>
                        <m:t>𝑠𝑖</m:t>
                      </m:r>
                      <m:r>
                        <a:rPr lang="ar-AE" sz="20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ar-AE" sz="2000" i="1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ar-AE" sz="2000" i="1" smtClean="0"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ar-AE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ar-AE" sz="200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ar-AE" sz="200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2000" i="1" smtClean="0">
                          <a:latin typeface="Cambria Math" panose="02040503050406030204" pitchFamily="18" charset="0"/>
                        </a:rPr>
                        <m:t>𝑠𝑖𝑛𝑜𝑛</m:t>
                      </m:r>
                      <m:acc>
                        <m:accPr>
                          <m:chr m:val="̇"/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sz="200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</m:acc>
                      <m:r>
                        <a:rPr lang="ar-AE" sz="20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00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ar-AE" sz="2000" dirty="0"/>
              </a:p>
            </p:txBody>
          </p:sp>
        </mc:Choice>
        <mc:Fallback xmlns="">
          <p:sp>
            <p:nvSpPr>
              <p:cNvPr id="4" name="Espace réservé du texte 2">
                <a:extLst>
                  <a:ext uri="{FF2B5EF4-FFF2-40B4-BE49-F238E27FC236}">
                    <a16:creationId xmlns:a16="http://schemas.microsoft.com/office/drawing/2014/main" id="{32A7C12D-3FAE-6AFF-CB4C-3A5AC174DA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5706" y="4995526"/>
                <a:ext cx="4719713" cy="1679989"/>
              </a:xfrm>
              <a:prstGeom prst="rect">
                <a:avLst/>
              </a:prstGeom>
              <a:blipFill>
                <a:blip r:embed="rId4"/>
                <a:stretch>
                  <a:fillRect t="-652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Espace réservé du texte 2">
                <a:extLst>
                  <a:ext uri="{FF2B5EF4-FFF2-40B4-BE49-F238E27FC236}">
                    <a16:creationId xmlns:a16="http://schemas.microsoft.com/office/drawing/2014/main" id="{3D69A2D9-5FD0-5BC8-6C74-13BDA56257F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729443" y="4995526"/>
                <a:ext cx="3116256" cy="1372818"/>
              </a:xfrm>
              <a:prstGeom prst="rect">
                <a:avLst/>
              </a:prstGeom>
            </p:spPr>
            <p:txBody>
              <a:bodyPr vert="horz" lIns="91440" tIns="0" rIns="91440" bIns="0" rtlCol="0">
                <a:normAutofit/>
              </a:bodyPr>
              <a:lstStyle>
                <a:defPPr>
                  <a:defRPr lang="fr-FR"/>
                </a:defPPr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lang="fr-FR" sz="24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1pPr>
                <a:lvl2pPr marL="347472" indent="-347472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lang="fr-FR" sz="24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-347472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lang="fr-FR" sz="24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347472" algn="l" defTabSz="914400" rtl="0" eaLnBrk="1" latinLnBrk="0" hangingPunct="1">
                  <a:lnSpc>
                    <a:spcPct val="100000"/>
                  </a:lnSpc>
                  <a:spcBef>
                    <a:spcPts val="360"/>
                  </a:spcBef>
                  <a:buFont typeface="Arial" panose="020B0604020202020204" pitchFamily="34" charset="0"/>
                  <a:buChar char="•"/>
                  <a:defRPr lang="fr-FR" sz="18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347472" algn="l" defTabSz="914400" rtl="0" eaLnBrk="1" latinLnBrk="0" hangingPunct="1">
                  <a:lnSpc>
                    <a:spcPct val="100000"/>
                  </a:lnSpc>
                  <a:spcBef>
                    <a:spcPts val="360"/>
                  </a:spcBef>
                  <a:buFont typeface="Arial" panose="020B0604020202020204" pitchFamily="34" charset="0"/>
                  <a:buChar char="•"/>
                  <a:defRPr lang="fr-FR" sz="18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fr-FR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fr-FR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fr-FR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fr-FR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fr-FR" sz="2800" b="1" dirty="0"/>
                  <a:t>Élastique</a:t>
                </a:r>
                <a:endParaRPr lang="fr-FR" sz="2000" b="1" dirty="0"/>
              </a:p>
              <a:p>
                <a:pPr algn="ctr"/>
                <a:endParaRPr lang="fr-FR" sz="900" b="1" dirty="0"/>
              </a:p>
              <a:p>
                <a:pPr algn="ctr"/>
                <a:r>
                  <a:rPr lang="fr-FR" sz="2000" dirty="0"/>
                  <a:t>Hooke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00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fr-FR" sz="200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000" b="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ar-AE" sz="20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𝛾</m:t>
                      </m:r>
                    </m:oMath>
                  </m:oMathPara>
                </a14:m>
                <a:endParaRPr lang="ar-AE" sz="2000" dirty="0"/>
              </a:p>
              <a:p>
                <a:pPr algn="ctr"/>
                <a:endParaRPr lang="ar-AE" sz="2000" dirty="0"/>
              </a:p>
            </p:txBody>
          </p:sp>
        </mc:Choice>
        <mc:Fallback xmlns="">
          <p:sp>
            <p:nvSpPr>
              <p:cNvPr id="6" name="Espace réservé du texte 2">
                <a:extLst>
                  <a:ext uri="{FF2B5EF4-FFF2-40B4-BE49-F238E27FC236}">
                    <a16:creationId xmlns:a16="http://schemas.microsoft.com/office/drawing/2014/main" id="{3D69A2D9-5FD0-5BC8-6C74-13BDA56257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9443" y="4995526"/>
                <a:ext cx="3116256" cy="1372818"/>
              </a:xfrm>
              <a:prstGeom prst="rect">
                <a:avLst/>
              </a:prstGeom>
              <a:blipFill>
                <a:blip r:embed="rId5"/>
                <a:stretch>
                  <a:fillRect t="-796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Espace réservé du texte 2">
            <a:extLst>
              <a:ext uri="{FF2B5EF4-FFF2-40B4-BE49-F238E27FC236}">
                <a16:creationId xmlns:a16="http://schemas.microsoft.com/office/drawing/2014/main" id="{1805F502-F0DE-2BD6-591A-22AF1268A9E6}"/>
              </a:ext>
            </a:extLst>
          </p:cNvPr>
          <p:cNvSpPr txBox="1">
            <a:spLocks/>
          </p:cNvSpPr>
          <p:nvPr/>
        </p:nvSpPr>
        <p:spPr>
          <a:xfrm>
            <a:off x="346301" y="5440411"/>
            <a:ext cx="4370391" cy="686409"/>
          </a:xfrm>
          <a:prstGeom prst="rect">
            <a:avLst/>
          </a:prstGeom>
        </p:spPr>
        <p:txBody>
          <a:bodyPr vert="horz" lIns="91440" tIns="0" rIns="91440" bIns="0" rtlCol="0">
            <a:normAutofit/>
          </a:bodyPr>
          <a:lstStyle>
            <a:defPPr>
              <a:defRPr lang="fr-FR"/>
            </a:defPPr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fr-FR"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347472" indent="-347472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fr-FR"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685800" indent="-347472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fr-FR"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2800" dirty="0"/>
              <a:t>La colle est un fluide :</a:t>
            </a:r>
          </a:p>
        </p:txBody>
      </p:sp>
      <p:sp>
        <p:nvSpPr>
          <p:cNvPr id="14" name="Espace réservé du texte 2">
            <a:extLst>
              <a:ext uri="{FF2B5EF4-FFF2-40B4-BE49-F238E27FC236}">
                <a16:creationId xmlns:a16="http://schemas.microsoft.com/office/drawing/2014/main" id="{DDA31BAD-594B-F69B-1024-26F8A8282045}"/>
              </a:ext>
            </a:extLst>
          </p:cNvPr>
          <p:cNvSpPr txBox="1">
            <a:spLocks/>
          </p:cNvSpPr>
          <p:nvPr/>
        </p:nvSpPr>
        <p:spPr>
          <a:xfrm>
            <a:off x="7864764" y="5172341"/>
            <a:ext cx="1606069" cy="1171886"/>
          </a:xfrm>
          <a:prstGeom prst="rect">
            <a:avLst/>
          </a:prstGeom>
        </p:spPr>
        <p:txBody>
          <a:bodyPr vert="horz" lIns="91440" tIns="0" rIns="91440" bIns="0" rtlCol="0">
            <a:normAutofit/>
          </a:bodyPr>
          <a:lstStyle>
            <a:defPPr>
              <a:defRPr lang="fr-FR"/>
            </a:defPPr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fr-FR"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347472" indent="-347472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fr-FR"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685800" indent="-347472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fr-FR"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6000" b="1" dirty="0"/>
              <a:t>&amp;</a:t>
            </a:r>
          </a:p>
        </p:txBody>
      </p:sp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0C4FE-272E-837C-3D07-3756B9CBB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A40907C-ACA7-0A2B-6631-6E7D5E2F3111}"/>
              </a:ext>
            </a:extLst>
          </p:cNvPr>
          <p:cNvSpPr/>
          <p:nvPr/>
        </p:nvSpPr>
        <p:spPr>
          <a:xfrm>
            <a:off x="4844716" y="3388895"/>
            <a:ext cx="4219073" cy="3474793"/>
          </a:xfrm>
          <a:prstGeom prst="rect">
            <a:avLst/>
          </a:prstGeom>
          <a:solidFill>
            <a:srgbClr val="FDFA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6557C9A-2890-D2FC-4EA8-113C1F764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7150" y="235876"/>
            <a:ext cx="6997700" cy="848396"/>
          </a:xfrm>
        </p:spPr>
        <p:txBody>
          <a:bodyPr rtlCol="0"/>
          <a:lstStyle>
            <a:defPPr>
              <a:defRPr lang="fr-FR"/>
            </a:defPPr>
          </a:lstStyle>
          <a:p>
            <a:pPr algn="ctr" rtl="0"/>
            <a:r>
              <a:rPr lang="fr-FR" dirty="0"/>
              <a:t>Système d’équations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Espace réservé du texte 2">
                <a:extLst>
                  <a:ext uri="{FF2B5EF4-FFF2-40B4-BE49-F238E27FC236}">
                    <a16:creationId xmlns:a16="http://schemas.microsoft.com/office/drawing/2014/main" id="{F2BCD148-3B17-9BCE-231C-7AADD3F512A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27293" y="1466063"/>
                <a:ext cx="8293170" cy="848396"/>
              </a:xfrm>
              <a:prstGeom prst="rect">
                <a:avLst/>
              </a:prstGeom>
            </p:spPr>
            <p:txBody>
              <a:bodyPr vert="horz" lIns="91440" tIns="0" rIns="91440" bIns="0" rtlCol="0">
                <a:normAutofit/>
              </a:bodyPr>
              <a:lstStyle>
                <a:defPPr>
                  <a:defRPr lang="fr-FR"/>
                </a:defPPr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lang="fr-FR" sz="24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1pPr>
                <a:lvl2pPr marL="347472" indent="-347472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lang="fr-FR" sz="24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-347472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lang="fr-FR" sz="24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347472" algn="l" defTabSz="914400" rtl="0" eaLnBrk="1" latinLnBrk="0" hangingPunct="1">
                  <a:lnSpc>
                    <a:spcPct val="100000"/>
                  </a:lnSpc>
                  <a:spcBef>
                    <a:spcPts val="360"/>
                  </a:spcBef>
                  <a:buFont typeface="Arial" panose="020B0604020202020204" pitchFamily="34" charset="0"/>
                  <a:buChar char="•"/>
                  <a:defRPr lang="fr-FR" sz="18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347472" algn="l" defTabSz="914400" rtl="0" eaLnBrk="1" latinLnBrk="0" hangingPunct="1">
                  <a:lnSpc>
                    <a:spcPct val="100000"/>
                  </a:lnSpc>
                  <a:spcBef>
                    <a:spcPts val="360"/>
                  </a:spcBef>
                  <a:buFont typeface="Arial" panose="020B0604020202020204" pitchFamily="34" charset="0"/>
                  <a:buChar char="•"/>
                  <a:defRPr lang="fr-FR" sz="18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fr-FR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fr-FR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fr-FR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fr-FR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fr-FR" b="1" dirty="0"/>
                  <a:t>Conservation de la masse : 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sSup>
                      <m:sSupPr>
                        <m:ctrlP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fr-F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</m:t>
                    </m:r>
                    <m:r>
                      <a:rPr lang="fr-F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fr-F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sSubSup>
                      <m:sSubSupPr>
                        <m:ctrlP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fr-FR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fr-FR" dirty="0"/>
                  <a:t> et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𝑑𝑟</m:t>
                        </m:r>
                      </m:num>
                      <m:den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endParaRPr lang="ar-AE" dirty="0"/>
              </a:p>
            </p:txBody>
          </p:sp>
        </mc:Choice>
        <mc:Fallback xmlns="">
          <p:sp>
            <p:nvSpPr>
              <p:cNvPr id="11" name="Espace réservé du texte 2">
                <a:extLst>
                  <a:ext uri="{FF2B5EF4-FFF2-40B4-BE49-F238E27FC236}">
                    <a16:creationId xmlns:a16="http://schemas.microsoft.com/office/drawing/2014/main" id="{F2BCD148-3B17-9BCE-231C-7AADD3F512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7293" y="1466063"/>
                <a:ext cx="8293170" cy="848396"/>
              </a:xfrm>
              <a:prstGeom prst="rect">
                <a:avLst/>
              </a:prstGeom>
              <a:blipFill>
                <a:blip r:embed="rId3"/>
                <a:stretch>
                  <a:fillRect l="-1176" t="-71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Espace réservé du texte 2">
                <a:extLst>
                  <a:ext uri="{FF2B5EF4-FFF2-40B4-BE49-F238E27FC236}">
                    <a16:creationId xmlns:a16="http://schemas.microsoft.com/office/drawing/2014/main" id="{EC359F0F-A405-274C-749F-975BAF33709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83190" y="3189513"/>
                <a:ext cx="6484074" cy="1996749"/>
              </a:xfrm>
              <a:prstGeom prst="rect">
                <a:avLst/>
              </a:prstGeom>
              <a:noFill/>
              <a:ln w="76200">
                <a:noFill/>
              </a:ln>
            </p:spPr>
            <p:txBody>
              <a:bodyPr vert="horz" lIns="91440" tIns="0" rIns="91440" bIns="0" rtlCol="0">
                <a:normAutofit/>
              </a:bodyPr>
              <a:lstStyle>
                <a:defPPr>
                  <a:defRPr lang="fr-FR"/>
                </a:defPPr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lang="fr-FR" sz="24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1pPr>
                <a:lvl2pPr marL="347472" indent="-347472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lang="fr-FR" sz="24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-347472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lang="fr-FR" sz="24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347472" algn="l" defTabSz="914400" rtl="0" eaLnBrk="1" latinLnBrk="0" hangingPunct="1">
                  <a:lnSpc>
                    <a:spcPct val="100000"/>
                  </a:lnSpc>
                  <a:spcBef>
                    <a:spcPts val="360"/>
                  </a:spcBef>
                  <a:buFont typeface="Arial" panose="020B0604020202020204" pitchFamily="34" charset="0"/>
                  <a:buChar char="•"/>
                  <a:defRPr lang="fr-FR" sz="18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347472" algn="l" defTabSz="914400" rtl="0" eaLnBrk="1" latinLnBrk="0" hangingPunct="1">
                  <a:lnSpc>
                    <a:spcPct val="100000"/>
                  </a:lnSpc>
                  <a:spcBef>
                    <a:spcPts val="360"/>
                  </a:spcBef>
                  <a:buFont typeface="Arial" panose="020B0604020202020204" pitchFamily="34" charset="0"/>
                  <a:buChar char="•"/>
                  <a:defRPr lang="fr-FR" sz="18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fr-FR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fr-FR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fr-FR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fr-FR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fr-FR" dirty="0"/>
                  <a:t>Avec la </a:t>
                </a:r>
                <a:r>
                  <a:rPr lang="fr-FR" b="1" dirty="0"/>
                  <a:t>contrainte totale </a:t>
                </a:r>
                <a:r>
                  <a:rPr lang="fr-FR" dirty="0"/>
                  <a:t>:</a:t>
                </a:r>
              </a:p>
              <a:p>
                <a:r>
                  <a:rPr lang="fr-FR" sz="2200" b="0" dirty="0"/>
                  <a:t>	</a:t>
                </a:r>
                <a14:m>
                  <m:oMath xmlns:m="http://schemas.openxmlformats.org/officeDocument/2006/math">
                    <m:r>
                      <a:rPr lang="fr-FR" sz="2200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fr-FR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200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fr-FR" sz="2200" b="0" i="1" smtClean="0">
                            <a:latin typeface="Cambria Math" panose="02040503050406030204" pitchFamily="18" charset="0"/>
                          </a:rPr>
                          <m:t>𝑡𝑜𝑡𝑎𝑙</m:t>
                        </m:r>
                      </m:sub>
                    </m:sSub>
                    <m:r>
                      <a:rPr lang="fr-FR" sz="2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2200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fr-FR" sz="2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200" b="0" i="1" smtClean="0">
                            <a:latin typeface="Cambria Math" panose="02040503050406030204" pitchFamily="18" charset="0"/>
                          </a:rPr>
                          <m:t>𝑀𝑔</m:t>
                        </m:r>
                      </m:num>
                      <m:den>
                        <m:r>
                          <a:rPr lang="fr-FR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sSup>
                          <m:sSupPr>
                            <m:ctrlPr>
                              <a:rPr lang="fr-FR" sz="2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22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fr-FR" sz="2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fr-FR" sz="22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fr-FR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lang="fr-FR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  <m:r>
                      <a:rPr lang="fr-FR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</m:t>
                    </m:r>
                    <m:r>
                      <a:rPr lang="fr-FR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fr-FR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num>
                      <m:den>
                        <m:sSub>
                          <m:sSubPr>
                            <m:ctrlPr>
                              <a:rPr lang="fr-FR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fr-FR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fr-FR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fr-FR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fr-FR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fr-FR" sz="2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2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fr-FR" sz="2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num>
                          <m:den>
                            <m:r>
                              <a:rPr lang="fr-FR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  <m:r>
                          <a:rPr lang="fr-FR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fr-FR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fr-FR" sz="2200" b="0" i="1" dirty="0">
                  <a:solidFill>
                    <a:srgbClr val="202C8F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fr-FR" sz="2200" b="0" dirty="0">
                    <a:solidFill>
                      <a:srgbClr val="202C8F"/>
                    </a:solidFill>
                  </a:rPr>
                  <a:t>		   </a:t>
                </a:r>
                <a14:m>
                  <m:oMath xmlns:m="http://schemas.openxmlformats.org/officeDocument/2006/math">
                    <m:r>
                      <a:rPr lang="fr-FR" sz="2200" b="0" i="1" smtClean="0">
                        <a:solidFill>
                          <a:srgbClr val="202C8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fr-FR" sz="2200" i="1" smtClean="0">
                        <a:solidFill>
                          <a:srgbClr val="202C8F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ar-AE" sz="2200" i="1">
                        <a:solidFill>
                          <a:srgbClr val="202C8F"/>
                        </a:solidFill>
                        <a:latin typeface="Cambria Math" panose="02040503050406030204" pitchFamily="18" charset="0"/>
                      </a:rPr>
                      <m:t>𝛾</m:t>
                    </m:r>
                    <m:r>
                      <a:rPr lang="fr-FR" sz="2200" b="0" i="1" smtClean="0">
                        <a:solidFill>
                          <a:srgbClr val="202C8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fr-FR" sz="2200" i="1">
                        <a:solidFill>
                          <a:srgbClr val="202C8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sSupPr>
                        <m:ctrlPr>
                          <a:rPr lang="fr-FR" sz="2200" i="1">
                            <a:solidFill>
                              <a:srgbClr val="202C8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̇"/>
                            <m:ctrlPr>
                              <a:rPr lang="fr-FR" sz="2200" i="1">
                                <a:solidFill>
                                  <a:srgbClr val="202C8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sz="2200" i="1">
                                <a:solidFill>
                                  <a:srgbClr val="202C8F"/>
                                </a:solidFill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</m:acc>
                      </m:e>
                      <m:sup>
                        <m:r>
                          <a:rPr lang="fr-FR" sz="2200" i="1">
                            <a:solidFill>
                              <a:srgbClr val="202C8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fr-FR" sz="2200" dirty="0">
                        <a:solidFill>
                          <a:srgbClr val="202C8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fr-FR" sz="2200" i="1" dirty="0">
                            <a:solidFill>
                              <a:srgbClr val="202C8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200" i="1" dirty="0">
                            <a:solidFill>
                              <a:srgbClr val="202C8F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fr-FR" sz="2200" dirty="0">
                            <a:solidFill>
                              <a:srgbClr val="202C8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ar-AE" sz="2200" dirty="0"/>
              </a:p>
            </p:txBody>
          </p:sp>
        </mc:Choice>
        <mc:Fallback xmlns="">
          <p:sp>
            <p:nvSpPr>
              <p:cNvPr id="16" name="Espace réservé du texte 2">
                <a:extLst>
                  <a:ext uri="{FF2B5EF4-FFF2-40B4-BE49-F238E27FC236}">
                    <a16:creationId xmlns:a16="http://schemas.microsoft.com/office/drawing/2014/main" id="{EC359F0F-A405-274C-749F-975BAF3370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3190" y="3189513"/>
                <a:ext cx="6484074" cy="1996749"/>
              </a:xfrm>
              <a:prstGeom prst="rect">
                <a:avLst/>
              </a:prstGeom>
              <a:blipFill>
                <a:blip r:embed="rId4"/>
                <a:stretch>
                  <a:fillRect l="-1410" t="-4573"/>
                </a:stretch>
              </a:blipFill>
              <a:ln w="76200"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Espace réservé du texte 2">
                <a:extLst>
                  <a:ext uri="{FF2B5EF4-FFF2-40B4-BE49-F238E27FC236}">
                    <a16:creationId xmlns:a16="http://schemas.microsoft.com/office/drawing/2014/main" id="{0F3BD725-D521-EE11-5419-4768C6283A5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27293" y="2126880"/>
                <a:ext cx="8293170" cy="848396"/>
              </a:xfrm>
              <a:prstGeom prst="rect">
                <a:avLst/>
              </a:prstGeom>
            </p:spPr>
            <p:txBody>
              <a:bodyPr vert="horz" lIns="91440" tIns="0" rIns="91440" bIns="0" rtlCol="0">
                <a:normAutofit/>
              </a:bodyPr>
              <a:lstStyle>
                <a:defPPr>
                  <a:defRPr lang="fr-FR"/>
                </a:defPPr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lang="fr-FR" sz="24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1pPr>
                <a:lvl2pPr marL="347472" indent="-347472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lang="fr-FR" sz="24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-347472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lang="fr-FR" sz="24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347472" algn="l" defTabSz="914400" rtl="0" eaLnBrk="1" latinLnBrk="0" hangingPunct="1">
                  <a:lnSpc>
                    <a:spcPct val="100000"/>
                  </a:lnSpc>
                  <a:spcBef>
                    <a:spcPts val="360"/>
                  </a:spcBef>
                  <a:buFont typeface="Arial" panose="020B0604020202020204" pitchFamily="34" charset="0"/>
                  <a:buChar char="•"/>
                  <a:defRPr lang="fr-FR" sz="18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347472" algn="l" defTabSz="914400" rtl="0" eaLnBrk="1" latinLnBrk="0" hangingPunct="1">
                  <a:lnSpc>
                    <a:spcPct val="100000"/>
                  </a:lnSpc>
                  <a:spcBef>
                    <a:spcPts val="360"/>
                  </a:spcBef>
                  <a:buFont typeface="Arial" panose="020B0604020202020204" pitchFamily="34" charset="0"/>
                  <a:buChar char="•"/>
                  <a:defRPr lang="fr-FR" sz="18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fr-FR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fr-FR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fr-FR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fr-FR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fr-FR" b="1" dirty="0"/>
                  <a:t>Conservation de quantité de mouvement : 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</m:t>
                    </m:r>
                    <m:f>
                      <m:f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𝑑𝑢</m:t>
                        </m:r>
                      </m:num>
                      <m:den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fr-FR" b="0" i="1" smtClean="0"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𝑡𝑜𝑡𝑎𝑙</m:t>
                        </m:r>
                      </m:sub>
                    </m:sSub>
                  </m:oMath>
                </a14:m>
                <a:endParaRPr lang="ar-AE" dirty="0"/>
              </a:p>
            </p:txBody>
          </p:sp>
        </mc:Choice>
        <mc:Fallback xmlns="">
          <p:sp>
            <p:nvSpPr>
              <p:cNvPr id="8" name="Espace réservé du texte 2">
                <a:extLst>
                  <a:ext uri="{FF2B5EF4-FFF2-40B4-BE49-F238E27FC236}">
                    <a16:creationId xmlns:a16="http://schemas.microsoft.com/office/drawing/2014/main" id="{0F3BD725-D521-EE11-5419-4768C6283A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7293" y="2126880"/>
                <a:ext cx="8293170" cy="848396"/>
              </a:xfrm>
              <a:prstGeom prst="rect">
                <a:avLst/>
              </a:prstGeom>
              <a:blipFill>
                <a:blip r:embed="rId5"/>
                <a:stretch>
                  <a:fillRect l="-1176" t="-143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Espace réservé du texte 2">
                <a:extLst>
                  <a:ext uri="{FF2B5EF4-FFF2-40B4-BE49-F238E27FC236}">
                    <a16:creationId xmlns:a16="http://schemas.microsoft.com/office/drawing/2014/main" id="{3133DA29-469D-6B0F-19E9-C077F4052FD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83190" y="4736005"/>
                <a:ext cx="6484074" cy="1834463"/>
              </a:xfrm>
              <a:prstGeom prst="rect">
                <a:avLst/>
              </a:prstGeom>
              <a:noFill/>
              <a:ln w="76200">
                <a:noFill/>
              </a:ln>
            </p:spPr>
            <p:txBody>
              <a:bodyPr vert="horz" lIns="91440" tIns="0" rIns="91440" bIns="0" rtlCol="0">
                <a:normAutofit/>
              </a:bodyPr>
              <a:lstStyle>
                <a:defPPr>
                  <a:defRPr lang="fr-FR"/>
                </a:defPPr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lang="fr-FR" sz="24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1pPr>
                <a:lvl2pPr marL="347472" indent="-347472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lang="fr-FR" sz="24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-347472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lang="fr-FR" sz="24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347472" algn="l" defTabSz="914400" rtl="0" eaLnBrk="1" latinLnBrk="0" hangingPunct="1">
                  <a:lnSpc>
                    <a:spcPct val="100000"/>
                  </a:lnSpc>
                  <a:spcBef>
                    <a:spcPts val="360"/>
                  </a:spcBef>
                  <a:buFont typeface="Arial" panose="020B0604020202020204" pitchFamily="34" charset="0"/>
                  <a:buChar char="•"/>
                  <a:defRPr lang="fr-FR" sz="18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347472" algn="l" defTabSz="914400" rtl="0" eaLnBrk="1" latinLnBrk="0" hangingPunct="1">
                  <a:lnSpc>
                    <a:spcPct val="100000"/>
                  </a:lnSpc>
                  <a:spcBef>
                    <a:spcPts val="360"/>
                  </a:spcBef>
                  <a:buFont typeface="Arial" panose="020B0604020202020204" pitchFamily="34" charset="0"/>
                  <a:buChar char="•"/>
                  <a:defRPr lang="fr-FR" sz="18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fr-FR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fr-FR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fr-FR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fr-FR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ts val="3600"/>
                  </a:lnSpc>
                </a:pPr>
                <a:r>
                  <a:rPr lang="fr-FR" dirty="0"/>
                  <a:t>Avec le </a:t>
                </a:r>
                <a:r>
                  <a:rPr lang="fr-FR" b="1" dirty="0"/>
                  <a:t>taux de déformation </a:t>
                </a:r>
                <a:r>
                  <a:rPr lang="fr-FR" dirty="0"/>
                  <a:t>:</a:t>
                </a:r>
              </a:p>
              <a:p>
                <a:pPr>
                  <a:lnSpc>
                    <a:spcPts val="3600"/>
                  </a:lnSpc>
                </a:pPr>
                <a:r>
                  <a:rPr lang="fr-FR" sz="2200" b="0" dirty="0"/>
                  <a:t>	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fr-FR" sz="22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</m:e>
                    </m:acc>
                    <m:r>
                      <a:rPr lang="fr-FR" sz="2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2200" b="0" i="1" smtClean="0">
                        <a:latin typeface="Cambria Math" panose="02040503050406030204" pitchFamily="18" charset="0"/>
                      </a:rPr>
                      <m:t>𝑎</m:t>
                    </m:r>
                    <m:f>
                      <m:fPr>
                        <m:ctrlPr>
                          <a:rPr lang="fr-FR" sz="2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2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fr-FR" sz="22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den>
                    </m:f>
                  </m:oMath>
                </a14:m>
                <a:r>
                  <a:rPr lang="fr-FR" sz="2200" dirty="0"/>
                  <a:t> pour le cas en non-glissement,</a:t>
                </a:r>
              </a:p>
              <a:p>
                <a:pPr>
                  <a:lnSpc>
                    <a:spcPts val="3600"/>
                  </a:lnSpc>
                </a:pPr>
                <a:r>
                  <a:rPr lang="fr-FR" sz="2200" dirty="0"/>
                  <a:t>	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fr-FR" sz="2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</m:e>
                    </m:acc>
                    <m:r>
                      <a:rPr lang="fr-FR" sz="2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2200" b="0" i="1" smtClean="0">
                        <a:latin typeface="Cambria Math" panose="02040503050406030204" pitchFamily="18" charset="0"/>
                      </a:rPr>
                      <m:t>𝑎</m:t>
                    </m:r>
                    <m:f>
                      <m:fPr>
                        <m:ctrlPr>
                          <a:rPr lang="fr-FR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200" i="1"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fr-FR" sz="22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lang="fr-FR" sz="2200" dirty="0"/>
                  <a:t> pour le cas en glissement </a:t>
                </a:r>
                <a:endParaRPr lang="ar-AE" sz="2200" dirty="0"/>
              </a:p>
            </p:txBody>
          </p:sp>
        </mc:Choice>
        <mc:Fallback xmlns="">
          <p:sp>
            <p:nvSpPr>
              <p:cNvPr id="9" name="Espace réservé du texte 2">
                <a:extLst>
                  <a:ext uri="{FF2B5EF4-FFF2-40B4-BE49-F238E27FC236}">
                    <a16:creationId xmlns:a16="http://schemas.microsoft.com/office/drawing/2014/main" id="{3133DA29-469D-6B0F-19E9-C077F4052F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3190" y="4736005"/>
                <a:ext cx="6484074" cy="1834463"/>
              </a:xfrm>
              <a:prstGeom prst="rect">
                <a:avLst/>
              </a:prstGeom>
              <a:blipFill>
                <a:blip r:embed="rId6"/>
                <a:stretch>
                  <a:fillRect l="-1410" t="-2326"/>
                </a:stretch>
              </a:blipFill>
              <a:ln w="76200"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mage 5">
            <a:extLst>
              <a:ext uri="{FF2B5EF4-FFF2-40B4-BE49-F238E27FC236}">
                <a16:creationId xmlns:a16="http://schemas.microsoft.com/office/drawing/2014/main" id="{C826C115-28C1-D89D-91C6-BA7E959850A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952" t="2686" r="3555" b="4300"/>
          <a:stretch>
            <a:fillRect/>
          </a:stretch>
        </p:blipFill>
        <p:spPr>
          <a:xfrm>
            <a:off x="6852863" y="2903684"/>
            <a:ext cx="4666021" cy="3373565"/>
          </a:xfrm>
          <a:prstGeom prst="rect">
            <a:avLst/>
          </a:prstGeom>
          <a:ln w="38100">
            <a:solidFill>
              <a:srgbClr val="AAC4E9"/>
            </a:solidFill>
          </a:ln>
        </p:spPr>
      </p:pic>
    </p:spTree>
    <p:extLst>
      <p:ext uri="{BB962C8B-B14F-4D97-AF65-F5344CB8AC3E}">
        <p14:creationId xmlns:p14="http://schemas.microsoft.com/office/powerpoint/2010/main" val="22615529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852C4-C2F6-54F1-9878-D5C32908C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F674827-A678-007C-9C41-A1B93FEAB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186" y="0"/>
            <a:ext cx="10511627" cy="1012785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Contribution des contraintes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83DA697-DB72-9C72-2D4F-25EBBEE14F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800" y="1713920"/>
            <a:ext cx="5717867" cy="3503671"/>
          </a:xfrm>
          <a:prstGeom prst="rect">
            <a:avLst/>
          </a:prstGeom>
          <a:ln w="57150">
            <a:solidFill>
              <a:srgbClr val="F5CDCE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Espace réservé du texte 2">
                <a:extLst>
                  <a:ext uri="{FF2B5EF4-FFF2-40B4-BE49-F238E27FC236}">
                    <a16:creationId xmlns:a16="http://schemas.microsoft.com/office/drawing/2014/main" id="{71C725C3-B485-CFB0-98E0-D67571FB3B6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2282" y="5201786"/>
                <a:ext cx="2704399" cy="701136"/>
              </a:xfrm>
              <a:prstGeom prst="rect">
                <a:avLst/>
              </a:prstGeom>
            </p:spPr>
            <p:txBody>
              <a:bodyPr vert="horz" lIns="91440" tIns="0" rIns="91440" bIns="0" rtlCol="0">
                <a:normAutofit/>
              </a:bodyPr>
              <a:lstStyle>
                <a:defPPr>
                  <a:defRPr lang="fr-FR"/>
                </a:defPPr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lang="fr-FR" sz="24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1pPr>
                <a:lvl2pPr marL="347472" indent="-347472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lang="fr-FR" sz="24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-347472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lang="fr-FR" sz="24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347472" algn="l" defTabSz="914400" rtl="0" eaLnBrk="1" latinLnBrk="0" hangingPunct="1">
                  <a:lnSpc>
                    <a:spcPct val="100000"/>
                  </a:lnSpc>
                  <a:spcBef>
                    <a:spcPts val="360"/>
                  </a:spcBef>
                  <a:buFont typeface="Arial" panose="020B0604020202020204" pitchFamily="34" charset="0"/>
                  <a:buChar char="•"/>
                  <a:defRPr lang="fr-FR" sz="18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347472" algn="l" defTabSz="914400" rtl="0" eaLnBrk="1" latinLnBrk="0" hangingPunct="1">
                  <a:lnSpc>
                    <a:spcPct val="100000"/>
                  </a:lnSpc>
                  <a:spcBef>
                    <a:spcPts val="360"/>
                  </a:spcBef>
                  <a:buFont typeface="Arial" panose="020B0604020202020204" pitchFamily="34" charset="0"/>
                  <a:buChar char="•"/>
                  <a:defRPr lang="fr-FR" sz="18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fr-FR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fr-FR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fr-FR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fr-FR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fr-FR" b="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907</m:t>
                      </m:r>
                      <m:r>
                        <a:rPr lang="fr-FR" b="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>
                          <a:latin typeface="Cambria Math" panose="02040503050406030204" pitchFamily="18" charset="0"/>
                        </a:rPr>
                        <m:t>𝑃𝑎</m:t>
                      </m:r>
                    </m:oMath>
                  </m:oMathPara>
                </a14:m>
                <a:endParaRPr lang="fr-FR" dirty="0"/>
              </a:p>
              <a:p>
                <a:pPr>
                  <a:lnSpc>
                    <a:spcPct val="150000"/>
                  </a:lnSpc>
                </a:pPr>
                <a:endParaRPr lang="fr-FR" sz="2000" dirty="0"/>
              </a:p>
            </p:txBody>
          </p:sp>
        </mc:Choice>
        <mc:Fallback xmlns="">
          <p:sp>
            <p:nvSpPr>
              <p:cNvPr id="7" name="Espace réservé du texte 2">
                <a:extLst>
                  <a:ext uri="{FF2B5EF4-FFF2-40B4-BE49-F238E27FC236}">
                    <a16:creationId xmlns:a16="http://schemas.microsoft.com/office/drawing/2014/main" id="{71C725C3-B485-CFB0-98E0-D67571FB3B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82" y="5201786"/>
                <a:ext cx="2704399" cy="70113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re 1">
            <a:extLst>
              <a:ext uri="{FF2B5EF4-FFF2-40B4-BE49-F238E27FC236}">
                <a16:creationId xmlns:a16="http://schemas.microsoft.com/office/drawing/2014/main" id="{0CCFBC1F-F076-C8CE-B158-860333C4EBDA}"/>
              </a:ext>
            </a:extLst>
          </p:cNvPr>
          <p:cNvSpPr txBox="1">
            <a:spLocks/>
          </p:cNvSpPr>
          <p:nvPr/>
        </p:nvSpPr>
        <p:spPr>
          <a:xfrm>
            <a:off x="992586" y="632841"/>
            <a:ext cx="10511627" cy="881120"/>
          </a:xfrm>
          <a:prstGeom prst="rect">
            <a:avLst/>
          </a:prstGeom>
        </p:spPr>
        <p:txBody>
          <a:bodyPr vert="horz" lIns="91440" tIns="0" rIns="91440" bIns="0" rtlCol="0" anchor="b" anchorCtr="0">
            <a:noAutofit/>
          </a:bodyPr>
          <a:lstStyle>
            <a:defPPr>
              <a:defRPr lang="fr-FR"/>
            </a:defPPr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fr-FR" sz="3600" b="1" kern="1200" cap="all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2800" b="0" dirty="0"/>
              <a:t>élasticité</a:t>
            </a:r>
          </a:p>
        </p:txBody>
      </p:sp>
    </p:spTree>
    <p:extLst>
      <p:ext uri="{BB962C8B-B14F-4D97-AF65-F5344CB8AC3E}">
        <p14:creationId xmlns:p14="http://schemas.microsoft.com/office/powerpoint/2010/main" val="38017044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30A324-0737-F0DA-1F7D-10CBE06D7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186" y="366454"/>
            <a:ext cx="10511627" cy="646331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Etalement</a:t>
            </a:r>
          </a:p>
        </p:txBody>
      </p:sp>
      <p:sp>
        <p:nvSpPr>
          <p:cNvPr id="16" name="Espace réservé du texte 2">
            <a:extLst>
              <a:ext uri="{FF2B5EF4-FFF2-40B4-BE49-F238E27FC236}">
                <a16:creationId xmlns:a16="http://schemas.microsoft.com/office/drawing/2014/main" id="{C8E859B9-9F35-2E24-9143-626F8B0AE814}"/>
              </a:ext>
            </a:extLst>
          </p:cNvPr>
          <p:cNvSpPr txBox="1">
            <a:spLocks/>
          </p:cNvSpPr>
          <p:nvPr/>
        </p:nvSpPr>
        <p:spPr>
          <a:xfrm>
            <a:off x="3884375" y="5797818"/>
            <a:ext cx="6995171" cy="1012785"/>
          </a:xfrm>
          <a:prstGeom prst="rect">
            <a:avLst/>
          </a:prstGeom>
        </p:spPr>
        <p:txBody>
          <a:bodyPr vert="horz" lIns="91440" tIns="0" rIns="91440" bIns="0" rtlCol="0">
            <a:normAutofit/>
          </a:bodyPr>
          <a:lstStyle>
            <a:defPPr>
              <a:defRPr lang="fr-FR"/>
            </a:defPPr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fr-FR"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347472" indent="-347472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fr-FR"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685800" indent="-347472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fr-FR"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2000" dirty="0"/>
              <a:t>Rayon et hauteur du cylindre de fluide au cours de la compression sous une masse de 100g.</a:t>
            </a:r>
            <a:endParaRPr lang="ar-AE" sz="2000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6AD15995-69B0-6746-6AF8-2BFBBB94ED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1193" y="1409823"/>
            <a:ext cx="6541536" cy="4115027"/>
          </a:xfrm>
          <a:prstGeom prst="rect">
            <a:avLst/>
          </a:prstGeom>
          <a:ln w="57150">
            <a:solidFill>
              <a:srgbClr val="F5CDCE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Espace réservé du texte 2">
                <a:extLst>
                  <a:ext uri="{FF2B5EF4-FFF2-40B4-BE49-F238E27FC236}">
                    <a16:creationId xmlns:a16="http://schemas.microsoft.com/office/drawing/2014/main" id="{642B383E-03B4-F061-D542-B7BCD189D79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98570" y="1538630"/>
                <a:ext cx="2704399" cy="4944362"/>
              </a:xfrm>
              <a:prstGeom prst="rect">
                <a:avLst/>
              </a:prstGeom>
            </p:spPr>
            <p:txBody>
              <a:bodyPr vert="horz" lIns="91440" tIns="0" rIns="91440" bIns="0" rtlCol="0">
                <a:normAutofit/>
              </a:bodyPr>
              <a:lstStyle>
                <a:defPPr>
                  <a:defRPr lang="fr-FR"/>
                </a:defPPr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lang="fr-FR" sz="24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1pPr>
                <a:lvl2pPr marL="347472" indent="-347472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lang="fr-FR" sz="24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-347472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lang="fr-FR" sz="24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347472" algn="l" defTabSz="914400" rtl="0" eaLnBrk="1" latinLnBrk="0" hangingPunct="1">
                  <a:lnSpc>
                    <a:spcPct val="100000"/>
                  </a:lnSpc>
                  <a:spcBef>
                    <a:spcPts val="360"/>
                  </a:spcBef>
                  <a:buFont typeface="Arial" panose="020B0604020202020204" pitchFamily="34" charset="0"/>
                  <a:buChar char="•"/>
                  <a:defRPr lang="fr-FR" sz="18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347472" algn="l" defTabSz="914400" rtl="0" eaLnBrk="1" latinLnBrk="0" hangingPunct="1">
                  <a:lnSpc>
                    <a:spcPct val="100000"/>
                  </a:lnSpc>
                  <a:spcBef>
                    <a:spcPts val="360"/>
                  </a:spcBef>
                  <a:buFont typeface="Arial" panose="020B0604020202020204" pitchFamily="34" charset="0"/>
                  <a:buChar char="•"/>
                  <a:defRPr lang="fr-FR" sz="18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fr-FR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fr-FR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fr-FR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fr-FR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𝑚𝑚</m:t>
                      </m:r>
                    </m:oMath>
                  </m:oMathPara>
                </a14:m>
                <a:endParaRPr lang="fr-FR" sz="2000" b="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fr-FR" sz="20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fr-FR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fr-FR" sz="2000" i="1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fr-FR" sz="20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2000" i="1">
                          <a:latin typeface="Cambria Math" panose="02040503050406030204" pitchFamily="18" charset="0"/>
                        </a:rPr>
                        <m:t>𝑚𝑚</m:t>
                      </m:r>
                    </m:oMath>
                  </m:oMathPara>
                </a14:m>
                <a:endParaRPr lang="fr-FR" sz="2000" dirty="0"/>
              </a:p>
              <a:p>
                <a:pPr>
                  <a:lnSpc>
                    <a:spcPct val="150000"/>
                  </a:lnSpc>
                </a:pPr>
                <a:endParaRPr lang="fr-FR" sz="10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r>
                        <a:rPr lang="fr-FR" sz="20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fr-FR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20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fr-FR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sz="2000" i="1">
                              <a:latin typeface="Cambria Math" panose="02040503050406030204" pitchFamily="18" charset="0"/>
                            </a:rPr>
                            <m:t>28</m:t>
                          </m:r>
                          <m:r>
                            <a:rPr lang="fr-FR" sz="2000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fr-FR" sz="2000" i="1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fr-FR" sz="2000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fr-FR" sz="20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2000" i="1">
                          <a:latin typeface="Cambria Math" panose="02040503050406030204" pitchFamily="18" charset="0"/>
                        </a:rPr>
                        <m:t>𝑘𝑔</m:t>
                      </m:r>
                      <m:r>
                        <a:rPr lang="fr-FR" sz="2000" i="1">
                          <a:latin typeface="Cambria Math" panose="02040503050406030204" pitchFamily="18" charset="0"/>
                        </a:rPr>
                        <m:t>/</m:t>
                      </m:r>
                      <m:sSup>
                        <m:sSupPr>
                          <m:ctrlPr>
                            <a:rPr lang="fr-FR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20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fr-FR" sz="2000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fr-FR" sz="20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fr-FR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000" i="1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fr-FR" sz="20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fr-FR" sz="2000" i="1">
                          <a:latin typeface="Cambria Math" panose="02040503050406030204" pitchFamily="18" charset="0"/>
                        </a:rPr>
                        <m:t>072</m:t>
                      </m:r>
                      <m:r>
                        <a:rPr lang="fr-FR" sz="2000" i="1">
                          <a:latin typeface="Cambria Math" panose="02040503050406030204" pitchFamily="18" charset="0"/>
                        </a:rPr>
                        <m:t> /</m:t>
                      </m:r>
                      <m:sSup>
                        <m:sSupPr>
                          <m:ctrlPr>
                            <a:rPr lang="fr-FR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20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fr-FR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fr-FR" sz="2000" dirty="0"/>
              </a:p>
              <a:p>
                <a:pPr>
                  <a:lnSpc>
                    <a:spcPct val="150000"/>
                  </a:lnSpc>
                </a:pPr>
                <a:endParaRPr lang="fr-FR" sz="11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fr-FR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90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𝑃𝑎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.</m:t>
                      </m:r>
                      <m:sSup>
                        <m:sSupPr>
                          <m:ctrlPr>
                            <a:rPr lang="fr-FR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</m:oMath>
                  </m:oMathPara>
                </a14:m>
                <a:endParaRPr lang="fr-FR" sz="20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fr-FR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fr-FR" sz="20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fr-FR" sz="20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fr-FR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15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𝑃𝑎</m:t>
                      </m:r>
                    </m:oMath>
                  </m:oMathPara>
                </a14:m>
                <a:endParaRPr lang="fr-FR" sz="20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𝑮</m:t>
                      </m:r>
                      <m:r>
                        <a:rPr lang="fr-FR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𝟗𝟎𝟕</m:t>
                      </m:r>
                      <m:r>
                        <a:rPr lang="fr-FR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1" i="1">
                          <a:latin typeface="Cambria Math" panose="02040503050406030204" pitchFamily="18" charset="0"/>
                        </a:rPr>
                        <m:t>𝑷𝒂</m:t>
                      </m:r>
                    </m:oMath>
                  </m:oMathPara>
                </a14:m>
                <a:endParaRPr lang="fr-FR" b="1" dirty="0"/>
              </a:p>
              <a:p>
                <a:pPr>
                  <a:lnSpc>
                    <a:spcPct val="150000"/>
                  </a:lnSpc>
                </a:pPr>
                <a:endParaRPr lang="fr-FR" sz="2000" dirty="0"/>
              </a:p>
            </p:txBody>
          </p:sp>
        </mc:Choice>
        <mc:Fallback xmlns="">
          <p:sp>
            <p:nvSpPr>
              <p:cNvPr id="7" name="Espace réservé du texte 2">
                <a:extLst>
                  <a:ext uri="{FF2B5EF4-FFF2-40B4-BE49-F238E27FC236}">
                    <a16:creationId xmlns:a16="http://schemas.microsoft.com/office/drawing/2014/main" id="{642B383E-03B4-F061-D542-B7BCD189D7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8570" y="1538630"/>
                <a:ext cx="2704399" cy="494436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62132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98BE0CC3-4269-6CEB-0DB1-2542A6166A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563" y="1094975"/>
            <a:ext cx="6200074" cy="3706159"/>
          </a:xfrm>
          <a:prstGeom prst="rect">
            <a:avLst/>
          </a:prstGeom>
        </p:spPr>
      </p:pic>
      <p:sp>
        <p:nvSpPr>
          <p:cNvPr id="12" name="Titre 1">
            <a:extLst>
              <a:ext uri="{FF2B5EF4-FFF2-40B4-BE49-F238E27FC236}">
                <a16:creationId xmlns:a16="http://schemas.microsoft.com/office/drawing/2014/main" id="{519FC911-B328-A0E9-F524-9E4307FC2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186" y="366454"/>
            <a:ext cx="10511627" cy="646331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Etalement</a:t>
            </a: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7991C441-A0A1-6A58-1F96-7B09A1CA369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58"/>
          <a:stretch>
            <a:fillRect/>
          </a:stretch>
        </p:blipFill>
        <p:spPr>
          <a:xfrm>
            <a:off x="5948737" y="3289463"/>
            <a:ext cx="6109700" cy="343497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Espace réservé du texte 2">
                <a:extLst>
                  <a:ext uri="{FF2B5EF4-FFF2-40B4-BE49-F238E27FC236}">
                    <a16:creationId xmlns:a16="http://schemas.microsoft.com/office/drawing/2014/main" id="{C5930DD3-6DA0-4D04-6D55-C0C6853E929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27289" y="4772726"/>
                <a:ext cx="2704399" cy="701136"/>
              </a:xfrm>
              <a:prstGeom prst="rect">
                <a:avLst/>
              </a:prstGeom>
            </p:spPr>
            <p:txBody>
              <a:bodyPr vert="horz" lIns="91440" tIns="0" rIns="91440" bIns="0" rtlCol="0">
                <a:normAutofit/>
              </a:bodyPr>
              <a:lstStyle>
                <a:defPPr>
                  <a:defRPr lang="fr-FR"/>
                </a:defPPr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lang="fr-FR" sz="24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1pPr>
                <a:lvl2pPr marL="347472" indent="-347472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lang="fr-FR" sz="24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-347472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lang="fr-FR" sz="24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347472" algn="l" defTabSz="914400" rtl="0" eaLnBrk="1" latinLnBrk="0" hangingPunct="1">
                  <a:lnSpc>
                    <a:spcPct val="100000"/>
                  </a:lnSpc>
                  <a:spcBef>
                    <a:spcPts val="360"/>
                  </a:spcBef>
                  <a:buFont typeface="Arial" panose="020B0604020202020204" pitchFamily="34" charset="0"/>
                  <a:buChar char="•"/>
                  <a:defRPr lang="fr-FR" sz="18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347472" algn="l" defTabSz="914400" rtl="0" eaLnBrk="1" latinLnBrk="0" hangingPunct="1">
                  <a:lnSpc>
                    <a:spcPct val="100000"/>
                  </a:lnSpc>
                  <a:spcBef>
                    <a:spcPts val="360"/>
                  </a:spcBef>
                  <a:buFont typeface="Arial" panose="020B0604020202020204" pitchFamily="34" charset="0"/>
                  <a:buChar char="•"/>
                  <a:defRPr lang="fr-FR" sz="18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fr-FR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fr-FR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fr-FR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fr-FR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𝑮</m:t>
                      </m:r>
                      <m:r>
                        <a:rPr lang="fr-FR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𝟐𝟐𝟎</m:t>
                      </m:r>
                      <m:r>
                        <a:rPr lang="fr-FR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1" i="1">
                          <a:latin typeface="Cambria Math" panose="02040503050406030204" pitchFamily="18" charset="0"/>
                        </a:rPr>
                        <m:t>𝑷𝒂</m:t>
                      </m:r>
                    </m:oMath>
                  </m:oMathPara>
                </a14:m>
                <a:endParaRPr lang="fr-FR" b="1" dirty="0"/>
              </a:p>
              <a:p>
                <a:pPr>
                  <a:lnSpc>
                    <a:spcPct val="150000"/>
                  </a:lnSpc>
                </a:pPr>
                <a:endParaRPr lang="fr-FR" sz="2000" dirty="0"/>
              </a:p>
            </p:txBody>
          </p:sp>
        </mc:Choice>
        <mc:Fallback xmlns="">
          <p:sp>
            <p:nvSpPr>
              <p:cNvPr id="15" name="Espace réservé du texte 2">
                <a:extLst>
                  <a:ext uri="{FF2B5EF4-FFF2-40B4-BE49-F238E27FC236}">
                    <a16:creationId xmlns:a16="http://schemas.microsoft.com/office/drawing/2014/main" id="{C5930DD3-6DA0-4D04-6D55-C0C6853E92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7289" y="4772726"/>
                <a:ext cx="2704399" cy="70113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Espace réservé du texte 2">
                <a:extLst>
                  <a:ext uri="{FF2B5EF4-FFF2-40B4-BE49-F238E27FC236}">
                    <a16:creationId xmlns:a16="http://schemas.microsoft.com/office/drawing/2014/main" id="{F923FE4F-E68C-2761-F4FF-744969602A5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739764" y="2813492"/>
                <a:ext cx="2704399" cy="646331"/>
              </a:xfrm>
              <a:prstGeom prst="rect">
                <a:avLst/>
              </a:prstGeom>
            </p:spPr>
            <p:txBody>
              <a:bodyPr vert="horz" lIns="91440" tIns="0" rIns="91440" bIns="0" rtlCol="0">
                <a:normAutofit/>
              </a:bodyPr>
              <a:lstStyle>
                <a:defPPr>
                  <a:defRPr lang="fr-FR"/>
                </a:defPPr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lang="fr-FR" sz="24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1pPr>
                <a:lvl2pPr marL="347472" indent="-347472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lang="fr-FR" sz="24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-347472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defRPr lang="fr-FR" sz="24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347472" algn="l" defTabSz="914400" rtl="0" eaLnBrk="1" latinLnBrk="0" hangingPunct="1">
                  <a:lnSpc>
                    <a:spcPct val="100000"/>
                  </a:lnSpc>
                  <a:spcBef>
                    <a:spcPts val="360"/>
                  </a:spcBef>
                  <a:buFont typeface="Arial" panose="020B0604020202020204" pitchFamily="34" charset="0"/>
                  <a:buChar char="•"/>
                  <a:defRPr lang="fr-FR" sz="18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347472" algn="l" defTabSz="914400" rtl="0" eaLnBrk="1" latinLnBrk="0" hangingPunct="1">
                  <a:lnSpc>
                    <a:spcPct val="100000"/>
                  </a:lnSpc>
                  <a:spcBef>
                    <a:spcPts val="360"/>
                  </a:spcBef>
                  <a:buFont typeface="Arial" panose="020B0604020202020204" pitchFamily="34" charset="0"/>
                  <a:buChar char="•"/>
                  <a:defRPr lang="fr-FR" sz="1800" kern="120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fr-FR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fr-FR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fr-FR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fr-FR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𝑮</m:t>
                      </m:r>
                      <m:r>
                        <a:rPr lang="fr-FR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𝟏𝟎𝟎</m:t>
                      </m:r>
                      <m:r>
                        <a:rPr lang="fr-FR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1" i="1">
                          <a:latin typeface="Cambria Math" panose="02040503050406030204" pitchFamily="18" charset="0"/>
                        </a:rPr>
                        <m:t>𝑷𝒂</m:t>
                      </m:r>
                    </m:oMath>
                  </m:oMathPara>
                </a14:m>
                <a:endParaRPr lang="fr-FR" b="1" dirty="0"/>
              </a:p>
              <a:p>
                <a:pPr>
                  <a:lnSpc>
                    <a:spcPct val="150000"/>
                  </a:lnSpc>
                </a:pPr>
                <a:endParaRPr lang="fr-FR" sz="2000" dirty="0"/>
              </a:p>
            </p:txBody>
          </p:sp>
        </mc:Choice>
        <mc:Fallback xmlns="">
          <p:sp>
            <p:nvSpPr>
              <p:cNvPr id="16" name="Espace réservé du texte 2">
                <a:extLst>
                  <a:ext uri="{FF2B5EF4-FFF2-40B4-BE49-F238E27FC236}">
                    <a16:creationId xmlns:a16="http://schemas.microsoft.com/office/drawing/2014/main" id="{F923FE4F-E68C-2761-F4FF-744969602A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9764" y="2813492"/>
                <a:ext cx="2704399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6121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1">
            <a:extLst>
              <a:ext uri="{FF2B5EF4-FFF2-40B4-BE49-F238E27FC236}">
                <a16:creationId xmlns:a16="http://schemas.microsoft.com/office/drawing/2014/main" id="{3553A97C-6CB9-5122-5F65-CBA2B304E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186" y="366454"/>
            <a:ext cx="10511627" cy="646331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Etalement</a:t>
            </a:r>
          </a:p>
        </p:txBody>
      </p:sp>
      <p:sp>
        <p:nvSpPr>
          <p:cNvPr id="8" name="Espace réservé du texte 2">
            <a:extLst>
              <a:ext uri="{FF2B5EF4-FFF2-40B4-BE49-F238E27FC236}">
                <a16:creationId xmlns:a16="http://schemas.microsoft.com/office/drawing/2014/main" id="{DF764B89-76E2-5F33-9892-594CAC0AB0CE}"/>
              </a:ext>
            </a:extLst>
          </p:cNvPr>
          <p:cNvSpPr txBox="1">
            <a:spLocks/>
          </p:cNvSpPr>
          <p:nvPr/>
        </p:nvSpPr>
        <p:spPr>
          <a:xfrm>
            <a:off x="2598414" y="5998023"/>
            <a:ext cx="6995171" cy="493524"/>
          </a:xfrm>
          <a:prstGeom prst="rect">
            <a:avLst/>
          </a:prstGeom>
        </p:spPr>
        <p:txBody>
          <a:bodyPr vert="horz" lIns="91440" tIns="0" rIns="91440" bIns="0" rtlCol="0">
            <a:normAutofit/>
          </a:bodyPr>
          <a:lstStyle>
            <a:defPPr>
              <a:defRPr lang="fr-FR"/>
            </a:defPPr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fr-FR"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347472" indent="-347472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fr-FR"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685800" indent="-347472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fr-FR"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2000" dirty="0"/>
              <a:t>Pour différentes masses M</a:t>
            </a:r>
            <a:endParaRPr lang="ar-AE" sz="200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F09BAE6-2315-DC72-D7CC-7D5ED5A80A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424" y="1234962"/>
            <a:ext cx="9773152" cy="4388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6383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BF05AA2-6BB2-81EB-0364-815EC0459A44}"/>
              </a:ext>
            </a:extLst>
          </p:cNvPr>
          <p:cNvSpPr/>
          <p:nvPr/>
        </p:nvSpPr>
        <p:spPr>
          <a:xfrm>
            <a:off x="9246742" y="3383207"/>
            <a:ext cx="2508876" cy="3474793"/>
          </a:xfrm>
          <a:prstGeom prst="rect">
            <a:avLst/>
          </a:prstGeom>
          <a:solidFill>
            <a:srgbClr val="FDFA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49AD9F3B-4274-FE71-9786-0F373B22E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187" y="689619"/>
            <a:ext cx="10511627" cy="646331"/>
          </a:xfrm>
        </p:spPr>
        <p:txBody>
          <a:bodyPr rtlCol="0"/>
          <a:lstStyle>
            <a:defPPr>
              <a:defRPr lang="fr-FR"/>
            </a:defPPr>
          </a:lstStyle>
          <a:p>
            <a:pPr algn="ctr" rtl="0"/>
            <a:r>
              <a:rPr lang="fr-FR" dirty="0"/>
              <a:t>Expériences : compression</a:t>
            </a:r>
            <a:br>
              <a:rPr lang="fr-FR" dirty="0"/>
            </a:br>
            <a:r>
              <a:rPr lang="fr-FR" sz="2400" dirty="0"/>
              <a:t>protocole</a:t>
            </a:r>
            <a:endParaRPr lang="fr-FR" dirty="0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DAF4F0F6-52B2-0194-1D04-78C683AAB6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5478716" y="1573889"/>
            <a:ext cx="1220017" cy="3377209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814EA52A-4F49-ED97-85AE-566EF9072A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5456117" y="3914715"/>
            <a:ext cx="1237654" cy="3367766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6378575A-B035-0685-D8BC-F6FE161CB81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8943" r="17548" b="26704"/>
          <a:stretch>
            <a:fillRect/>
          </a:stretch>
        </p:blipFill>
        <p:spPr>
          <a:xfrm>
            <a:off x="844527" y="2429758"/>
            <a:ext cx="3235098" cy="2800163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519E28CD-C834-EE4B-B933-7B7EB03A2E3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3994" t="30105" r="9790" b="41735"/>
          <a:stretch>
            <a:fillRect/>
          </a:stretch>
        </p:blipFill>
        <p:spPr>
          <a:xfrm>
            <a:off x="840187" y="5334075"/>
            <a:ext cx="3235098" cy="904127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9086D48F-C74F-68A0-64C4-E00C259248D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8139" r="3939" b="18212"/>
          <a:stretch>
            <a:fillRect/>
          </a:stretch>
        </p:blipFill>
        <p:spPr>
          <a:xfrm>
            <a:off x="8061142" y="2136519"/>
            <a:ext cx="3365214" cy="1672328"/>
          </a:xfrm>
          <a:prstGeom prst="rect">
            <a:avLst/>
          </a:prstGeom>
        </p:spPr>
      </p:pic>
      <p:sp>
        <p:nvSpPr>
          <p:cNvPr id="14" name="Espace réservé du texte 2">
            <a:extLst>
              <a:ext uri="{FF2B5EF4-FFF2-40B4-BE49-F238E27FC236}">
                <a16:creationId xmlns:a16="http://schemas.microsoft.com/office/drawing/2014/main" id="{B299F1E4-EE5F-D959-4941-9DD84ACF3F97}"/>
              </a:ext>
            </a:extLst>
          </p:cNvPr>
          <p:cNvSpPr txBox="1">
            <a:spLocks/>
          </p:cNvSpPr>
          <p:nvPr/>
        </p:nvSpPr>
        <p:spPr>
          <a:xfrm>
            <a:off x="819842" y="1701311"/>
            <a:ext cx="3235098" cy="816551"/>
          </a:xfrm>
          <a:prstGeom prst="rect">
            <a:avLst/>
          </a:prstGeom>
        </p:spPr>
        <p:txBody>
          <a:bodyPr vert="horz" lIns="91440" tIns="0" rIns="91440" bIns="0" rtlCol="0">
            <a:normAutofit/>
          </a:bodyPr>
          <a:lstStyle>
            <a:defPPr>
              <a:defRPr lang="fr-FR"/>
            </a:defPPr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fr-FR"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347472" indent="-347472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fr-FR"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685800" indent="-347472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fr-FR"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2000" dirty="0"/>
              <a:t>1.   Dépôt d’une goutte sur une lame de verre</a:t>
            </a:r>
          </a:p>
          <a:p>
            <a:endParaRPr lang="fr-FR" sz="2000" dirty="0"/>
          </a:p>
          <a:p>
            <a:endParaRPr lang="fr-FR" sz="2000" dirty="0"/>
          </a:p>
        </p:txBody>
      </p:sp>
      <p:sp>
        <p:nvSpPr>
          <p:cNvPr id="16" name="Espace réservé du texte 2">
            <a:extLst>
              <a:ext uri="{FF2B5EF4-FFF2-40B4-BE49-F238E27FC236}">
                <a16:creationId xmlns:a16="http://schemas.microsoft.com/office/drawing/2014/main" id="{B533FDA5-161F-5845-E88B-34EEFA195498}"/>
              </a:ext>
            </a:extLst>
          </p:cNvPr>
          <p:cNvSpPr txBox="1">
            <a:spLocks/>
          </p:cNvSpPr>
          <p:nvPr/>
        </p:nvSpPr>
        <p:spPr>
          <a:xfrm>
            <a:off x="4215188" y="1867820"/>
            <a:ext cx="3562141" cy="816551"/>
          </a:xfrm>
          <a:prstGeom prst="rect">
            <a:avLst/>
          </a:prstGeom>
        </p:spPr>
        <p:txBody>
          <a:bodyPr vert="horz" lIns="91440" tIns="0" rIns="91440" bIns="0" rtlCol="0">
            <a:normAutofit/>
          </a:bodyPr>
          <a:lstStyle>
            <a:defPPr>
              <a:defRPr lang="fr-FR"/>
            </a:defPPr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fr-FR"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347472" indent="-347472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fr-FR"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685800" indent="-347472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fr-FR"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2000" dirty="0"/>
              <a:t>2.   Dépôt de la lame supérieure et photo sur panneau LED</a:t>
            </a:r>
          </a:p>
          <a:p>
            <a:endParaRPr lang="fr-FR" sz="2000" dirty="0"/>
          </a:p>
          <a:p>
            <a:endParaRPr lang="fr-FR" sz="2000" dirty="0"/>
          </a:p>
        </p:txBody>
      </p:sp>
      <p:sp>
        <p:nvSpPr>
          <p:cNvPr id="17" name="Espace réservé du texte 2">
            <a:extLst>
              <a:ext uri="{FF2B5EF4-FFF2-40B4-BE49-F238E27FC236}">
                <a16:creationId xmlns:a16="http://schemas.microsoft.com/office/drawing/2014/main" id="{ED0BE98A-FE39-14F2-CE34-DFF3DEA20172}"/>
              </a:ext>
            </a:extLst>
          </p:cNvPr>
          <p:cNvSpPr txBox="1">
            <a:spLocks/>
          </p:cNvSpPr>
          <p:nvPr/>
        </p:nvSpPr>
        <p:spPr>
          <a:xfrm>
            <a:off x="7903451" y="4007992"/>
            <a:ext cx="3562141" cy="816551"/>
          </a:xfrm>
          <a:prstGeom prst="rect">
            <a:avLst/>
          </a:prstGeom>
        </p:spPr>
        <p:txBody>
          <a:bodyPr vert="horz" lIns="91440" tIns="0" rIns="91440" bIns="0" rtlCol="0">
            <a:normAutofit/>
          </a:bodyPr>
          <a:lstStyle>
            <a:defPPr>
              <a:defRPr lang="fr-FR"/>
            </a:defPPr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fr-FR"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347472" indent="-347472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fr-FR"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685800" indent="-347472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fr-FR"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2000" dirty="0"/>
              <a:t>5.   Mesure des diamètres</a:t>
            </a:r>
          </a:p>
          <a:p>
            <a:endParaRPr lang="fr-FR" sz="2000" dirty="0"/>
          </a:p>
          <a:p>
            <a:endParaRPr lang="fr-FR" sz="2000" dirty="0"/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id="{094CAB02-E8DF-B0AA-7D78-DFA544E19F6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6200000">
            <a:off x="8903327" y="3670563"/>
            <a:ext cx="1756763" cy="3367767"/>
          </a:xfrm>
          <a:prstGeom prst="rect">
            <a:avLst/>
          </a:prstGeom>
        </p:spPr>
      </p:pic>
      <p:sp>
        <p:nvSpPr>
          <p:cNvPr id="22" name="Espace réservé du texte 2">
            <a:extLst>
              <a:ext uri="{FF2B5EF4-FFF2-40B4-BE49-F238E27FC236}">
                <a16:creationId xmlns:a16="http://schemas.microsoft.com/office/drawing/2014/main" id="{C8525F47-AF11-DBE1-DD7C-9229CF1CEED6}"/>
              </a:ext>
            </a:extLst>
          </p:cNvPr>
          <p:cNvSpPr txBox="1">
            <a:spLocks/>
          </p:cNvSpPr>
          <p:nvPr/>
        </p:nvSpPr>
        <p:spPr>
          <a:xfrm>
            <a:off x="7937577" y="1662923"/>
            <a:ext cx="3562141" cy="816551"/>
          </a:xfrm>
          <a:prstGeom prst="rect">
            <a:avLst/>
          </a:prstGeom>
        </p:spPr>
        <p:txBody>
          <a:bodyPr vert="horz" lIns="91440" tIns="0" rIns="91440" bIns="0" rtlCol="0">
            <a:normAutofit/>
          </a:bodyPr>
          <a:lstStyle>
            <a:defPPr>
              <a:defRPr lang="fr-FR"/>
            </a:defPPr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fr-FR"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347472" indent="-347472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fr-FR"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685800" indent="-347472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fr-FR"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2000" dirty="0"/>
              <a:t>3.   Compression par une masse</a:t>
            </a:r>
          </a:p>
          <a:p>
            <a:endParaRPr lang="fr-FR" sz="2000" dirty="0"/>
          </a:p>
          <a:p>
            <a:endParaRPr lang="fr-FR" sz="2000" dirty="0"/>
          </a:p>
        </p:txBody>
      </p:sp>
      <p:sp>
        <p:nvSpPr>
          <p:cNvPr id="23" name="Espace réservé du texte 2">
            <a:extLst>
              <a:ext uri="{FF2B5EF4-FFF2-40B4-BE49-F238E27FC236}">
                <a16:creationId xmlns:a16="http://schemas.microsoft.com/office/drawing/2014/main" id="{19F40A4E-6234-7E03-121E-41129E15DA6F}"/>
              </a:ext>
            </a:extLst>
          </p:cNvPr>
          <p:cNvSpPr txBox="1">
            <a:spLocks/>
          </p:cNvSpPr>
          <p:nvPr/>
        </p:nvSpPr>
        <p:spPr>
          <a:xfrm>
            <a:off x="4206127" y="4195107"/>
            <a:ext cx="3562141" cy="816551"/>
          </a:xfrm>
          <a:prstGeom prst="rect">
            <a:avLst/>
          </a:prstGeom>
        </p:spPr>
        <p:txBody>
          <a:bodyPr vert="horz" lIns="91440" tIns="0" rIns="91440" bIns="0" rtlCol="0">
            <a:normAutofit/>
          </a:bodyPr>
          <a:lstStyle>
            <a:defPPr>
              <a:defRPr lang="fr-FR"/>
            </a:defPPr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fr-FR"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347472" indent="-347472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fr-FR"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685800" indent="-347472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fr-FR"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2000" dirty="0"/>
              <a:t>4.   Photo sur panneau LED après la compression</a:t>
            </a:r>
          </a:p>
          <a:p>
            <a:endParaRPr lang="fr-FR" sz="2000" dirty="0"/>
          </a:p>
          <a:p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1481911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E9343B9-F1D5-419E-A9AC-DB97D0FD0260}"/>
              </a:ext>
            </a:extLst>
          </p:cNvPr>
          <p:cNvSpPr/>
          <p:nvPr/>
        </p:nvSpPr>
        <p:spPr>
          <a:xfrm>
            <a:off x="9226193" y="3383207"/>
            <a:ext cx="2529425" cy="3474793"/>
          </a:xfrm>
          <a:prstGeom prst="rect">
            <a:avLst/>
          </a:prstGeom>
          <a:solidFill>
            <a:srgbClr val="FDFA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78C1E7BF-7B8C-3544-4638-EDEDE3611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187" y="689619"/>
            <a:ext cx="10511627" cy="646331"/>
          </a:xfrm>
        </p:spPr>
        <p:txBody>
          <a:bodyPr rtlCol="0"/>
          <a:lstStyle>
            <a:defPPr>
              <a:defRPr lang="fr-FR"/>
            </a:defPPr>
          </a:lstStyle>
          <a:p>
            <a:pPr algn="ctr" rtl="0"/>
            <a:r>
              <a:rPr lang="fr-FR" dirty="0"/>
              <a:t>Expériences : compression</a:t>
            </a:r>
            <a:br>
              <a:rPr lang="fr-FR" dirty="0"/>
            </a:br>
            <a:r>
              <a:rPr lang="fr-FR" sz="2400" dirty="0"/>
              <a:t>avec la colle</a:t>
            </a:r>
            <a:endParaRPr lang="fr-FR" dirty="0"/>
          </a:p>
        </p:txBody>
      </p:sp>
      <p:sp>
        <p:nvSpPr>
          <p:cNvPr id="13" name="Espace réservé du texte 2">
            <a:extLst>
              <a:ext uri="{FF2B5EF4-FFF2-40B4-BE49-F238E27FC236}">
                <a16:creationId xmlns:a16="http://schemas.microsoft.com/office/drawing/2014/main" id="{4504F9E7-3252-FB17-F5A2-C6B046032B07}"/>
              </a:ext>
            </a:extLst>
          </p:cNvPr>
          <p:cNvSpPr txBox="1">
            <a:spLocks/>
          </p:cNvSpPr>
          <p:nvPr/>
        </p:nvSpPr>
        <p:spPr>
          <a:xfrm>
            <a:off x="7520683" y="1782811"/>
            <a:ext cx="3720099" cy="3950169"/>
          </a:xfrm>
          <a:prstGeom prst="rect">
            <a:avLst/>
          </a:prstGeom>
        </p:spPr>
        <p:txBody>
          <a:bodyPr vert="horz" lIns="91440" tIns="0" rIns="91440" bIns="0" rtlCol="0">
            <a:normAutofit/>
          </a:bodyPr>
          <a:lstStyle>
            <a:defPPr>
              <a:defRPr lang="fr-FR"/>
            </a:defPPr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fr-FR"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347472" indent="-347472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fr-FR"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685800" indent="-347472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fr-FR"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000" dirty="0"/>
              <a:t>Masse de la goutte compressée : </a:t>
            </a:r>
          </a:p>
          <a:p>
            <a:pPr marL="690372" lvl="1" indent="-342900">
              <a:buFont typeface="Wingdings" panose="05000000000000000000" pitchFamily="2" charset="2"/>
              <a:buChar char="§"/>
            </a:pPr>
            <a:r>
              <a:rPr lang="fr-FR" sz="2000" dirty="0"/>
              <a:t>95 mg</a:t>
            </a:r>
          </a:p>
          <a:p>
            <a:pPr marL="690372" lvl="1" indent="-342900">
              <a:buFont typeface="Wingdings" panose="05000000000000000000" pitchFamily="2" charset="2"/>
              <a:buChar char="§"/>
            </a:pPr>
            <a:r>
              <a:rPr lang="fr-FR" sz="2000" dirty="0"/>
              <a:t>55 mg</a:t>
            </a:r>
          </a:p>
          <a:p>
            <a:endParaRPr lang="fr-FR" sz="2000" dirty="0"/>
          </a:p>
          <a:p>
            <a:r>
              <a:rPr lang="fr-FR" sz="2000" dirty="0"/>
              <a:t>Masse de compression :</a:t>
            </a:r>
          </a:p>
          <a:p>
            <a:pPr marL="690372" lvl="1" indent="-342900">
              <a:buFont typeface="Wingdings" panose="05000000000000000000" pitchFamily="2" charset="2"/>
              <a:buChar char="§"/>
            </a:pPr>
            <a:r>
              <a:rPr lang="fr-FR" sz="2000" dirty="0"/>
              <a:t>20 g</a:t>
            </a:r>
          </a:p>
          <a:p>
            <a:pPr marL="690372" lvl="1" indent="-342900">
              <a:buFont typeface="Wingdings" panose="05000000000000000000" pitchFamily="2" charset="2"/>
              <a:buChar char="§"/>
            </a:pPr>
            <a:r>
              <a:rPr lang="fr-FR" sz="2000" dirty="0"/>
              <a:t>40 g</a:t>
            </a:r>
          </a:p>
          <a:p>
            <a:pPr marL="690372" lvl="1" indent="-342900">
              <a:buFont typeface="Wingdings" panose="05000000000000000000" pitchFamily="2" charset="2"/>
              <a:buChar char="§"/>
            </a:pPr>
            <a:r>
              <a:rPr lang="fr-FR" sz="2000" dirty="0"/>
              <a:t>50 g</a:t>
            </a:r>
          </a:p>
          <a:p>
            <a:pPr marL="690372" lvl="1" indent="-342900">
              <a:buFont typeface="Wingdings" panose="05000000000000000000" pitchFamily="2" charset="2"/>
              <a:buChar char="§"/>
            </a:pPr>
            <a:r>
              <a:rPr lang="fr-FR" sz="2000" dirty="0"/>
              <a:t>100 g</a:t>
            </a:r>
          </a:p>
          <a:p>
            <a:pPr marL="690372" lvl="1" indent="-342900">
              <a:buFont typeface="Wingdings" panose="05000000000000000000" pitchFamily="2" charset="2"/>
              <a:buChar char="§"/>
            </a:pPr>
            <a:r>
              <a:rPr lang="fr-FR" sz="2000" dirty="0"/>
              <a:t>200 g</a:t>
            </a:r>
          </a:p>
          <a:p>
            <a:endParaRPr lang="fr-FR" sz="2000" dirty="0"/>
          </a:p>
          <a:p>
            <a:endParaRPr lang="fr-FR" sz="2000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F7531864-2F2C-62AE-4B9B-F48FA2DDBB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187" y="1507460"/>
            <a:ext cx="6481916" cy="4931728"/>
          </a:xfrm>
          <a:prstGeom prst="rect">
            <a:avLst/>
          </a:prstGeom>
          <a:ln w="38100">
            <a:solidFill>
              <a:srgbClr val="AAC4E9"/>
            </a:solidFill>
          </a:ln>
        </p:spPr>
      </p:pic>
    </p:spTree>
    <p:extLst>
      <p:ext uri="{BB962C8B-B14F-4D97-AF65-F5344CB8AC3E}">
        <p14:creationId xmlns:p14="http://schemas.microsoft.com/office/powerpoint/2010/main" val="31705679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F9274-98F7-180D-29C7-FE5811C24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10CC255-9441-73D5-53E9-0477BD369784}"/>
              </a:ext>
            </a:extLst>
          </p:cNvPr>
          <p:cNvSpPr/>
          <p:nvPr/>
        </p:nvSpPr>
        <p:spPr>
          <a:xfrm>
            <a:off x="9226193" y="3383207"/>
            <a:ext cx="2529425" cy="3474793"/>
          </a:xfrm>
          <a:prstGeom prst="rect">
            <a:avLst/>
          </a:prstGeom>
          <a:solidFill>
            <a:srgbClr val="FDFA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21591DBB-F8A0-ECD6-6D26-5A4D7B1F6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187" y="689619"/>
            <a:ext cx="10511627" cy="646331"/>
          </a:xfrm>
        </p:spPr>
        <p:txBody>
          <a:bodyPr rtlCol="0"/>
          <a:lstStyle>
            <a:defPPr>
              <a:defRPr lang="fr-FR"/>
            </a:defPPr>
          </a:lstStyle>
          <a:p>
            <a:pPr algn="ctr" rtl="0"/>
            <a:r>
              <a:rPr lang="fr-FR" dirty="0"/>
              <a:t>Expériences : compression</a:t>
            </a:r>
            <a:br>
              <a:rPr lang="fr-FR" dirty="0"/>
            </a:br>
            <a:r>
              <a:rPr lang="fr-FR" sz="2400" dirty="0"/>
              <a:t>avec une émulsion (matériau modèle)</a:t>
            </a:r>
            <a:endParaRPr lang="fr-FR" dirty="0"/>
          </a:p>
        </p:txBody>
      </p:sp>
      <p:sp>
        <p:nvSpPr>
          <p:cNvPr id="13" name="Espace réservé du texte 2">
            <a:extLst>
              <a:ext uri="{FF2B5EF4-FFF2-40B4-BE49-F238E27FC236}">
                <a16:creationId xmlns:a16="http://schemas.microsoft.com/office/drawing/2014/main" id="{D04714F9-6A03-9875-6456-A2051ECAC0B3}"/>
              </a:ext>
            </a:extLst>
          </p:cNvPr>
          <p:cNvSpPr txBox="1">
            <a:spLocks/>
          </p:cNvSpPr>
          <p:nvPr/>
        </p:nvSpPr>
        <p:spPr>
          <a:xfrm>
            <a:off x="7520683" y="1782811"/>
            <a:ext cx="3720099" cy="3950169"/>
          </a:xfrm>
          <a:prstGeom prst="rect">
            <a:avLst/>
          </a:prstGeom>
        </p:spPr>
        <p:txBody>
          <a:bodyPr vert="horz" lIns="91440" tIns="0" rIns="91440" bIns="0" rtlCol="0">
            <a:normAutofit/>
          </a:bodyPr>
          <a:lstStyle>
            <a:defPPr>
              <a:defRPr lang="fr-FR"/>
            </a:defPPr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fr-FR"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347472" indent="-347472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fr-FR"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685800" indent="-347472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fr-FR"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000" dirty="0"/>
              <a:t>Masse de la goutte compressée : </a:t>
            </a:r>
          </a:p>
          <a:p>
            <a:pPr marL="690372" lvl="1" indent="-342900">
              <a:buFont typeface="Wingdings" panose="05000000000000000000" pitchFamily="2" charset="2"/>
              <a:buChar char="§"/>
            </a:pPr>
            <a:r>
              <a:rPr lang="fr-FR" sz="2000" dirty="0"/>
              <a:t>95 mg</a:t>
            </a:r>
          </a:p>
          <a:p>
            <a:pPr marL="690372" lvl="1" indent="-342900">
              <a:buFont typeface="Wingdings" panose="05000000000000000000" pitchFamily="2" charset="2"/>
              <a:buChar char="§"/>
            </a:pPr>
            <a:r>
              <a:rPr lang="fr-FR" sz="2000" dirty="0"/>
              <a:t>55 mg</a:t>
            </a:r>
          </a:p>
          <a:p>
            <a:endParaRPr lang="fr-FR" sz="2000" dirty="0"/>
          </a:p>
          <a:p>
            <a:r>
              <a:rPr lang="fr-FR" sz="2000" dirty="0"/>
              <a:t>Masse de compression :</a:t>
            </a:r>
          </a:p>
          <a:p>
            <a:pPr marL="690372" lvl="1" indent="-342900">
              <a:buFont typeface="Wingdings" panose="05000000000000000000" pitchFamily="2" charset="2"/>
              <a:buChar char="§"/>
            </a:pPr>
            <a:r>
              <a:rPr lang="fr-FR" sz="2000" dirty="0"/>
              <a:t>20 g</a:t>
            </a:r>
          </a:p>
          <a:p>
            <a:pPr marL="690372" lvl="1" indent="-342900">
              <a:buFont typeface="Wingdings" panose="05000000000000000000" pitchFamily="2" charset="2"/>
              <a:buChar char="§"/>
            </a:pPr>
            <a:r>
              <a:rPr lang="fr-FR" sz="2000" dirty="0"/>
              <a:t>40 g</a:t>
            </a:r>
          </a:p>
          <a:p>
            <a:pPr marL="690372" lvl="1" indent="-342900">
              <a:buFont typeface="Wingdings" panose="05000000000000000000" pitchFamily="2" charset="2"/>
              <a:buChar char="§"/>
            </a:pPr>
            <a:r>
              <a:rPr lang="fr-FR" sz="2000" dirty="0"/>
              <a:t>50 g</a:t>
            </a:r>
          </a:p>
          <a:p>
            <a:pPr marL="690372" lvl="1" indent="-342900">
              <a:buFont typeface="Wingdings" panose="05000000000000000000" pitchFamily="2" charset="2"/>
              <a:buChar char="§"/>
            </a:pPr>
            <a:r>
              <a:rPr lang="fr-FR" sz="2000" dirty="0"/>
              <a:t>100 g</a:t>
            </a:r>
          </a:p>
          <a:p>
            <a:pPr marL="690372" lvl="1" indent="-342900">
              <a:buFont typeface="Wingdings" panose="05000000000000000000" pitchFamily="2" charset="2"/>
              <a:buChar char="§"/>
            </a:pPr>
            <a:r>
              <a:rPr lang="fr-FR" sz="2000" dirty="0"/>
              <a:t>200 g</a:t>
            </a:r>
          </a:p>
          <a:p>
            <a:endParaRPr lang="fr-FR" sz="2000" dirty="0"/>
          </a:p>
          <a:p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2908055306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nalisé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893085_TF78438558_Win32" id="{3A360CBA-99A0-49ED-B63F-2D1627BB2518}" vid="{56FFFEFC-6F1D-4078-81C7-9B5A182BBA3B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A262EAC855B9A4AA1EA640DE55D9291" ma:contentTypeVersion="1" ma:contentTypeDescription="Crée un document." ma:contentTypeScope="" ma:versionID="b77c85bbfd0b92efe37df041e558d067">
  <xsd:schema xmlns:xsd="http://www.w3.org/2001/XMLSchema" xmlns:xs="http://www.w3.org/2001/XMLSchema" xmlns:p="http://schemas.microsoft.com/office/2006/metadata/properties" xmlns:ns3="5fe2be53-eead-4083-8773-55ad5d51649a" targetNamespace="http://schemas.microsoft.com/office/2006/metadata/properties" ma:root="true" ma:fieldsID="d116f912760d7d2eb93dc091ad074d5c" ns3:_="">
    <xsd:import namespace="5fe2be53-eead-4083-8773-55ad5d51649a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e2be53-eead-4083-8773-55ad5d51649a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95F1B84-5324-45B5-9B4C-63D8886BFBE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fe2be53-eead-4083-8773-55ad5d51649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A719FA4-954C-4FA8-82CB-206659C3B826}">
  <ds:schemaRefs>
    <ds:schemaRef ds:uri="http://schemas.microsoft.com/office/infopath/2007/PartnerControls"/>
    <ds:schemaRef ds:uri="http://purl.org/dc/elements/1.1/"/>
    <ds:schemaRef ds:uri="http://schemas.microsoft.com/office/2006/metadata/properties"/>
    <ds:schemaRef ds:uri="5fe2be53-eead-4083-8773-55ad5d51649a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{B144AA22-32CD-464F-9B84-C38381DD4068}TF8a9b5915-b8c7-461e-8cdd-693d48b5e32310e906f8_win32-220c37ecc522</Template>
  <TotalTime>6176</TotalTime>
  <Words>308</Words>
  <Application>Microsoft Office PowerPoint</Application>
  <PresentationFormat>Grand écran</PresentationFormat>
  <Paragraphs>69</Paragraphs>
  <Slides>9</Slides>
  <Notes>4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6" baseType="lpstr">
      <vt:lpstr>Arial</vt:lpstr>
      <vt:lpstr>Arial Black</vt:lpstr>
      <vt:lpstr>Calibri</vt:lpstr>
      <vt:lpstr>Cambria Math</vt:lpstr>
      <vt:lpstr>Sabon Next LT</vt:lpstr>
      <vt:lpstr>Wingdings</vt:lpstr>
      <vt:lpstr>Personnalisé</vt:lpstr>
      <vt:lpstr>Système &amp; modèle physique</vt:lpstr>
      <vt:lpstr>Système d’équations</vt:lpstr>
      <vt:lpstr>Contribution des contraintes</vt:lpstr>
      <vt:lpstr>Etalement</vt:lpstr>
      <vt:lpstr>Etalement</vt:lpstr>
      <vt:lpstr>Etalement</vt:lpstr>
      <vt:lpstr>Expériences : compression protocole</vt:lpstr>
      <vt:lpstr>Expériences : compression avec la colle</vt:lpstr>
      <vt:lpstr>Expériences : compression avec une émulsion (matériau modèle)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Joséphine PERONNE</dc:creator>
  <cp:lastModifiedBy>Joséphine PERONNE</cp:lastModifiedBy>
  <cp:revision>12</cp:revision>
  <dcterms:created xsi:type="dcterms:W3CDTF">2026-01-21T13:52:05Z</dcterms:created>
  <dcterms:modified xsi:type="dcterms:W3CDTF">2026-02-03T16:01:51Z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0x0101007A262EAC855B9A4AA1EA640DE55D9291</vt:lpwstr>
  </property>
</Properties>
</file>