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4"/>
  </p:notesMasterIdLst>
  <p:handoutMasterIdLst>
    <p:handoutMasterId r:id="rId15"/>
  </p:handoutMasterIdLst>
  <p:sldIdLst>
    <p:sldId id="281" r:id="rId5"/>
    <p:sldId id="325" r:id="rId6"/>
    <p:sldId id="324" r:id="rId7"/>
    <p:sldId id="322" r:id="rId8"/>
    <p:sldId id="326" r:id="rId9"/>
    <p:sldId id="328" r:id="rId10"/>
    <p:sldId id="329" r:id="rId11"/>
    <p:sldId id="330" r:id="rId12"/>
    <p:sldId id="331" r:id="rId13"/>
  </p:sldIdLst>
  <p:sldSz cx="12192000" cy="6858000"/>
  <p:notesSz cx="13716000" cy="24384000"/>
  <p:defaultTextStyle>
    <a:defPPr rtl="0">
      <a:defRPr lang="fr-FR"/>
    </a:defPPr>
    <a:lvl1pPr marL="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C4E9"/>
    <a:srgbClr val="F5CDCE"/>
    <a:srgbClr val="202C8F"/>
    <a:srgbClr val="FDFAF6"/>
    <a:srgbClr val="DF8C8C"/>
    <a:srgbClr val="FDFBF6"/>
    <a:srgbClr val="D4D593"/>
    <a:srgbClr val="E6F0FE"/>
    <a:srgbClr val="CDBE8A"/>
    <a:srgbClr val="F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>
      <p:cViewPr varScale="1">
        <p:scale>
          <a:sx n="36" d="100"/>
          <a:sy n="36" d="100"/>
        </p:scale>
        <p:origin x="184" y="4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31" d="100"/>
          <a:sy n="31" d="100"/>
        </p:scale>
        <p:origin x="4392" y="1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A7C9947C-0B99-4CC9-AA3C-4A4AC8D4662C}" type="datetimeyyyy">
              <a:rPr lang="fr-FR" smtClean="0"/>
              <a:t>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420BD0AB-C59E-4A46-83D3-F07787446BA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BD47E-9E7F-B82D-4791-876AF65F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A31ED92-6A69-745E-44B9-AE39E1A9E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995F080-C548-5E6D-485E-E903210EA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45459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EB11-14CB-8B84-0C01-AC932E70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70A2E57-BFFE-FE17-20FA-8B4669729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02B92E3-4D58-6F65-8641-14F8BF651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95229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0" name="Freeform: Forme 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reeform: Form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orme libre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8" name="Forme libre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orme libre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4" name="Image 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fr-FR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fr-FR" sz="18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Forme 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15" name="Freeform: Forme 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 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2" name="Titr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36" name="Forme libre 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3" name="Forme libre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lvl="0" algn="ctr" rtl="0"/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Cliquer pour ajouter du texte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52" name="Espace réservé d’image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 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3" name="Freeform: Forme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9" name="Forme libre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1" name="Forme libre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3" name="Image 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numéro de diapositive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3" name="Image 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Forme 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7" name="Image 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9" name="Image 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 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e libre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orme libre 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6" name="Forme libre 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9" name="Espace réservé du numéro de diapositive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3" name="Espace réservé du contenu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5" name="Espace réservé du contenu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fr-FR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fr-FR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fr-FR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indent="-283464">
              <a:spcBef>
                <a:spcPts val="1000"/>
              </a:spcBef>
              <a:defRPr lang="fr-FR" sz="1800"/>
            </a:lvl2pPr>
            <a:lvl3pPr indent="-283464">
              <a:spcBef>
                <a:spcPts val="1000"/>
              </a:spcBef>
              <a:defRPr lang="fr-FR" sz="1800"/>
            </a:lvl3pPr>
            <a:lvl4pPr indent="-283464">
              <a:spcBef>
                <a:spcPts val="1000"/>
              </a:spcBef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31" name="Espace réservé d’image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Forme 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21" name="Forme libre : Forme 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Forme 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 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44" name="Espace réservé du numéro de diapositive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rme libre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6" name="Image 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21" name="Image 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orme libre 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10" name="Espace réservé d’image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rtl="0"/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/>
          </a:p>
        </p:txBody>
      </p:sp>
      <p:sp>
        <p:nvSpPr>
          <p:cNvPr id="10" name="Forme libre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0" name="Image 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texte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fr-FR" sz="1800"/>
            </a:lvl1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fr-FR" sz="1800"/>
            </a:lvl1pPr>
            <a:lvl2pPr>
              <a:defRPr lang="fr-FR" sz="1800"/>
            </a:lvl2pPr>
            <a:lvl3pPr>
              <a:defRPr lang="fr-FR" sz="1800"/>
            </a:lvl3pPr>
            <a:lvl4pPr>
              <a:defRPr lang="fr-FR" sz="1800"/>
            </a:lvl4pPr>
            <a:lvl5pPr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sme 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9" name="Forme libre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6" name="Espace réservé du contenu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contenu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7" name="Espace réservé du numéro de diapositive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43" name="Graphisme 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sme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 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4" name="Espace réservé du contenu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ôtur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Forme 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9" name="Forme libre : Forme 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9" name="Image 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fr-FR" sz="2400"/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e libre : Forme 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Forme libre : Forme 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fr-FR"/>
            </a:def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fr-FR" sz="3200"/>
            </a:lvl1pPr>
            <a:lvl2pPr>
              <a:defRPr lang="fr-FR" sz="2800"/>
            </a:lvl2pPr>
            <a:lvl3pPr>
              <a:defRPr lang="fr-FR" sz="2400"/>
            </a:lvl3pPr>
            <a:lvl4pPr>
              <a:defRPr lang="fr-FR" sz="2000"/>
            </a:lvl4pPr>
            <a:lvl5pPr>
              <a:defRPr lang="fr-FR" sz="2000"/>
            </a:lvl5pPr>
            <a:lvl6pPr>
              <a:defRPr lang="fr-FR" sz="2000"/>
            </a:lvl6pPr>
            <a:lvl7pPr>
              <a:defRPr lang="fr-FR" sz="2000"/>
            </a:lvl7pPr>
            <a:lvl8pPr>
              <a:defRPr lang="fr-FR" sz="2000"/>
            </a:lvl8pPr>
            <a:lvl9pPr>
              <a:defRPr lang="fr-FR" sz="2000"/>
            </a:lvl9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fr-FR" sz="2800"/>
            </a:lvl1pPr>
            <a:lvl2pPr marL="457200" indent="0">
              <a:buNone/>
              <a:defRPr lang="fr-FR" sz="2800"/>
            </a:lvl2pPr>
            <a:lvl3pPr marL="914400" indent="0">
              <a:buNone/>
              <a:defRPr lang="fr-FR" sz="2400"/>
            </a:lvl3pPr>
            <a:lvl4pPr marL="1371600" indent="0">
              <a:buNone/>
              <a:defRPr lang="fr-FR" sz="2000"/>
            </a:lvl4pPr>
            <a:lvl5pPr marL="1828800" indent="0">
              <a:buNone/>
              <a:defRPr lang="fr-FR" sz="2000"/>
            </a:lvl5pPr>
            <a:lvl6pPr marL="2286000" indent="0">
              <a:buNone/>
              <a:defRPr lang="fr-FR" sz="2000"/>
            </a:lvl6pPr>
            <a:lvl7pPr marL="2743200" indent="0">
              <a:buNone/>
              <a:defRPr lang="fr-FR" sz="2000"/>
            </a:lvl7pPr>
            <a:lvl8pPr marL="3200400" indent="0">
              <a:buNone/>
              <a:defRPr lang="fr-FR" sz="2000"/>
            </a:lvl8pPr>
            <a:lvl9pPr marL="3657600" indent="0">
              <a:buNone/>
              <a:defRPr lang="fr-FR" sz="2000"/>
            </a:lvl9pPr>
          </a:lstStyle>
          <a:p>
            <a:pPr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fr-FR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fr-FR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2.jpeg"/><Relationship Id="rId4" Type="http://schemas.openxmlformats.org/officeDocument/2006/relationships/image" Target="../media/image3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47FA418-670C-5849-7D58-E3DE4DD77DBD}"/>
              </a:ext>
            </a:extLst>
          </p:cNvPr>
          <p:cNvSpPr/>
          <p:nvPr/>
        </p:nvSpPr>
        <p:spPr>
          <a:xfrm>
            <a:off x="4844716" y="3383207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420" y="206838"/>
            <a:ext cx="9637160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 &amp; modèle physique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2100C0-2074-EC8E-65F8-FB679352F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131" y="1394560"/>
            <a:ext cx="6363738" cy="3111310"/>
          </a:xfrm>
          <a:prstGeom prst="rect">
            <a:avLst/>
          </a:prstGeom>
          <a:ln w="57150">
            <a:solidFill>
              <a:srgbClr val="AAC4E9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texte 2">
                <a:extLst>
                  <a:ext uri="{FF2B5EF4-FFF2-40B4-BE49-F238E27FC236}">
                    <a16:creationId xmlns:a16="http://schemas.microsoft.com/office/drawing/2014/main" id="{32A7C12D-3FAE-6AFF-CB4C-3A5AC174DA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5706" y="4995526"/>
                <a:ext cx="4719713" cy="1679989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sz="2800" b="1" dirty="0" err="1"/>
                  <a:t>Visco-plastique</a:t>
                </a:r>
                <a:endParaRPr lang="fr-FR" sz="2800" b="1" dirty="0"/>
              </a:p>
              <a:p>
                <a:pPr algn="ctr"/>
                <a:endParaRPr lang="fr-FR" sz="900" b="1" dirty="0"/>
              </a:p>
              <a:p>
                <a:pPr algn="ctr"/>
                <a:r>
                  <a:rPr lang="fr-FR" sz="2000" dirty="0"/>
                  <a:t>Herschel-</a:t>
                </a:r>
                <a:r>
                  <a:rPr lang="fr-FR" sz="2000" dirty="0" err="1"/>
                  <a:t>Bulkley</a:t>
                </a:r>
                <a:endParaRPr lang="fr-FR" sz="2000" b="0" i="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ar-AE" sz="20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ar-AE" sz="200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20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p>
                          <m:r>
                            <a:rPr lang="ar-AE" sz="20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ar-AE" sz="2000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ar-AE" sz="2000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000" i="1" dirty="0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ar-AE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ar-AE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ar-AE" sz="20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𝑠𝑖𝑛𝑜𝑛</m:t>
                      </m:r>
                      <m:acc>
                        <m:accPr>
                          <m:chr m:val="̇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0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4" name="Espace réservé du texte 2">
                <a:extLst>
                  <a:ext uri="{FF2B5EF4-FFF2-40B4-BE49-F238E27FC236}">
                    <a16:creationId xmlns:a16="http://schemas.microsoft.com/office/drawing/2014/main" id="{32A7C12D-3FAE-6AFF-CB4C-3A5AC174D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06" y="4995526"/>
                <a:ext cx="4719713" cy="1679989"/>
              </a:xfrm>
              <a:prstGeom prst="rect">
                <a:avLst/>
              </a:prstGeom>
              <a:blipFill>
                <a:blip r:embed="rId4"/>
                <a:stretch>
                  <a:fillRect t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ce réservé du texte 2">
                <a:extLst>
                  <a:ext uri="{FF2B5EF4-FFF2-40B4-BE49-F238E27FC236}">
                    <a16:creationId xmlns:a16="http://schemas.microsoft.com/office/drawing/2014/main" id="{3D69A2D9-5FD0-5BC8-6C74-13BDA56257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729443" y="4995526"/>
                <a:ext cx="3116256" cy="1372818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sz="2800" b="1" dirty="0"/>
                  <a:t>Élastique</a:t>
                </a:r>
                <a:endParaRPr lang="fr-FR" sz="2000" b="1" dirty="0"/>
              </a:p>
              <a:p>
                <a:pPr algn="ctr"/>
                <a:endParaRPr lang="fr-FR" sz="900" b="1" dirty="0"/>
              </a:p>
              <a:p>
                <a:pPr algn="ctr"/>
                <a:r>
                  <a:rPr lang="fr-FR" sz="2000" dirty="0"/>
                  <a:t>Hooke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ar-AE" sz="20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ar-AE" sz="2000" dirty="0"/>
              </a:p>
              <a:p>
                <a:pPr algn="ctr"/>
                <a:endParaRPr lang="ar-AE" sz="2000" dirty="0"/>
              </a:p>
            </p:txBody>
          </p:sp>
        </mc:Choice>
        <mc:Fallback xmlns="">
          <p:sp>
            <p:nvSpPr>
              <p:cNvPr id="6" name="Espace réservé du texte 2">
                <a:extLst>
                  <a:ext uri="{FF2B5EF4-FFF2-40B4-BE49-F238E27FC236}">
                    <a16:creationId xmlns:a16="http://schemas.microsoft.com/office/drawing/2014/main" id="{3D69A2D9-5FD0-5BC8-6C74-13BDA5625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443" y="4995526"/>
                <a:ext cx="3116256" cy="1372818"/>
              </a:xfrm>
              <a:prstGeom prst="rect">
                <a:avLst/>
              </a:prstGeom>
              <a:blipFill>
                <a:blip r:embed="rId5"/>
                <a:stretch>
                  <a:fillRect t="-796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1805F502-F0DE-2BD6-591A-22AF1268A9E6}"/>
              </a:ext>
            </a:extLst>
          </p:cNvPr>
          <p:cNvSpPr txBox="1">
            <a:spLocks/>
          </p:cNvSpPr>
          <p:nvPr/>
        </p:nvSpPr>
        <p:spPr>
          <a:xfrm>
            <a:off x="346301" y="5440411"/>
            <a:ext cx="4370391" cy="68640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800" dirty="0"/>
              <a:t>La colle est un fluide :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DA31BAD-594B-F69B-1024-26F8A8282045}"/>
              </a:ext>
            </a:extLst>
          </p:cNvPr>
          <p:cNvSpPr txBox="1">
            <a:spLocks/>
          </p:cNvSpPr>
          <p:nvPr/>
        </p:nvSpPr>
        <p:spPr>
          <a:xfrm>
            <a:off x="7864764" y="5172341"/>
            <a:ext cx="1606069" cy="1171886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6000" b="1" dirty="0"/>
              <a:t>&amp;</a:t>
            </a:r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C4FE-272E-837C-3D07-3756B9CBB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40907C-ACA7-0A2B-6631-6E7D5E2F3111}"/>
              </a:ext>
            </a:extLst>
          </p:cNvPr>
          <p:cNvSpPr/>
          <p:nvPr/>
        </p:nvSpPr>
        <p:spPr>
          <a:xfrm>
            <a:off x="4844716" y="3388895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6557C9A-2890-D2FC-4EA8-113C1F76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7150" y="235876"/>
            <a:ext cx="6997700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 d’équations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F2BCD148-3B17-9BCE-231C-7AADD3F51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7293" y="1466063"/>
                <a:ext cx="8293170" cy="84839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b="1" dirty="0"/>
                  <a:t>Conservation de la masse : 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/>
                  <a:t> et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F2BCD148-3B17-9BCE-231C-7AADD3F51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293" y="1466063"/>
                <a:ext cx="8293170" cy="848396"/>
              </a:xfrm>
              <a:prstGeom prst="rect">
                <a:avLst/>
              </a:prstGeom>
              <a:blipFill>
                <a:blip r:embed="rId3"/>
                <a:stretch>
                  <a:fillRect l="-1176" t="-7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EC359F0F-A405-274C-749F-975BAF3370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3190" y="3189513"/>
                <a:ext cx="6484074" cy="1996749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Avec la </a:t>
                </a:r>
                <a:r>
                  <a:rPr lang="fr-FR" b="1" dirty="0"/>
                  <a:t>contrainte totale </a:t>
                </a:r>
                <a:r>
                  <a:rPr lang="fr-FR" dirty="0"/>
                  <a:t>:</a:t>
                </a:r>
              </a:p>
              <a:p>
                <a:r>
                  <a:rPr lang="fr-FR" sz="2200" b="0" dirty="0"/>
                  <a:t>	</a:t>
                </a:r>
                <a14:m>
                  <m:oMath xmlns:m="http://schemas.openxmlformats.org/officeDocument/2006/math">
                    <m:r>
                      <a:rPr lang="fr-FR" sz="22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𝑀𝑔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𝑔h</m:t>
                    </m:r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sSub>
                          <m:sSub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fr-FR" sz="2200" b="0" i="1" dirty="0">
                  <a:solidFill>
                    <a:srgbClr val="202C8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fr-FR" sz="2200" b="0" dirty="0">
                    <a:solidFill>
                      <a:srgbClr val="202C8F"/>
                    </a:solidFill>
                  </a:rPr>
                  <a:t>		   </a:t>
                </a:r>
                <a14:m>
                  <m:oMath xmlns:m="http://schemas.openxmlformats.org/officeDocument/2006/math">
                    <m:r>
                      <a:rPr lang="fr-FR" sz="2200" b="0" i="1" smtClean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 smtClean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ar-AE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sz="2200" b="0" i="1" smtClean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fr-FR" sz="2200" dirty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200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sz="2200" dirty="0"/>
              </a:p>
            </p:txBody>
          </p:sp>
        </mc:Choice>
        <mc:Fallback xmlns="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EC359F0F-A405-274C-749F-975BAF337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190" y="3189513"/>
                <a:ext cx="6484074" cy="1996749"/>
              </a:xfrm>
              <a:prstGeom prst="rect">
                <a:avLst/>
              </a:prstGeom>
              <a:blipFill>
                <a:blip r:embed="rId4"/>
                <a:stretch>
                  <a:fillRect l="-1410" t="-4573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F3BD725-D521-EE11-5419-4768C6283A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7293" y="2126880"/>
                <a:ext cx="8293170" cy="84839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b="1" dirty="0"/>
                  <a:t>Conservation de quantité de mouvement : 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𝑑𝑢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F3BD725-D521-EE11-5419-4768C628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293" y="2126880"/>
                <a:ext cx="8293170" cy="848396"/>
              </a:xfrm>
              <a:prstGeom prst="rect">
                <a:avLst/>
              </a:prstGeom>
              <a:blipFill>
                <a:blip r:embed="rId5"/>
                <a:stretch>
                  <a:fillRect l="-1176" t="-143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Espace réservé du texte 2">
                <a:extLst>
                  <a:ext uri="{FF2B5EF4-FFF2-40B4-BE49-F238E27FC236}">
                    <a16:creationId xmlns:a16="http://schemas.microsoft.com/office/drawing/2014/main" id="{3133DA29-469D-6B0F-19E9-C077F4052F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3190" y="4736005"/>
                <a:ext cx="6484074" cy="1834463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3600"/>
                  </a:lnSpc>
                </a:pPr>
                <a:r>
                  <a:rPr lang="fr-FR" dirty="0"/>
                  <a:t>Avec le </a:t>
                </a:r>
                <a:r>
                  <a:rPr lang="fr-FR" b="1" dirty="0"/>
                  <a:t>taux de déformation </a:t>
                </a:r>
                <a:r>
                  <a:rPr lang="fr-FR" dirty="0"/>
                  <a:t>:</a:t>
                </a:r>
              </a:p>
              <a:p>
                <a:pPr>
                  <a:lnSpc>
                    <a:spcPts val="3600"/>
                  </a:lnSpc>
                </a:pPr>
                <a:r>
                  <a:rPr lang="fr-FR" sz="2200" b="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𝑎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fr-FR" sz="2200" dirty="0"/>
                  <a:t> pour le cas en non-glissement,</a:t>
                </a:r>
              </a:p>
              <a:p>
                <a:pPr>
                  <a:lnSpc>
                    <a:spcPts val="3600"/>
                  </a:lnSpc>
                </a:pPr>
                <a:r>
                  <a:rPr lang="fr-FR" sz="22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𝑎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sz="2200" dirty="0"/>
                  <a:t> pour le cas en glissement </a:t>
                </a:r>
                <a:endParaRPr lang="ar-AE" sz="2200" dirty="0"/>
              </a:p>
            </p:txBody>
          </p:sp>
        </mc:Choice>
        <mc:Fallback xmlns="">
          <p:sp>
            <p:nvSpPr>
              <p:cNvPr id="9" name="Espace réservé du texte 2">
                <a:extLst>
                  <a:ext uri="{FF2B5EF4-FFF2-40B4-BE49-F238E27FC236}">
                    <a16:creationId xmlns:a16="http://schemas.microsoft.com/office/drawing/2014/main" id="{3133DA29-469D-6B0F-19E9-C077F4052F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3190" y="4736005"/>
                <a:ext cx="6484074" cy="1834463"/>
              </a:xfrm>
              <a:prstGeom prst="rect">
                <a:avLst/>
              </a:prstGeom>
              <a:blipFill>
                <a:blip r:embed="rId6"/>
                <a:stretch>
                  <a:fillRect l="-1410" t="-2326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 5">
            <a:extLst>
              <a:ext uri="{FF2B5EF4-FFF2-40B4-BE49-F238E27FC236}">
                <a16:creationId xmlns:a16="http://schemas.microsoft.com/office/drawing/2014/main" id="{C826C115-28C1-D89D-91C6-BA7E959850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952" t="2686" r="3555" b="4300"/>
          <a:stretch>
            <a:fillRect/>
          </a:stretch>
        </p:blipFill>
        <p:spPr>
          <a:xfrm>
            <a:off x="6852863" y="2903684"/>
            <a:ext cx="4666021" cy="3373565"/>
          </a:xfrm>
          <a:prstGeom prst="rect">
            <a:avLst/>
          </a:prstGeom>
          <a:ln w="38100">
            <a:solidFill>
              <a:srgbClr val="AAC4E9"/>
            </a:solidFill>
          </a:ln>
        </p:spPr>
      </p:pic>
    </p:spTree>
    <p:extLst>
      <p:ext uri="{BB962C8B-B14F-4D97-AF65-F5344CB8AC3E}">
        <p14:creationId xmlns:p14="http://schemas.microsoft.com/office/powerpoint/2010/main" val="2261552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852C4-C2F6-54F1-9878-D5C32908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74827-A678-007C-9C41-A1B93FEA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0"/>
            <a:ext cx="10511627" cy="10127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Contribution des contraintes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83DA697-DB72-9C72-2D4F-25EBBEE14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800" y="1713920"/>
            <a:ext cx="5717867" cy="3503671"/>
          </a:xfrm>
          <a:prstGeom prst="rect">
            <a:avLst/>
          </a:prstGeom>
          <a:ln w="57150">
            <a:solidFill>
              <a:srgbClr val="F5CDCE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71C725C3-B485-CFB0-98E0-D67571FB3B6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82" y="5201786"/>
                <a:ext cx="2704399" cy="70113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907</m:t>
                      </m:r>
                      <m:r>
                        <a:rPr lang="fr-FR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 xmlns="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71C725C3-B485-CFB0-98E0-D67571FB3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82" y="5201786"/>
                <a:ext cx="2704399" cy="7011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re 1">
            <a:extLst>
              <a:ext uri="{FF2B5EF4-FFF2-40B4-BE49-F238E27FC236}">
                <a16:creationId xmlns:a16="http://schemas.microsoft.com/office/drawing/2014/main" id="{0CCFBC1F-F076-C8CE-B158-860333C4EBDA}"/>
              </a:ext>
            </a:extLst>
          </p:cNvPr>
          <p:cNvSpPr txBox="1">
            <a:spLocks/>
          </p:cNvSpPr>
          <p:nvPr/>
        </p:nvSpPr>
        <p:spPr>
          <a:xfrm>
            <a:off x="992586" y="632841"/>
            <a:ext cx="10511627" cy="881120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defPPr>
              <a:defRPr lang="fr-FR"/>
            </a:defPPr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fr-FR"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2800" b="0" dirty="0"/>
              <a:t>élasticité</a:t>
            </a:r>
          </a:p>
        </p:txBody>
      </p:sp>
    </p:spTree>
    <p:extLst>
      <p:ext uri="{BB962C8B-B14F-4D97-AF65-F5344CB8AC3E}">
        <p14:creationId xmlns:p14="http://schemas.microsoft.com/office/powerpoint/2010/main" val="3801704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366454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Etalement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C8E859B9-9F35-2E24-9143-626F8B0AE814}"/>
              </a:ext>
            </a:extLst>
          </p:cNvPr>
          <p:cNvSpPr txBox="1">
            <a:spLocks/>
          </p:cNvSpPr>
          <p:nvPr/>
        </p:nvSpPr>
        <p:spPr>
          <a:xfrm>
            <a:off x="3884375" y="5797818"/>
            <a:ext cx="6995171" cy="1012785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Rayon et hauteur du cylindre de fluide au cours de la compression sous une masse de 100g.</a:t>
            </a:r>
            <a:endParaRPr lang="ar-AE" sz="20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AD15995-69B0-6746-6AF8-2BFBBB94E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193" y="1409823"/>
            <a:ext cx="6541536" cy="4115027"/>
          </a:xfrm>
          <a:prstGeom prst="rect">
            <a:avLst/>
          </a:prstGeom>
          <a:ln w="57150">
            <a:solidFill>
              <a:srgbClr val="F5CDCE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642B383E-03B4-F061-D542-B7BCD189D7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98570" y="1538630"/>
                <a:ext cx="2704399" cy="4944362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fr-FR" sz="2000" b="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:endParaRPr lang="fr-FR" sz="1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28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fr-FR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𝑘𝑔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072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 /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:endParaRPr lang="fr-FR" sz="11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𝑃𝑎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𝟗𝟎𝟕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𝑷𝒂</m:t>
                      </m:r>
                    </m:oMath>
                  </m:oMathPara>
                </a14:m>
                <a:endParaRPr lang="fr-FR" b="1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 xmlns="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642B383E-03B4-F061-D542-B7BCD189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570" y="1538630"/>
                <a:ext cx="2704399" cy="49443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98BE0CC3-4269-6CEB-0DB1-2542A6166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63" y="1094975"/>
            <a:ext cx="6200074" cy="3706159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519FC911-B328-A0E9-F524-9E4307FC2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366454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Etalement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991C441-A0A1-6A58-1F96-7B09A1CA36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58"/>
          <a:stretch>
            <a:fillRect/>
          </a:stretch>
        </p:blipFill>
        <p:spPr>
          <a:xfrm>
            <a:off x="5948737" y="3289463"/>
            <a:ext cx="6109700" cy="34349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ce réservé du texte 2">
                <a:extLst>
                  <a:ext uri="{FF2B5EF4-FFF2-40B4-BE49-F238E27FC236}">
                    <a16:creationId xmlns:a16="http://schemas.microsoft.com/office/drawing/2014/main" id="{C5930DD3-6DA0-4D04-6D55-C0C6853E9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7289" y="4772726"/>
                <a:ext cx="2704399" cy="70113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𝟐𝟐𝟎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𝑷𝒂</m:t>
                      </m:r>
                    </m:oMath>
                  </m:oMathPara>
                </a14:m>
                <a:endParaRPr lang="fr-FR" b="1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 xmlns="">
          <p:sp>
            <p:nvSpPr>
              <p:cNvPr id="15" name="Espace réservé du texte 2">
                <a:extLst>
                  <a:ext uri="{FF2B5EF4-FFF2-40B4-BE49-F238E27FC236}">
                    <a16:creationId xmlns:a16="http://schemas.microsoft.com/office/drawing/2014/main" id="{C5930DD3-6DA0-4D04-6D55-C0C6853E9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289" y="4772726"/>
                <a:ext cx="2704399" cy="7011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F923FE4F-E68C-2761-F4FF-744969602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39764" y="2813492"/>
                <a:ext cx="2704399" cy="646331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>
                          <a:latin typeface="Cambria Math" panose="02040503050406030204" pitchFamily="18" charset="0"/>
                        </a:rPr>
                        <m:t>𝑷𝒂</m:t>
                      </m:r>
                    </m:oMath>
                  </m:oMathPara>
                </a14:m>
                <a:endParaRPr lang="fr-FR" b="1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 xmlns="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F923FE4F-E68C-2761-F4FF-744969602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764" y="2813492"/>
                <a:ext cx="2704399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6121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">
            <a:extLst>
              <a:ext uri="{FF2B5EF4-FFF2-40B4-BE49-F238E27FC236}">
                <a16:creationId xmlns:a16="http://schemas.microsoft.com/office/drawing/2014/main" id="{3553A97C-6CB9-5122-5F65-CBA2B304E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366454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Etalement</a:t>
            </a:r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DF764B89-76E2-5F33-9892-594CAC0AB0CE}"/>
              </a:ext>
            </a:extLst>
          </p:cNvPr>
          <p:cNvSpPr txBox="1">
            <a:spLocks/>
          </p:cNvSpPr>
          <p:nvPr/>
        </p:nvSpPr>
        <p:spPr>
          <a:xfrm>
            <a:off x="2598414" y="5998023"/>
            <a:ext cx="6995171" cy="493524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Pour différentes masses M</a:t>
            </a:r>
            <a:endParaRPr lang="ar-AE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F09BAE6-2315-DC72-D7CC-7D5ED5A8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424" y="1234962"/>
            <a:ext cx="9773152" cy="438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638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F05AA2-6BB2-81EB-0364-815EC0459A44}"/>
              </a:ext>
            </a:extLst>
          </p:cNvPr>
          <p:cNvSpPr/>
          <p:nvPr/>
        </p:nvSpPr>
        <p:spPr>
          <a:xfrm>
            <a:off x="9246742" y="3383207"/>
            <a:ext cx="2508876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9AD9F3B-4274-FE71-9786-0F373B22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Expériences : compression</a:t>
            </a:r>
            <a:br>
              <a:rPr lang="fr-FR" dirty="0"/>
            </a:br>
            <a:r>
              <a:rPr lang="fr-FR" sz="2400" dirty="0"/>
              <a:t>protocole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AF4F0F6-52B2-0194-1D04-78C683AAB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839288" y="1829182"/>
            <a:ext cx="1333554" cy="369149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14EA52A-4F49-ED97-85AE-566EF9072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827753" y="3527713"/>
            <a:ext cx="1356625" cy="369149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6378575A-B035-0685-D8BC-F6FE161C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704"/>
          <a:stretch>
            <a:fillRect/>
          </a:stretch>
        </p:blipFill>
        <p:spPr>
          <a:xfrm>
            <a:off x="616256" y="1514856"/>
            <a:ext cx="4673241" cy="256894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519E28CD-C834-EE4B-B933-7B7EB03A2E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5341" b="36324"/>
          <a:stretch>
            <a:fillRect/>
          </a:stretch>
        </p:blipFill>
        <p:spPr>
          <a:xfrm>
            <a:off x="596727" y="4262711"/>
            <a:ext cx="4692770" cy="1715784"/>
          </a:xfrm>
          <a:prstGeom prst="rect">
            <a:avLst/>
          </a:prstGeom>
        </p:spPr>
      </p:pic>
      <p:graphicFrame>
        <p:nvGraphicFramePr>
          <p:cNvPr id="20" name="Tableau 19">
            <a:extLst>
              <a:ext uri="{FF2B5EF4-FFF2-40B4-BE49-F238E27FC236}">
                <a16:creationId xmlns:a16="http://schemas.microsoft.com/office/drawing/2014/main" id="{DD56A8C7-4F6E-43DD-5563-C5470E89CD91}"/>
              </a:ext>
            </a:extLst>
          </p:cNvPr>
          <p:cNvGraphicFramePr>
            <a:graphicFrameLocks noGrp="1"/>
          </p:cNvGraphicFramePr>
          <p:nvPr/>
        </p:nvGraphicFramePr>
        <p:xfrm>
          <a:off x="5854700" y="2232025"/>
          <a:ext cx="482600" cy="239395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482600">
                  <a:extLst>
                    <a:ext uri="{9D8B030D-6E8A-4147-A177-3AD203B41FA5}">
                      <a16:colId xmlns:a16="http://schemas.microsoft.com/office/drawing/2014/main" val="210206293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6531253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2232951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192686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5589714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3445123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4059941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2587284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20237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2591539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168120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7368359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168120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822281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168120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7197025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168120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112353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168120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61402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191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9343B9-F1D5-419E-A9AC-DB97D0FD0260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78C1E7BF-7B8C-3544-4638-EDEDE361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Expériences : compression</a:t>
            </a:r>
            <a:br>
              <a:rPr lang="fr-FR" dirty="0"/>
            </a:br>
            <a:r>
              <a:rPr lang="fr-FR" sz="2400" dirty="0"/>
              <a:t>avec la colle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4504F9E7-3252-FB17-F5A2-C6B046032B07}"/>
              </a:ext>
            </a:extLst>
          </p:cNvPr>
          <p:cNvSpPr txBox="1">
            <a:spLocks/>
          </p:cNvSpPr>
          <p:nvPr/>
        </p:nvSpPr>
        <p:spPr>
          <a:xfrm>
            <a:off x="7520683" y="1782811"/>
            <a:ext cx="3720099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200 g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83D92E69-A0C6-9B79-2F67-1FCE34AE6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87" y="1669796"/>
            <a:ext cx="6105143" cy="4650514"/>
          </a:xfrm>
          <a:prstGeom prst="rect">
            <a:avLst/>
          </a:prstGeom>
          <a:ln w="57150">
            <a:solidFill>
              <a:srgbClr val="AAC4E9"/>
            </a:solidFill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A39D1102-F82B-9175-5E6D-F1971D087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535" y="1358793"/>
            <a:ext cx="5454930" cy="4140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567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9274-98F7-180D-29C7-FE5811C24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10CC255-9441-73D5-53E9-0477BD369784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1591DBB-F8A0-ECD6-6D26-5A4D7B1F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Expériences : compression</a:t>
            </a:r>
            <a:br>
              <a:rPr lang="fr-FR" dirty="0"/>
            </a:br>
            <a:r>
              <a:rPr lang="fr-FR" sz="2400" dirty="0"/>
              <a:t>avec du kaolin (matériau modèle)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D04714F9-6A03-9875-6456-A2051ECAC0B3}"/>
              </a:ext>
            </a:extLst>
          </p:cNvPr>
          <p:cNvSpPr txBox="1">
            <a:spLocks/>
          </p:cNvSpPr>
          <p:nvPr/>
        </p:nvSpPr>
        <p:spPr>
          <a:xfrm>
            <a:off x="7520683" y="1782811"/>
            <a:ext cx="3720099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200 g</a:t>
            </a:r>
          </a:p>
          <a:p>
            <a:endParaRPr lang="fr-FR" sz="2000" dirty="0"/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908055306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5_TF78438558_Win32" id="{3A360CBA-99A0-49ED-B63F-2D1627BB2518}" vid="{56FFFEFC-6F1D-4078-81C7-9B5A182BBA3B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262EAC855B9A4AA1EA640DE55D9291" ma:contentTypeVersion="1" ma:contentTypeDescription="Crée un document." ma:contentTypeScope="" ma:versionID="b77c85bbfd0b92efe37df041e558d067">
  <xsd:schema xmlns:xsd="http://www.w3.org/2001/XMLSchema" xmlns:xs="http://www.w3.org/2001/XMLSchema" xmlns:p="http://schemas.microsoft.com/office/2006/metadata/properties" xmlns:ns3="5fe2be53-eead-4083-8773-55ad5d51649a" targetNamespace="http://schemas.microsoft.com/office/2006/metadata/properties" ma:root="true" ma:fieldsID="d116f912760d7d2eb93dc091ad074d5c" ns3:_="">
    <xsd:import namespace="5fe2be53-eead-4083-8773-55ad5d51649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e2be53-eead-4083-8773-55ad5d51649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fe2be53-eead-4083-8773-55ad5d51649a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95F1B84-5324-45B5-9B4C-63D8886BFB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e2be53-eead-4083-8773-55ad5d5164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{B144AA22-32CD-464F-9B84-C38381DD4068}TF8a9b5915-b8c7-461e-8cdd-693d48b5e32310e906f8_win32-220c37ecc522</Template>
  <TotalTime>5992</TotalTime>
  <Words>279</Words>
  <Application>Microsoft Office PowerPoint</Application>
  <PresentationFormat>Grand écran</PresentationFormat>
  <Paragraphs>77</Paragraphs>
  <Slides>9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Arial</vt:lpstr>
      <vt:lpstr>Arial Black</vt:lpstr>
      <vt:lpstr>Calibri</vt:lpstr>
      <vt:lpstr>Cambria Math</vt:lpstr>
      <vt:lpstr>Sabon Next LT</vt:lpstr>
      <vt:lpstr>Wingdings</vt:lpstr>
      <vt:lpstr>Personnalisé</vt:lpstr>
      <vt:lpstr>Système &amp; modèle physique</vt:lpstr>
      <vt:lpstr>Système d’équations</vt:lpstr>
      <vt:lpstr>Contribution des contraintes</vt:lpstr>
      <vt:lpstr>Etalement</vt:lpstr>
      <vt:lpstr>Etalement</vt:lpstr>
      <vt:lpstr>Etalement</vt:lpstr>
      <vt:lpstr>Expériences : compression protocole</vt:lpstr>
      <vt:lpstr>Expériences : compression avec la colle</vt:lpstr>
      <vt:lpstr>Expériences : compression avec du kaolin (matériau modèle)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Joséphine PERONNE</dc:creator>
  <cp:lastModifiedBy>Joséphine PERONNE</cp:lastModifiedBy>
  <cp:revision>11</cp:revision>
  <dcterms:created xsi:type="dcterms:W3CDTF">2026-01-21T13:52:05Z</dcterms:created>
  <dcterms:modified xsi:type="dcterms:W3CDTF">2026-02-02T10:56:23Z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0x0101007A262EAC855B9A4AA1EA640DE55D9291</vt:lpwstr>
  </property>
</Properties>
</file>